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media/image16.jpg" ContentType="image/png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62" r:id="rId3"/>
    <p:sldId id="265" r:id="rId4"/>
    <p:sldId id="266" r:id="rId5"/>
    <p:sldId id="289" r:id="rId6"/>
    <p:sldId id="285" r:id="rId7"/>
    <p:sldId id="269" r:id="rId8"/>
    <p:sldId id="278" r:id="rId9"/>
    <p:sldId id="288" r:id="rId10"/>
    <p:sldId id="280" r:id="rId11"/>
    <p:sldId id="282" r:id="rId12"/>
    <p:sldId id="284" r:id="rId13"/>
    <p:sldId id="270" r:id="rId14"/>
    <p:sldId id="263" r:id="rId15"/>
    <p:sldId id="264" r:id="rId16"/>
  </p:sldIdLst>
  <p:sldSz cx="9144000" cy="6858000" type="screen4x3"/>
  <p:notesSz cx="6724650" cy="987425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B972966-790A-4DBD-A1B0-1164EA7B0872}">
          <p14:sldIdLst>
            <p14:sldId id="256"/>
            <p14:sldId id="262"/>
            <p14:sldId id="265"/>
            <p14:sldId id="266"/>
            <p14:sldId id="289"/>
            <p14:sldId id="285"/>
            <p14:sldId id="269"/>
            <p14:sldId id="278"/>
            <p14:sldId id="288"/>
            <p14:sldId id="280"/>
            <p14:sldId id="282"/>
            <p14:sldId id="284"/>
            <p14:sldId id="270"/>
            <p14:sldId id="263"/>
            <p14:sldId id="264"/>
          </p14:sldIdLst>
        </p14:section>
      </p14:section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ishan Harwalkar" initials="KH" lastIdx="4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BF74"/>
    <a:srgbClr val="83E3A1"/>
    <a:srgbClr val="008080"/>
    <a:srgbClr val="B6E4CC"/>
    <a:srgbClr val="9ADAB8"/>
    <a:srgbClr val="FF0000"/>
    <a:srgbClr val="FF6600"/>
    <a:srgbClr val="B2B2B2"/>
    <a:srgbClr val="808080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4" autoAdjust="0"/>
    <p:restoredTop sz="89928" autoAdjust="0"/>
  </p:normalViewPr>
  <p:slideViewPr>
    <p:cSldViewPr>
      <p:cViewPr>
        <p:scale>
          <a:sx n="93" d="100"/>
          <a:sy n="93" d="100"/>
        </p:scale>
        <p:origin x="-900" y="3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0" d="100"/>
          <a:sy n="70" d="100"/>
        </p:scale>
        <p:origin x="-2016" y="-90"/>
      </p:cViewPr>
      <p:guideLst>
        <p:guide orient="horz" pos="3110"/>
        <p:guide pos="2118"/>
      </p:guideLst>
    </p:cSldViewPr>
  </p:notesViewPr>
  <p:gridSpacing cx="38405" cy="384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9A0AC42-80DB-4D97-BE51-300743C29DCF}" type="doc">
      <dgm:prSet loTypeId="urn:microsoft.com/office/officeart/2005/8/layout/vList2" loCatId="list" qsTypeId="urn:microsoft.com/office/officeart/2009/2/quickstyle/3d8" qsCatId="3D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910CDA6F-7B0F-4395-AB2A-43D0C1810002}">
      <dgm:prSet phldrT="[Text]"/>
      <dgm:spPr/>
      <dgm:t>
        <a:bodyPr/>
        <a:lstStyle/>
        <a:p>
          <a:r>
            <a:rPr lang="en-US" dirty="0" smtClean="0"/>
            <a:t>Functionality</a:t>
          </a:r>
          <a:endParaRPr lang="en-IN" dirty="0"/>
        </a:p>
      </dgm:t>
    </dgm:pt>
    <dgm:pt modelId="{0B6FED4B-5D27-43C1-A317-027226BAFBC8}" type="parTrans" cxnId="{3273E9BA-6547-4C2A-A4E8-09CD602C9DA6}">
      <dgm:prSet/>
      <dgm:spPr/>
      <dgm:t>
        <a:bodyPr/>
        <a:lstStyle/>
        <a:p>
          <a:endParaRPr lang="en-IN"/>
        </a:p>
      </dgm:t>
    </dgm:pt>
    <dgm:pt modelId="{3A2109F2-DA7F-4448-BBD9-E46F7151246B}" type="sibTrans" cxnId="{3273E9BA-6547-4C2A-A4E8-09CD602C9DA6}">
      <dgm:prSet/>
      <dgm:spPr/>
      <dgm:t>
        <a:bodyPr/>
        <a:lstStyle/>
        <a:p>
          <a:endParaRPr lang="en-IN"/>
        </a:p>
      </dgm:t>
    </dgm:pt>
    <dgm:pt modelId="{271DC442-2595-427A-931D-86C105D46B68}">
      <dgm:prSet phldrT="[Text]"/>
      <dgm:spPr/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Interoperability</a:t>
          </a:r>
          <a:endParaRPr lang="en-IN" dirty="0">
            <a:solidFill>
              <a:schemeClr val="tx1"/>
            </a:solidFill>
          </a:endParaRPr>
        </a:p>
      </dgm:t>
    </dgm:pt>
    <dgm:pt modelId="{14626FD8-E0E5-4541-9CC8-4FA0316F47AB}" type="parTrans" cxnId="{E89CF16D-F826-4F1F-8C9F-163975B6ED43}">
      <dgm:prSet/>
      <dgm:spPr/>
      <dgm:t>
        <a:bodyPr/>
        <a:lstStyle/>
        <a:p>
          <a:endParaRPr lang="en-IN"/>
        </a:p>
      </dgm:t>
    </dgm:pt>
    <dgm:pt modelId="{EC5D5DB4-F423-4786-AD0D-2CCD61FC69A7}" type="sibTrans" cxnId="{E89CF16D-F826-4F1F-8C9F-163975B6ED43}">
      <dgm:prSet/>
      <dgm:spPr/>
      <dgm:t>
        <a:bodyPr/>
        <a:lstStyle/>
        <a:p>
          <a:endParaRPr lang="en-IN"/>
        </a:p>
      </dgm:t>
    </dgm:pt>
    <dgm:pt modelId="{F15C653C-D3FD-4795-B42A-E58F7AAD042B}" type="pres">
      <dgm:prSet presAssocID="{29A0AC42-80DB-4D97-BE51-300743C29DCF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DF82BF03-A718-47A7-B9C3-5A95236A84B0}" type="pres">
      <dgm:prSet presAssocID="{910CDA6F-7B0F-4395-AB2A-43D0C1810002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CFF040D5-5904-493D-983C-BE5114BB38AA}" type="pres">
      <dgm:prSet presAssocID="{3A2109F2-DA7F-4448-BBD9-E46F7151246B}" presName="spacer" presStyleCnt="0"/>
      <dgm:spPr/>
    </dgm:pt>
    <dgm:pt modelId="{909B1F59-FE85-4312-9B87-73C6719845C6}" type="pres">
      <dgm:prSet presAssocID="{271DC442-2595-427A-931D-86C105D46B68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E89CF16D-F826-4F1F-8C9F-163975B6ED43}" srcId="{29A0AC42-80DB-4D97-BE51-300743C29DCF}" destId="{271DC442-2595-427A-931D-86C105D46B68}" srcOrd="1" destOrd="0" parTransId="{14626FD8-E0E5-4541-9CC8-4FA0316F47AB}" sibTransId="{EC5D5DB4-F423-4786-AD0D-2CCD61FC69A7}"/>
    <dgm:cxn modelId="{E3D2AD87-72E4-49DD-BE25-FA547EEE004C}" type="presOf" srcId="{271DC442-2595-427A-931D-86C105D46B68}" destId="{909B1F59-FE85-4312-9B87-73C6719845C6}" srcOrd="0" destOrd="0" presId="urn:microsoft.com/office/officeart/2005/8/layout/vList2"/>
    <dgm:cxn modelId="{BADDF736-409D-41EE-B546-8228BBA6C9B7}" type="presOf" srcId="{29A0AC42-80DB-4D97-BE51-300743C29DCF}" destId="{F15C653C-D3FD-4795-B42A-E58F7AAD042B}" srcOrd="0" destOrd="0" presId="urn:microsoft.com/office/officeart/2005/8/layout/vList2"/>
    <dgm:cxn modelId="{3273E9BA-6547-4C2A-A4E8-09CD602C9DA6}" srcId="{29A0AC42-80DB-4D97-BE51-300743C29DCF}" destId="{910CDA6F-7B0F-4395-AB2A-43D0C1810002}" srcOrd="0" destOrd="0" parTransId="{0B6FED4B-5D27-43C1-A317-027226BAFBC8}" sibTransId="{3A2109F2-DA7F-4448-BBD9-E46F7151246B}"/>
    <dgm:cxn modelId="{FCDCDE78-3E0F-4B75-A3BF-E6FC5D4AE256}" type="presOf" srcId="{910CDA6F-7B0F-4395-AB2A-43D0C1810002}" destId="{DF82BF03-A718-47A7-B9C3-5A95236A84B0}" srcOrd="0" destOrd="0" presId="urn:microsoft.com/office/officeart/2005/8/layout/vList2"/>
    <dgm:cxn modelId="{5E0EEBF9-262E-4C85-AB28-8E1E9A7E7580}" type="presParOf" srcId="{F15C653C-D3FD-4795-B42A-E58F7AAD042B}" destId="{DF82BF03-A718-47A7-B9C3-5A95236A84B0}" srcOrd="0" destOrd="0" presId="urn:microsoft.com/office/officeart/2005/8/layout/vList2"/>
    <dgm:cxn modelId="{B3109536-B709-4657-91DD-FE67E881C674}" type="presParOf" srcId="{F15C653C-D3FD-4795-B42A-E58F7AAD042B}" destId="{CFF040D5-5904-493D-983C-BE5114BB38AA}" srcOrd="1" destOrd="0" presId="urn:microsoft.com/office/officeart/2005/8/layout/vList2"/>
    <dgm:cxn modelId="{7D224AD5-8A42-4E3B-BD50-A006777D1852}" type="presParOf" srcId="{F15C653C-D3FD-4795-B42A-E58F7AAD042B}" destId="{909B1F59-FE85-4312-9B87-73C6719845C6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B185937-FE26-4FAE-B448-82B21078D0A4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F06E782F-7D15-48EC-8F4F-E84A7E8A81C4}">
      <dgm:prSet phldrT="[Text]"/>
      <dgm:spPr/>
      <dgm:t>
        <a:bodyPr/>
        <a:lstStyle/>
        <a:p>
          <a:r>
            <a:rPr lang="en-US" b="1" dirty="0" smtClean="0"/>
            <a:t>STORE</a:t>
          </a:r>
          <a:endParaRPr lang="en-IN" b="1" dirty="0"/>
        </a:p>
      </dgm:t>
    </dgm:pt>
    <dgm:pt modelId="{62B1CE63-6A43-4AA0-A88A-284B347ACC15}" type="parTrans" cxnId="{C8340368-B1C0-4FE7-8B0D-0CD52B27F865}">
      <dgm:prSet/>
      <dgm:spPr/>
      <dgm:t>
        <a:bodyPr/>
        <a:lstStyle/>
        <a:p>
          <a:endParaRPr lang="en-IN"/>
        </a:p>
      </dgm:t>
    </dgm:pt>
    <dgm:pt modelId="{FEB00CF3-8F95-4603-8738-6B4AD81DB415}" type="sibTrans" cxnId="{C8340368-B1C0-4FE7-8B0D-0CD52B27F865}">
      <dgm:prSet/>
      <dgm:spPr/>
      <dgm:t>
        <a:bodyPr/>
        <a:lstStyle/>
        <a:p>
          <a:endParaRPr lang="en-IN"/>
        </a:p>
      </dgm:t>
    </dgm:pt>
    <dgm:pt modelId="{34661D33-F675-47BC-8FDD-1DD22B678A78}">
      <dgm:prSet phldrT="[Text]"/>
      <dgm:spPr>
        <a:solidFill>
          <a:srgbClr val="FFC000"/>
        </a:solidFill>
      </dgm:spPr>
      <dgm:t>
        <a:bodyPr/>
        <a:lstStyle/>
        <a:p>
          <a:r>
            <a:rPr lang="en-US" b="1" dirty="0" smtClean="0"/>
            <a:t>QUERY/RETRIEVE</a:t>
          </a:r>
          <a:endParaRPr lang="en-IN" b="1" dirty="0"/>
        </a:p>
      </dgm:t>
    </dgm:pt>
    <dgm:pt modelId="{65AD3785-2926-40BE-9F86-C017A78EDF6D}" type="parTrans" cxnId="{D5D3D246-9C6F-4489-B966-A44BDADD4E82}">
      <dgm:prSet/>
      <dgm:spPr/>
      <dgm:t>
        <a:bodyPr/>
        <a:lstStyle/>
        <a:p>
          <a:endParaRPr lang="en-IN"/>
        </a:p>
      </dgm:t>
    </dgm:pt>
    <dgm:pt modelId="{0AB276CF-787D-474C-91C4-A3F9301CE631}" type="sibTrans" cxnId="{D5D3D246-9C6F-4489-B966-A44BDADD4E82}">
      <dgm:prSet/>
      <dgm:spPr/>
      <dgm:t>
        <a:bodyPr/>
        <a:lstStyle/>
        <a:p>
          <a:endParaRPr lang="en-IN"/>
        </a:p>
      </dgm:t>
    </dgm:pt>
    <dgm:pt modelId="{A43D158F-BA08-4EA6-95DD-26C3398A4D0C}">
      <dgm:prSet phldrT="[Text]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en-US" b="1" dirty="0" smtClean="0"/>
            <a:t>VERIFICATION</a:t>
          </a:r>
          <a:endParaRPr lang="en-IN" b="1" dirty="0"/>
        </a:p>
      </dgm:t>
    </dgm:pt>
    <dgm:pt modelId="{061857FA-2A82-4B0D-A04E-28FC82A669E3}" type="parTrans" cxnId="{942E58AA-1A99-4D15-AE7B-56DD5389B6C3}">
      <dgm:prSet/>
      <dgm:spPr/>
      <dgm:t>
        <a:bodyPr/>
        <a:lstStyle/>
        <a:p>
          <a:endParaRPr lang="en-IN"/>
        </a:p>
      </dgm:t>
    </dgm:pt>
    <dgm:pt modelId="{822D296A-E32E-4B64-B06B-F3A492EEE9DB}" type="sibTrans" cxnId="{942E58AA-1A99-4D15-AE7B-56DD5389B6C3}">
      <dgm:prSet/>
      <dgm:spPr/>
      <dgm:t>
        <a:bodyPr/>
        <a:lstStyle/>
        <a:p>
          <a:endParaRPr lang="en-IN"/>
        </a:p>
      </dgm:t>
    </dgm:pt>
    <dgm:pt modelId="{BD39DAD7-FE2A-4848-8024-B6493EE82F89}">
      <dgm:prSet phldrT="[Text]"/>
      <dgm:spPr>
        <a:solidFill>
          <a:srgbClr val="83E3A1"/>
        </a:solidFill>
      </dgm:spPr>
      <dgm:t>
        <a:bodyPr/>
        <a:lstStyle/>
        <a:p>
          <a:r>
            <a:rPr lang="en-US" b="1" dirty="0" smtClean="0"/>
            <a:t>PRINT</a:t>
          </a:r>
          <a:endParaRPr lang="en-IN" b="1" dirty="0"/>
        </a:p>
      </dgm:t>
    </dgm:pt>
    <dgm:pt modelId="{2923B665-2B32-4C1D-9367-76E5FAE0EAB0}" type="parTrans" cxnId="{02D8550E-E915-4306-9C9A-2F0CE3E6171B}">
      <dgm:prSet/>
      <dgm:spPr/>
      <dgm:t>
        <a:bodyPr/>
        <a:lstStyle/>
        <a:p>
          <a:endParaRPr lang="en-IN"/>
        </a:p>
      </dgm:t>
    </dgm:pt>
    <dgm:pt modelId="{D28FD72F-E5F9-4151-A9DC-CFE88C03D08E}" type="sibTrans" cxnId="{02D8550E-E915-4306-9C9A-2F0CE3E6171B}">
      <dgm:prSet/>
      <dgm:spPr/>
      <dgm:t>
        <a:bodyPr/>
        <a:lstStyle/>
        <a:p>
          <a:endParaRPr lang="en-IN"/>
        </a:p>
      </dgm:t>
    </dgm:pt>
    <dgm:pt modelId="{C7DC9615-5877-4153-8E7F-4A59AA8E0834}">
      <dgm:prSet phldrT="[Text]"/>
      <dgm:spPr>
        <a:solidFill>
          <a:srgbClr val="92D050"/>
        </a:solidFill>
      </dgm:spPr>
      <dgm:t>
        <a:bodyPr/>
        <a:lstStyle/>
        <a:p>
          <a:r>
            <a:rPr lang="en-US" b="1" dirty="0" smtClean="0"/>
            <a:t>MODALITY WORKLIST</a:t>
          </a:r>
          <a:endParaRPr lang="en-IN" b="1" dirty="0"/>
        </a:p>
      </dgm:t>
    </dgm:pt>
    <dgm:pt modelId="{41506F88-50CB-44D2-BB6A-9BFB2BF42A84}" type="parTrans" cxnId="{D42A0682-0C0F-4240-9EE1-DC9BBFFF3F84}">
      <dgm:prSet/>
      <dgm:spPr/>
      <dgm:t>
        <a:bodyPr/>
        <a:lstStyle/>
        <a:p>
          <a:endParaRPr lang="en-IN"/>
        </a:p>
      </dgm:t>
    </dgm:pt>
    <dgm:pt modelId="{6BCA4FFD-94C5-4263-8527-5F228AABE698}" type="sibTrans" cxnId="{D42A0682-0C0F-4240-9EE1-DC9BBFFF3F84}">
      <dgm:prSet/>
      <dgm:spPr/>
      <dgm:t>
        <a:bodyPr/>
        <a:lstStyle/>
        <a:p>
          <a:endParaRPr lang="en-IN"/>
        </a:p>
      </dgm:t>
    </dgm:pt>
    <dgm:pt modelId="{9D06C1E3-44D2-4836-9EEE-A75BF9330277}">
      <dgm:prSet/>
      <dgm:spPr>
        <a:solidFill>
          <a:srgbClr val="F2BF74"/>
        </a:solidFill>
      </dgm:spPr>
      <dgm:t>
        <a:bodyPr/>
        <a:lstStyle/>
        <a:p>
          <a:endParaRPr lang="en-IN" dirty="0"/>
        </a:p>
      </dgm:t>
    </dgm:pt>
    <dgm:pt modelId="{BF75A981-8F1A-4B27-B5AC-670EF71D0FEC}" type="parTrans" cxnId="{88D8C099-E19C-43F8-A3CE-648C1DEDE179}">
      <dgm:prSet/>
      <dgm:spPr/>
      <dgm:t>
        <a:bodyPr/>
        <a:lstStyle/>
        <a:p>
          <a:endParaRPr lang="en-IN"/>
        </a:p>
      </dgm:t>
    </dgm:pt>
    <dgm:pt modelId="{D9F3FDCD-8ECE-4D5B-B3AF-878B5167026A}" type="sibTrans" cxnId="{88D8C099-E19C-43F8-A3CE-648C1DEDE179}">
      <dgm:prSet/>
      <dgm:spPr/>
      <dgm:t>
        <a:bodyPr/>
        <a:lstStyle/>
        <a:p>
          <a:endParaRPr lang="en-IN"/>
        </a:p>
      </dgm:t>
    </dgm:pt>
    <dgm:pt modelId="{A7820C82-F998-4D39-8DC9-62A93187020B}" type="pres">
      <dgm:prSet presAssocID="{BB185937-FE26-4FAE-B448-82B21078D0A4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9350A875-0F3B-4AF3-B351-86047FAA0361}" type="pres">
      <dgm:prSet presAssocID="{F06E782F-7D15-48EC-8F4F-E84A7E8A81C4}" presName="node" presStyleLbl="node1" presStyleIdx="0" presStyleCnt="6" custLinFactX="8781" custLinFactNeighborX="100000" custLinFactNeighborY="6539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17CA8148-E251-4A7F-A4B0-B71E8C62EF7A}" type="pres">
      <dgm:prSet presAssocID="{FEB00CF3-8F95-4603-8738-6B4AD81DB415}" presName="sibTrans" presStyleCnt="0"/>
      <dgm:spPr/>
    </dgm:pt>
    <dgm:pt modelId="{89EA9439-71B2-4C37-A303-08B7146D6A23}" type="pres">
      <dgm:prSet presAssocID="{34661D33-F675-47BC-8FDD-1DD22B678A78}" presName="node" presStyleLbl="node1" presStyleIdx="1" presStyleCnt="6" custLinFactY="16667" custLinFactNeighborX="-1219" custLinFactNeighborY="100000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8CE73912-9E3F-4B59-BB02-E2824B1A801E}" type="pres">
      <dgm:prSet presAssocID="{0AB276CF-787D-474C-91C4-A3F9301CE631}" presName="sibTrans" presStyleCnt="0"/>
      <dgm:spPr/>
    </dgm:pt>
    <dgm:pt modelId="{626D3649-CE35-489F-852B-FAE58B24F2A2}" type="pres">
      <dgm:prSet presAssocID="{A43D158F-BA08-4EA6-95DD-26C3398A4D0C}" presName="node" presStyleLbl="node1" presStyleIdx="2" presStyleCnt="6" custLinFactY="-10128" custLinFactNeighborX="-863" custLinFactNeighborY="-100000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1A986929-CFC9-467E-ACA0-E02A4533D935}" type="pres">
      <dgm:prSet presAssocID="{822D296A-E32E-4B64-B06B-F3A492EEE9DB}" presName="sibTrans" presStyleCnt="0"/>
      <dgm:spPr/>
    </dgm:pt>
    <dgm:pt modelId="{CE8E09BB-3E4F-46D8-AEB6-356404E92EB1}" type="pres">
      <dgm:prSet presAssocID="{BD39DAD7-FE2A-4848-8024-B6493EE82F89}" presName="node" presStyleLbl="node1" presStyleIdx="3" presStyleCnt="6" custLinFactY="7270" custLinFactNeighborX="-1086" custLinFactNeighborY="100000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914D0C0A-E98A-456A-AB39-CC42CA15B7F7}" type="pres">
      <dgm:prSet presAssocID="{D28FD72F-E5F9-4151-A9DC-CFE88C03D08E}" presName="sibTrans" presStyleCnt="0"/>
      <dgm:spPr/>
    </dgm:pt>
    <dgm:pt modelId="{0D166E16-2D9B-4955-982B-B6B725D83DC0}" type="pres">
      <dgm:prSet presAssocID="{C7DC9615-5877-4153-8E7F-4A59AA8E0834}" presName="node" presStyleLbl="node1" presStyleIdx="4" presStyleCnt="6" custLinFactNeighborX="-863" custLinFactNeighborY="-9397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AF76087D-E4F2-4F49-AF06-C146C2F05F25}" type="pres">
      <dgm:prSet presAssocID="{6BCA4FFD-94C5-4263-8527-5F228AABE698}" presName="sibTrans" presStyleCnt="0"/>
      <dgm:spPr/>
    </dgm:pt>
    <dgm:pt modelId="{315CFBF1-A16C-4E47-9FF8-C7B0A818452D}" type="pres">
      <dgm:prSet presAssocID="{9D06C1E3-44D2-4836-9EEE-A75BF9330277}" presName="node" presStyleLbl="node1" presStyleIdx="5" presStyleCnt="6" custLinFactX="-10863" custLinFactY="-16667" custLinFactNeighborX="-100000" custLinFactNeighborY="-100000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90A71AEC-E8A0-4BBD-A9B8-A3DCDEB4B08F}" type="presOf" srcId="{A43D158F-BA08-4EA6-95DD-26C3398A4D0C}" destId="{626D3649-CE35-489F-852B-FAE58B24F2A2}" srcOrd="0" destOrd="0" presId="urn:microsoft.com/office/officeart/2005/8/layout/default"/>
    <dgm:cxn modelId="{02D8550E-E915-4306-9C9A-2F0CE3E6171B}" srcId="{BB185937-FE26-4FAE-B448-82B21078D0A4}" destId="{BD39DAD7-FE2A-4848-8024-B6493EE82F89}" srcOrd="3" destOrd="0" parTransId="{2923B665-2B32-4C1D-9367-76E5FAE0EAB0}" sibTransId="{D28FD72F-E5F9-4151-A9DC-CFE88C03D08E}"/>
    <dgm:cxn modelId="{07D9D83A-7CDB-42B9-83DD-A331F8249C07}" type="presOf" srcId="{34661D33-F675-47BC-8FDD-1DD22B678A78}" destId="{89EA9439-71B2-4C37-A303-08B7146D6A23}" srcOrd="0" destOrd="0" presId="urn:microsoft.com/office/officeart/2005/8/layout/default"/>
    <dgm:cxn modelId="{D42A0682-0C0F-4240-9EE1-DC9BBFFF3F84}" srcId="{BB185937-FE26-4FAE-B448-82B21078D0A4}" destId="{C7DC9615-5877-4153-8E7F-4A59AA8E0834}" srcOrd="4" destOrd="0" parTransId="{41506F88-50CB-44D2-BB6A-9BFB2BF42A84}" sibTransId="{6BCA4FFD-94C5-4263-8527-5F228AABE698}"/>
    <dgm:cxn modelId="{88D8C099-E19C-43F8-A3CE-648C1DEDE179}" srcId="{BB185937-FE26-4FAE-B448-82B21078D0A4}" destId="{9D06C1E3-44D2-4836-9EEE-A75BF9330277}" srcOrd="5" destOrd="0" parTransId="{BF75A981-8F1A-4B27-B5AC-670EF71D0FEC}" sibTransId="{D9F3FDCD-8ECE-4D5B-B3AF-878B5167026A}"/>
    <dgm:cxn modelId="{0297681A-01CD-4FF5-B0F4-54044B7397A7}" type="presOf" srcId="{C7DC9615-5877-4153-8E7F-4A59AA8E0834}" destId="{0D166E16-2D9B-4955-982B-B6B725D83DC0}" srcOrd="0" destOrd="0" presId="urn:microsoft.com/office/officeart/2005/8/layout/default"/>
    <dgm:cxn modelId="{B0D523DC-E1F6-47BF-B7C1-28874A1ABF9B}" type="presOf" srcId="{BD39DAD7-FE2A-4848-8024-B6493EE82F89}" destId="{CE8E09BB-3E4F-46D8-AEB6-356404E92EB1}" srcOrd="0" destOrd="0" presId="urn:microsoft.com/office/officeart/2005/8/layout/default"/>
    <dgm:cxn modelId="{942E58AA-1A99-4D15-AE7B-56DD5389B6C3}" srcId="{BB185937-FE26-4FAE-B448-82B21078D0A4}" destId="{A43D158F-BA08-4EA6-95DD-26C3398A4D0C}" srcOrd="2" destOrd="0" parTransId="{061857FA-2A82-4B0D-A04E-28FC82A669E3}" sibTransId="{822D296A-E32E-4B64-B06B-F3A492EEE9DB}"/>
    <dgm:cxn modelId="{00857E0D-E64F-4740-902D-9ACCAFF4CB41}" type="presOf" srcId="{BB185937-FE26-4FAE-B448-82B21078D0A4}" destId="{A7820C82-F998-4D39-8DC9-62A93187020B}" srcOrd="0" destOrd="0" presId="urn:microsoft.com/office/officeart/2005/8/layout/default"/>
    <dgm:cxn modelId="{D5D3D246-9C6F-4489-B966-A44BDADD4E82}" srcId="{BB185937-FE26-4FAE-B448-82B21078D0A4}" destId="{34661D33-F675-47BC-8FDD-1DD22B678A78}" srcOrd="1" destOrd="0" parTransId="{65AD3785-2926-40BE-9F86-C017A78EDF6D}" sibTransId="{0AB276CF-787D-474C-91C4-A3F9301CE631}"/>
    <dgm:cxn modelId="{4784C8B0-8FAA-427E-928E-7A6A73581568}" type="presOf" srcId="{9D06C1E3-44D2-4836-9EEE-A75BF9330277}" destId="{315CFBF1-A16C-4E47-9FF8-C7B0A818452D}" srcOrd="0" destOrd="0" presId="urn:microsoft.com/office/officeart/2005/8/layout/default"/>
    <dgm:cxn modelId="{95089E0A-2F99-405B-B1FC-B5D2AAF50335}" type="presOf" srcId="{F06E782F-7D15-48EC-8F4F-E84A7E8A81C4}" destId="{9350A875-0F3B-4AF3-B351-86047FAA0361}" srcOrd="0" destOrd="0" presId="urn:microsoft.com/office/officeart/2005/8/layout/default"/>
    <dgm:cxn modelId="{C8340368-B1C0-4FE7-8B0D-0CD52B27F865}" srcId="{BB185937-FE26-4FAE-B448-82B21078D0A4}" destId="{F06E782F-7D15-48EC-8F4F-E84A7E8A81C4}" srcOrd="0" destOrd="0" parTransId="{62B1CE63-6A43-4AA0-A88A-284B347ACC15}" sibTransId="{FEB00CF3-8F95-4603-8738-6B4AD81DB415}"/>
    <dgm:cxn modelId="{4B6A2C93-A610-4670-8A99-A39E22422860}" type="presParOf" srcId="{A7820C82-F998-4D39-8DC9-62A93187020B}" destId="{9350A875-0F3B-4AF3-B351-86047FAA0361}" srcOrd="0" destOrd="0" presId="urn:microsoft.com/office/officeart/2005/8/layout/default"/>
    <dgm:cxn modelId="{4C62203E-95E2-45B9-AD90-02D232D53484}" type="presParOf" srcId="{A7820C82-F998-4D39-8DC9-62A93187020B}" destId="{17CA8148-E251-4A7F-A4B0-B71E8C62EF7A}" srcOrd="1" destOrd="0" presId="urn:microsoft.com/office/officeart/2005/8/layout/default"/>
    <dgm:cxn modelId="{8E71315C-0835-4C78-8AC5-554D79EBC784}" type="presParOf" srcId="{A7820C82-F998-4D39-8DC9-62A93187020B}" destId="{89EA9439-71B2-4C37-A303-08B7146D6A23}" srcOrd="2" destOrd="0" presId="urn:microsoft.com/office/officeart/2005/8/layout/default"/>
    <dgm:cxn modelId="{A5311FB2-6DE2-4497-81A6-151E7C879604}" type="presParOf" srcId="{A7820C82-F998-4D39-8DC9-62A93187020B}" destId="{8CE73912-9E3F-4B59-BB02-E2824B1A801E}" srcOrd="3" destOrd="0" presId="urn:microsoft.com/office/officeart/2005/8/layout/default"/>
    <dgm:cxn modelId="{FE019E5A-50EC-4517-8FF3-62F30149CE85}" type="presParOf" srcId="{A7820C82-F998-4D39-8DC9-62A93187020B}" destId="{626D3649-CE35-489F-852B-FAE58B24F2A2}" srcOrd="4" destOrd="0" presId="urn:microsoft.com/office/officeart/2005/8/layout/default"/>
    <dgm:cxn modelId="{75BC9CDB-1DC9-46E1-9159-666D5996C797}" type="presParOf" srcId="{A7820C82-F998-4D39-8DC9-62A93187020B}" destId="{1A986929-CFC9-467E-ACA0-E02A4533D935}" srcOrd="5" destOrd="0" presId="urn:microsoft.com/office/officeart/2005/8/layout/default"/>
    <dgm:cxn modelId="{23028E03-EE22-4B5F-BA5F-241835A4ED83}" type="presParOf" srcId="{A7820C82-F998-4D39-8DC9-62A93187020B}" destId="{CE8E09BB-3E4F-46D8-AEB6-356404E92EB1}" srcOrd="6" destOrd="0" presId="urn:microsoft.com/office/officeart/2005/8/layout/default"/>
    <dgm:cxn modelId="{99329335-5AD6-499C-B58B-B8387A0D3A74}" type="presParOf" srcId="{A7820C82-F998-4D39-8DC9-62A93187020B}" destId="{914D0C0A-E98A-456A-AB39-CC42CA15B7F7}" srcOrd="7" destOrd="0" presId="urn:microsoft.com/office/officeart/2005/8/layout/default"/>
    <dgm:cxn modelId="{3AD9D3AE-3B33-47D2-BD12-5B65BAA4AAD6}" type="presParOf" srcId="{A7820C82-F998-4D39-8DC9-62A93187020B}" destId="{0D166E16-2D9B-4955-982B-B6B725D83DC0}" srcOrd="8" destOrd="0" presId="urn:microsoft.com/office/officeart/2005/8/layout/default"/>
    <dgm:cxn modelId="{10F5FB78-44D1-49E8-B981-475711ED0B2D}" type="presParOf" srcId="{A7820C82-F998-4D39-8DC9-62A93187020B}" destId="{AF76087D-E4F2-4F49-AF06-C146C2F05F25}" srcOrd="9" destOrd="0" presId="urn:microsoft.com/office/officeart/2005/8/layout/default"/>
    <dgm:cxn modelId="{71477496-7386-4C89-9F18-D8529FC97D2B}" type="presParOf" srcId="{A7820C82-F998-4D39-8DC9-62A93187020B}" destId="{315CFBF1-A16C-4E47-9FF8-C7B0A818452D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2FC9943-C90A-4D37-998F-CA226E908B81}" type="doc">
      <dgm:prSet loTypeId="urn:microsoft.com/office/officeart/2005/8/layout/cycle2" loCatId="cycle" qsTypeId="urn:microsoft.com/office/officeart/2005/8/quickstyle/3d2" qsCatId="3D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D8800C1A-B3EC-46D6-8F7B-B69DE27F43C7}">
      <dgm:prSet phldrT="[Text]"/>
      <dgm:spPr/>
      <dgm:t>
        <a:bodyPr/>
        <a:lstStyle/>
        <a:p>
          <a:r>
            <a:rPr lang="en-US" b="1" dirty="0" smtClean="0"/>
            <a:t>Workstation</a:t>
          </a:r>
          <a:endParaRPr lang="en-IN" b="1" dirty="0"/>
        </a:p>
      </dgm:t>
    </dgm:pt>
    <dgm:pt modelId="{F6B7EFC4-672F-40C2-96CD-A27E4E0F0341}" type="parTrans" cxnId="{E89C63AD-B938-441A-A42C-1CDBBD1F5570}">
      <dgm:prSet/>
      <dgm:spPr/>
      <dgm:t>
        <a:bodyPr/>
        <a:lstStyle/>
        <a:p>
          <a:endParaRPr lang="en-IN"/>
        </a:p>
      </dgm:t>
    </dgm:pt>
    <dgm:pt modelId="{FD2D9364-9312-4D16-BA9E-FE5B790D3D68}" type="sibTrans" cxnId="{E89C63AD-B938-441A-A42C-1CDBBD1F5570}">
      <dgm:prSet/>
      <dgm:spPr/>
      <dgm:t>
        <a:bodyPr/>
        <a:lstStyle/>
        <a:p>
          <a:endParaRPr lang="en-IN" dirty="0"/>
        </a:p>
      </dgm:t>
    </dgm:pt>
    <dgm:pt modelId="{C13AD84F-A163-4828-8FB6-DB28C49EE440}">
      <dgm:prSet phldrT="[Text]"/>
      <dgm:spPr/>
      <dgm:t>
        <a:bodyPr/>
        <a:lstStyle/>
        <a:p>
          <a:r>
            <a:rPr lang="en-US" b="1" dirty="0" smtClean="0">
              <a:solidFill>
                <a:schemeClr val="tx1"/>
              </a:solidFill>
            </a:rPr>
            <a:t>PACS</a:t>
          </a:r>
          <a:endParaRPr lang="en-IN" b="1" dirty="0">
            <a:solidFill>
              <a:schemeClr val="tx1"/>
            </a:solidFill>
          </a:endParaRPr>
        </a:p>
      </dgm:t>
    </dgm:pt>
    <dgm:pt modelId="{949DCC0E-E504-449A-8E29-C530B2AB241E}" type="parTrans" cxnId="{B8B08482-6701-4E1D-9336-AFE1189FEFEF}">
      <dgm:prSet/>
      <dgm:spPr/>
      <dgm:t>
        <a:bodyPr/>
        <a:lstStyle/>
        <a:p>
          <a:endParaRPr lang="en-IN"/>
        </a:p>
      </dgm:t>
    </dgm:pt>
    <dgm:pt modelId="{8E682C59-84A6-48D4-B28B-FF71B95816D1}" type="sibTrans" cxnId="{B8B08482-6701-4E1D-9336-AFE1189FEFEF}">
      <dgm:prSet/>
      <dgm:spPr>
        <a:solidFill>
          <a:schemeClr val="bg1">
            <a:lumMod val="65000"/>
          </a:schemeClr>
        </a:solidFill>
      </dgm:spPr>
      <dgm:t>
        <a:bodyPr/>
        <a:lstStyle/>
        <a:p>
          <a:endParaRPr lang="en-IN" dirty="0"/>
        </a:p>
      </dgm:t>
    </dgm:pt>
    <dgm:pt modelId="{82423DB3-9876-4B2F-A5EC-08A846B72BE0}" type="pres">
      <dgm:prSet presAssocID="{62FC9943-C90A-4D37-998F-CA226E908B81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7CD2EA77-CC1D-4DB1-B94C-87134B94DBD9}" type="pres">
      <dgm:prSet presAssocID="{D8800C1A-B3EC-46D6-8F7B-B69DE27F43C7}" presName="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7425F524-2106-4194-B982-122F3DC60292}" type="pres">
      <dgm:prSet presAssocID="{FD2D9364-9312-4D16-BA9E-FE5B790D3D68}" presName="sibTrans" presStyleLbl="sibTrans2D1" presStyleIdx="0" presStyleCnt="2"/>
      <dgm:spPr/>
      <dgm:t>
        <a:bodyPr/>
        <a:lstStyle/>
        <a:p>
          <a:endParaRPr lang="en-IN"/>
        </a:p>
      </dgm:t>
    </dgm:pt>
    <dgm:pt modelId="{C70523E5-4FEC-4EF1-B2CB-9CE8BFF46C78}" type="pres">
      <dgm:prSet presAssocID="{FD2D9364-9312-4D16-BA9E-FE5B790D3D68}" presName="connectorText" presStyleLbl="sibTrans2D1" presStyleIdx="0" presStyleCnt="2"/>
      <dgm:spPr/>
      <dgm:t>
        <a:bodyPr/>
        <a:lstStyle/>
        <a:p>
          <a:endParaRPr lang="en-IN"/>
        </a:p>
      </dgm:t>
    </dgm:pt>
    <dgm:pt modelId="{74C03F8C-37C1-4028-80F9-4382DD83DF1F}" type="pres">
      <dgm:prSet presAssocID="{C13AD84F-A163-4828-8FB6-DB28C49EE440}" presName="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AD0A4730-E7B1-48FD-B7DF-EF6B8E96D0DB}" type="pres">
      <dgm:prSet presAssocID="{8E682C59-84A6-48D4-B28B-FF71B95816D1}" presName="sibTrans" presStyleLbl="sibTrans2D1" presStyleIdx="1" presStyleCnt="2"/>
      <dgm:spPr/>
      <dgm:t>
        <a:bodyPr/>
        <a:lstStyle/>
        <a:p>
          <a:endParaRPr lang="en-IN"/>
        </a:p>
      </dgm:t>
    </dgm:pt>
    <dgm:pt modelId="{2906A726-3275-4800-8AAA-F3121BB25DA7}" type="pres">
      <dgm:prSet presAssocID="{8E682C59-84A6-48D4-B28B-FF71B95816D1}" presName="connectorText" presStyleLbl="sibTrans2D1" presStyleIdx="1" presStyleCnt="2"/>
      <dgm:spPr/>
      <dgm:t>
        <a:bodyPr/>
        <a:lstStyle/>
        <a:p>
          <a:endParaRPr lang="en-IN"/>
        </a:p>
      </dgm:t>
    </dgm:pt>
  </dgm:ptLst>
  <dgm:cxnLst>
    <dgm:cxn modelId="{8E6629F1-F3DB-45F4-A4E3-93250CD04454}" type="presOf" srcId="{C13AD84F-A163-4828-8FB6-DB28C49EE440}" destId="{74C03F8C-37C1-4028-80F9-4382DD83DF1F}" srcOrd="0" destOrd="0" presId="urn:microsoft.com/office/officeart/2005/8/layout/cycle2"/>
    <dgm:cxn modelId="{B561A5B6-46C6-41DF-A356-63384C64FD5C}" type="presOf" srcId="{8E682C59-84A6-48D4-B28B-FF71B95816D1}" destId="{2906A726-3275-4800-8AAA-F3121BB25DA7}" srcOrd="1" destOrd="0" presId="urn:microsoft.com/office/officeart/2005/8/layout/cycle2"/>
    <dgm:cxn modelId="{B8B08482-6701-4E1D-9336-AFE1189FEFEF}" srcId="{62FC9943-C90A-4D37-998F-CA226E908B81}" destId="{C13AD84F-A163-4828-8FB6-DB28C49EE440}" srcOrd="1" destOrd="0" parTransId="{949DCC0E-E504-449A-8E29-C530B2AB241E}" sibTransId="{8E682C59-84A6-48D4-B28B-FF71B95816D1}"/>
    <dgm:cxn modelId="{E89C63AD-B938-441A-A42C-1CDBBD1F5570}" srcId="{62FC9943-C90A-4D37-998F-CA226E908B81}" destId="{D8800C1A-B3EC-46D6-8F7B-B69DE27F43C7}" srcOrd="0" destOrd="0" parTransId="{F6B7EFC4-672F-40C2-96CD-A27E4E0F0341}" sibTransId="{FD2D9364-9312-4D16-BA9E-FE5B790D3D68}"/>
    <dgm:cxn modelId="{D084AFD7-DD67-48BC-BF36-0AAA30397123}" type="presOf" srcId="{8E682C59-84A6-48D4-B28B-FF71B95816D1}" destId="{AD0A4730-E7B1-48FD-B7DF-EF6B8E96D0DB}" srcOrd="0" destOrd="0" presId="urn:microsoft.com/office/officeart/2005/8/layout/cycle2"/>
    <dgm:cxn modelId="{52EAFBA3-A852-4E81-A0EB-669CF131A97F}" type="presOf" srcId="{62FC9943-C90A-4D37-998F-CA226E908B81}" destId="{82423DB3-9876-4B2F-A5EC-08A846B72BE0}" srcOrd="0" destOrd="0" presId="urn:microsoft.com/office/officeart/2005/8/layout/cycle2"/>
    <dgm:cxn modelId="{5959E388-597E-4502-88CB-C4557B4CCBC5}" type="presOf" srcId="{D8800C1A-B3EC-46D6-8F7B-B69DE27F43C7}" destId="{7CD2EA77-CC1D-4DB1-B94C-87134B94DBD9}" srcOrd="0" destOrd="0" presId="urn:microsoft.com/office/officeart/2005/8/layout/cycle2"/>
    <dgm:cxn modelId="{4AEDF6E7-7EEA-40AA-992F-335F725C4AAD}" type="presOf" srcId="{FD2D9364-9312-4D16-BA9E-FE5B790D3D68}" destId="{C70523E5-4FEC-4EF1-B2CB-9CE8BFF46C78}" srcOrd="1" destOrd="0" presId="urn:microsoft.com/office/officeart/2005/8/layout/cycle2"/>
    <dgm:cxn modelId="{900593A5-C302-4AE5-8E51-8DBF82F9518E}" type="presOf" srcId="{FD2D9364-9312-4D16-BA9E-FE5B790D3D68}" destId="{7425F524-2106-4194-B982-122F3DC60292}" srcOrd="0" destOrd="0" presId="urn:microsoft.com/office/officeart/2005/8/layout/cycle2"/>
    <dgm:cxn modelId="{3BF40A2D-EC57-406D-995A-D5CE24B2685C}" type="presParOf" srcId="{82423DB3-9876-4B2F-A5EC-08A846B72BE0}" destId="{7CD2EA77-CC1D-4DB1-B94C-87134B94DBD9}" srcOrd="0" destOrd="0" presId="urn:microsoft.com/office/officeart/2005/8/layout/cycle2"/>
    <dgm:cxn modelId="{CA93300F-166B-4512-AFA5-C2B56A9AA0E8}" type="presParOf" srcId="{82423DB3-9876-4B2F-A5EC-08A846B72BE0}" destId="{7425F524-2106-4194-B982-122F3DC60292}" srcOrd="1" destOrd="0" presId="urn:microsoft.com/office/officeart/2005/8/layout/cycle2"/>
    <dgm:cxn modelId="{4015111C-C238-4405-92EA-1666E5690022}" type="presParOf" srcId="{7425F524-2106-4194-B982-122F3DC60292}" destId="{C70523E5-4FEC-4EF1-B2CB-9CE8BFF46C78}" srcOrd="0" destOrd="0" presId="urn:microsoft.com/office/officeart/2005/8/layout/cycle2"/>
    <dgm:cxn modelId="{B0D91F71-645B-4A5D-B9C1-98C5755315CE}" type="presParOf" srcId="{82423DB3-9876-4B2F-A5EC-08A846B72BE0}" destId="{74C03F8C-37C1-4028-80F9-4382DD83DF1F}" srcOrd="2" destOrd="0" presId="urn:microsoft.com/office/officeart/2005/8/layout/cycle2"/>
    <dgm:cxn modelId="{1D693D16-ED02-44EB-8A4E-C762FA950758}" type="presParOf" srcId="{82423DB3-9876-4B2F-A5EC-08A846B72BE0}" destId="{AD0A4730-E7B1-48FD-B7DF-EF6B8E96D0DB}" srcOrd="3" destOrd="0" presId="urn:microsoft.com/office/officeart/2005/8/layout/cycle2"/>
    <dgm:cxn modelId="{F5347428-C08B-4F91-BE02-AFA54EF0E9A7}" type="presParOf" srcId="{AD0A4730-E7B1-48FD-B7DF-EF6B8E96D0DB}" destId="{2906A726-3275-4800-8AAA-F3121BB25DA7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1A2B35D-7360-4EBA-8D3E-B39A1596BC7D}" type="doc">
      <dgm:prSet loTypeId="urn:microsoft.com/office/officeart/2005/8/layout/funnel1" loCatId="process" qsTypeId="urn:microsoft.com/office/officeart/2005/8/quickstyle/3d1" qsCatId="3D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CFF223F1-ACB3-42E4-8EE0-6336DD2A1FC5}">
      <dgm:prSet phldrT="[Text]" custT="1"/>
      <dgm:spPr/>
      <dgm:t>
        <a:bodyPr/>
        <a:lstStyle/>
        <a:p>
          <a:r>
            <a:rPr lang="en-US" sz="1000" dirty="0" smtClean="0">
              <a:solidFill>
                <a:schemeClr val="tx1"/>
              </a:solidFill>
            </a:rPr>
            <a:t>Media Interop Tests </a:t>
          </a:r>
          <a:endParaRPr lang="en-IN" sz="1000" dirty="0">
            <a:solidFill>
              <a:schemeClr val="tx1"/>
            </a:solidFill>
          </a:endParaRPr>
        </a:p>
      </dgm:t>
    </dgm:pt>
    <dgm:pt modelId="{54AD51EB-C4D5-49A0-B429-59B915F8207E}" type="parTrans" cxnId="{D02494E2-E014-4F09-A3C5-FF798EAC8DED}">
      <dgm:prSet/>
      <dgm:spPr/>
      <dgm:t>
        <a:bodyPr/>
        <a:lstStyle/>
        <a:p>
          <a:endParaRPr lang="en-IN"/>
        </a:p>
      </dgm:t>
    </dgm:pt>
    <dgm:pt modelId="{3B5CA3BC-EE1D-4FE4-A582-1910BA94D674}" type="sibTrans" cxnId="{D02494E2-E014-4F09-A3C5-FF798EAC8DED}">
      <dgm:prSet/>
      <dgm:spPr/>
      <dgm:t>
        <a:bodyPr/>
        <a:lstStyle/>
        <a:p>
          <a:endParaRPr lang="en-IN"/>
        </a:p>
      </dgm:t>
    </dgm:pt>
    <dgm:pt modelId="{FB29AF20-31D8-4E0F-B6DC-374D04E09256}">
      <dgm:prSet phldrT="[Text]" custT="1"/>
      <dgm:spPr/>
      <dgm:t>
        <a:bodyPr/>
        <a:lstStyle/>
        <a:p>
          <a:r>
            <a:rPr lang="en-US" sz="1000" dirty="0" smtClean="0"/>
            <a:t>DICOM Services Tests</a:t>
          </a:r>
          <a:endParaRPr lang="en-IN" sz="1000" dirty="0"/>
        </a:p>
      </dgm:t>
    </dgm:pt>
    <dgm:pt modelId="{F1C1FABA-AE85-49DE-99E1-23FC4AC7FE3C}" type="parTrans" cxnId="{1C39487A-45E2-4D5D-A982-D5BB623C5D7B}">
      <dgm:prSet/>
      <dgm:spPr/>
      <dgm:t>
        <a:bodyPr/>
        <a:lstStyle/>
        <a:p>
          <a:endParaRPr lang="en-IN"/>
        </a:p>
      </dgm:t>
    </dgm:pt>
    <dgm:pt modelId="{34F50726-219B-4DC4-8639-2F962A201EB6}" type="sibTrans" cxnId="{1C39487A-45E2-4D5D-A982-D5BB623C5D7B}">
      <dgm:prSet/>
      <dgm:spPr/>
      <dgm:t>
        <a:bodyPr/>
        <a:lstStyle/>
        <a:p>
          <a:endParaRPr lang="en-IN"/>
        </a:p>
      </dgm:t>
    </dgm:pt>
    <dgm:pt modelId="{1A27EB29-1AA6-4FDF-A6CE-F08F56480FF5}">
      <dgm:prSet phldrT="[Text]"/>
      <dgm:spPr/>
      <dgm:t>
        <a:bodyPr/>
        <a:lstStyle/>
        <a:p>
          <a:endParaRPr lang="en-IN" dirty="0"/>
        </a:p>
      </dgm:t>
    </dgm:pt>
    <dgm:pt modelId="{722AC3AE-1F26-41B9-9F4A-105037DDED59}" type="sibTrans" cxnId="{2FADF6B8-8D3D-4C58-8ADE-EFB00BB59146}">
      <dgm:prSet/>
      <dgm:spPr/>
      <dgm:t>
        <a:bodyPr/>
        <a:lstStyle/>
        <a:p>
          <a:endParaRPr lang="en-IN"/>
        </a:p>
      </dgm:t>
    </dgm:pt>
    <dgm:pt modelId="{A3112664-0930-4E60-A53F-2F3899D05F5E}" type="parTrans" cxnId="{2FADF6B8-8D3D-4C58-8ADE-EFB00BB59146}">
      <dgm:prSet/>
      <dgm:spPr/>
      <dgm:t>
        <a:bodyPr/>
        <a:lstStyle/>
        <a:p>
          <a:endParaRPr lang="en-IN"/>
        </a:p>
      </dgm:t>
    </dgm:pt>
    <dgm:pt modelId="{3F2B7ABC-8F5B-4D32-A42C-8C7E0FB5CDA9}">
      <dgm:prSet phldrT="[Text]"/>
      <dgm:spPr/>
      <dgm:t>
        <a:bodyPr/>
        <a:lstStyle/>
        <a:p>
          <a:endParaRPr lang="en-IN" dirty="0"/>
        </a:p>
      </dgm:t>
    </dgm:pt>
    <dgm:pt modelId="{5C8A2D17-7BEA-4BE7-B793-170EC4F41F8F}" type="sibTrans" cxnId="{0208700F-5628-41B0-9BE3-9EE782FF99D0}">
      <dgm:prSet/>
      <dgm:spPr/>
      <dgm:t>
        <a:bodyPr/>
        <a:lstStyle/>
        <a:p>
          <a:endParaRPr lang="en-IN"/>
        </a:p>
      </dgm:t>
    </dgm:pt>
    <dgm:pt modelId="{A8B79C8F-F361-4A92-9A90-3E8F531647ED}" type="parTrans" cxnId="{0208700F-5628-41B0-9BE3-9EE782FF99D0}">
      <dgm:prSet/>
      <dgm:spPr/>
      <dgm:t>
        <a:bodyPr/>
        <a:lstStyle/>
        <a:p>
          <a:endParaRPr lang="en-IN"/>
        </a:p>
      </dgm:t>
    </dgm:pt>
    <dgm:pt modelId="{BCCE9E30-B5DE-4E44-833F-8C9B7B7D5E85}" type="pres">
      <dgm:prSet presAssocID="{D1A2B35D-7360-4EBA-8D3E-B39A1596BC7D}" presName="Name0" presStyleCnt="0">
        <dgm:presLayoutVars>
          <dgm:chMax val="4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DCBB221-81A9-46FA-83C6-27431D782154}" type="pres">
      <dgm:prSet presAssocID="{D1A2B35D-7360-4EBA-8D3E-B39A1596BC7D}" presName="ellipse" presStyleLbl="trBgShp" presStyleIdx="0" presStyleCnt="1"/>
      <dgm:spPr/>
    </dgm:pt>
    <dgm:pt modelId="{6066DE01-80E5-4228-92B3-AE91A429B572}" type="pres">
      <dgm:prSet presAssocID="{D1A2B35D-7360-4EBA-8D3E-B39A1596BC7D}" presName="arrow1" presStyleLbl="fgShp" presStyleIdx="0" presStyleCnt="1" custLinFactNeighborX="-7414" custLinFactNeighborY="57252"/>
      <dgm:spPr>
        <a:solidFill>
          <a:srgbClr val="00B050"/>
        </a:solidFill>
      </dgm:spPr>
    </dgm:pt>
    <dgm:pt modelId="{51B7034C-0398-4B34-BCC0-B54FA9A4F0CD}" type="pres">
      <dgm:prSet presAssocID="{D1A2B35D-7360-4EBA-8D3E-B39A1596BC7D}" presName="rectangle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FC2951F4-9D90-4F14-9C47-40645F01263E}" type="pres">
      <dgm:prSet presAssocID="{FB29AF20-31D8-4E0F-B6DC-374D04E09256}" presName="item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209790E6-1702-40D8-ADBE-47E5CAB5C22C}" type="pres">
      <dgm:prSet presAssocID="{1A27EB29-1AA6-4FDF-A6CE-F08F56480FF5}" presName="item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D984A412-3B46-483F-B0E2-8B23640022C9}" type="pres">
      <dgm:prSet presAssocID="{3F2B7ABC-8F5B-4D32-A42C-8C7E0FB5CDA9}" presName="item3" presStyleLbl="node1" presStyleIdx="2" presStyleCnt="3" custLinFactNeighborX="8062" custLinFactNeighborY="1779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4BE3A99-2580-4C70-ACEA-FA0998A78CF0}" type="pres">
      <dgm:prSet presAssocID="{D1A2B35D-7360-4EBA-8D3E-B39A1596BC7D}" presName="funnel" presStyleLbl="trAlignAcc1" presStyleIdx="0" presStyleCnt="1" custScaleX="171429" custLinFactNeighborX="-266" custLinFactNeighborY="-308"/>
      <dgm:spPr/>
    </dgm:pt>
  </dgm:ptLst>
  <dgm:cxnLst>
    <dgm:cxn modelId="{1C39487A-45E2-4D5D-A982-D5BB623C5D7B}" srcId="{D1A2B35D-7360-4EBA-8D3E-B39A1596BC7D}" destId="{FB29AF20-31D8-4E0F-B6DC-374D04E09256}" srcOrd="1" destOrd="0" parTransId="{F1C1FABA-AE85-49DE-99E1-23FC4AC7FE3C}" sibTransId="{34F50726-219B-4DC4-8639-2F962A201EB6}"/>
    <dgm:cxn modelId="{DBD1DD23-750E-4722-A421-02EF71B90D7A}" type="presOf" srcId="{1A27EB29-1AA6-4FDF-A6CE-F08F56480FF5}" destId="{FC2951F4-9D90-4F14-9C47-40645F01263E}" srcOrd="0" destOrd="0" presId="urn:microsoft.com/office/officeart/2005/8/layout/funnel1"/>
    <dgm:cxn modelId="{BFDEBFEC-DB3E-41A1-957D-6CA2BC67D1D8}" type="presOf" srcId="{D1A2B35D-7360-4EBA-8D3E-B39A1596BC7D}" destId="{BCCE9E30-B5DE-4E44-833F-8C9B7B7D5E85}" srcOrd="0" destOrd="0" presId="urn:microsoft.com/office/officeart/2005/8/layout/funnel1"/>
    <dgm:cxn modelId="{0154DBB0-6B8F-4715-8870-CA2F99C90A23}" type="presOf" srcId="{3F2B7ABC-8F5B-4D32-A42C-8C7E0FB5CDA9}" destId="{51B7034C-0398-4B34-BCC0-B54FA9A4F0CD}" srcOrd="0" destOrd="0" presId="urn:microsoft.com/office/officeart/2005/8/layout/funnel1"/>
    <dgm:cxn modelId="{2FADF6B8-8D3D-4C58-8ADE-EFB00BB59146}" srcId="{D1A2B35D-7360-4EBA-8D3E-B39A1596BC7D}" destId="{1A27EB29-1AA6-4FDF-A6CE-F08F56480FF5}" srcOrd="2" destOrd="0" parTransId="{A3112664-0930-4E60-A53F-2F3899D05F5E}" sibTransId="{722AC3AE-1F26-41B9-9F4A-105037DDED59}"/>
    <dgm:cxn modelId="{0208700F-5628-41B0-9BE3-9EE782FF99D0}" srcId="{D1A2B35D-7360-4EBA-8D3E-B39A1596BC7D}" destId="{3F2B7ABC-8F5B-4D32-A42C-8C7E0FB5CDA9}" srcOrd="3" destOrd="0" parTransId="{A8B79C8F-F361-4A92-9A90-3E8F531647ED}" sibTransId="{5C8A2D17-7BEA-4BE7-B793-170EC4F41F8F}"/>
    <dgm:cxn modelId="{5E06B32F-6E4A-46AB-A606-14819BBD5F5D}" type="presOf" srcId="{CFF223F1-ACB3-42E4-8EE0-6336DD2A1FC5}" destId="{D984A412-3B46-483F-B0E2-8B23640022C9}" srcOrd="0" destOrd="0" presId="urn:microsoft.com/office/officeart/2005/8/layout/funnel1"/>
    <dgm:cxn modelId="{D02494E2-E014-4F09-A3C5-FF798EAC8DED}" srcId="{D1A2B35D-7360-4EBA-8D3E-B39A1596BC7D}" destId="{CFF223F1-ACB3-42E4-8EE0-6336DD2A1FC5}" srcOrd="0" destOrd="0" parTransId="{54AD51EB-C4D5-49A0-B429-59B915F8207E}" sibTransId="{3B5CA3BC-EE1D-4FE4-A582-1910BA94D674}"/>
    <dgm:cxn modelId="{E56B59AD-8AB1-4F56-80C0-52F295A294D6}" type="presOf" srcId="{FB29AF20-31D8-4E0F-B6DC-374D04E09256}" destId="{209790E6-1702-40D8-ADBE-47E5CAB5C22C}" srcOrd="0" destOrd="0" presId="urn:microsoft.com/office/officeart/2005/8/layout/funnel1"/>
    <dgm:cxn modelId="{FBFE94BD-6D9B-465F-835C-A921BDF777F4}" type="presParOf" srcId="{BCCE9E30-B5DE-4E44-833F-8C9B7B7D5E85}" destId="{0DCBB221-81A9-46FA-83C6-27431D782154}" srcOrd="0" destOrd="0" presId="urn:microsoft.com/office/officeart/2005/8/layout/funnel1"/>
    <dgm:cxn modelId="{76AE3823-5E53-47B9-A002-AD18AAA83DDD}" type="presParOf" srcId="{BCCE9E30-B5DE-4E44-833F-8C9B7B7D5E85}" destId="{6066DE01-80E5-4228-92B3-AE91A429B572}" srcOrd="1" destOrd="0" presId="urn:microsoft.com/office/officeart/2005/8/layout/funnel1"/>
    <dgm:cxn modelId="{60399253-0B4E-4BF3-8C2F-30877D79C665}" type="presParOf" srcId="{BCCE9E30-B5DE-4E44-833F-8C9B7B7D5E85}" destId="{51B7034C-0398-4B34-BCC0-B54FA9A4F0CD}" srcOrd="2" destOrd="0" presId="urn:microsoft.com/office/officeart/2005/8/layout/funnel1"/>
    <dgm:cxn modelId="{1457A257-95EB-4A4B-97ED-43C4510D5BC9}" type="presParOf" srcId="{BCCE9E30-B5DE-4E44-833F-8C9B7B7D5E85}" destId="{FC2951F4-9D90-4F14-9C47-40645F01263E}" srcOrd="3" destOrd="0" presId="urn:microsoft.com/office/officeart/2005/8/layout/funnel1"/>
    <dgm:cxn modelId="{FCECE256-0ABE-4BF3-80C9-15D8BF1E85ED}" type="presParOf" srcId="{BCCE9E30-B5DE-4E44-833F-8C9B7B7D5E85}" destId="{209790E6-1702-40D8-ADBE-47E5CAB5C22C}" srcOrd="4" destOrd="0" presId="urn:microsoft.com/office/officeart/2005/8/layout/funnel1"/>
    <dgm:cxn modelId="{3F729E37-D4D7-4715-99F1-F42EB1711AA8}" type="presParOf" srcId="{BCCE9E30-B5DE-4E44-833F-8C9B7B7D5E85}" destId="{D984A412-3B46-483F-B0E2-8B23640022C9}" srcOrd="5" destOrd="0" presId="urn:microsoft.com/office/officeart/2005/8/layout/funnel1"/>
    <dgm:cxn modelId="{138FB8D0-B668-421D-BBFD-67DB4BF15A5B}" type="presParOf" srcId="{BCCE9E30-B5DE-4E44-833F-8C9B7B7D5E85}" destId="{14BE3A99-2580-4C70-ACEA-FA0998A78CF0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82BF03-A718-47A7-B9C3-5A95236A84B0}">
      <dsp:nvSpPr>
        <dsp:cNvPr id="0" name=""/>
        <dsp:cNvSpPr/>
      </dsp:nvSpPr>
      <dsp:spPr>
        <a:xfrm>
          <a:off x="0" y="1525042"/>
          <a:ext cx="5031054" cy="12402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lvl="0" algn="l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300" kern="1200" dirty="0" smtClean="0"/>
            <a:t>Functionality</a:t>
          </a:r>
          <a:endParaRPr lang="en-IN" sz="5300" kern="1200" dirty="0"/>
        </a:p>
      </dsp:txBody>
      <dsp:txXfrm>
        <a:off x="60542" y="1585584"/>
        <a:ext cx="4909970" cy="1119116"/>
      </dsp:txXfrm>
    </dsp:sp>
    <dsp:sp modelId="{909B1F59-FE85-4312-9B87-73C6719845C6}">
      <dsp:nvSpPr>
        <dsp:cNvPr id="0" name=""/>
        <dsp:cNvSpPr/>
      </dsp:nvSpPr>
      <dsp:spPr>
        <a:xfrm>
          <a:off x="0" y="2917883"/>
          <a:ext cx="5031054" cy="1240200"/>
        </a:xfrm>
        <a:prstGeom prst="roundRect">
          <a:avLst/>
        </a:prstGeom>
        <a:solidFill>
          <a:schemeClr val="accent2">
            <a:hueOff val="-14400000"/>
            <a:satOff val="-50003"/>
            <a:lumOff val="60001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lvl="0" algn="l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300" kern="1200" dirty="0" smtClean="0">
              <a:solidFill>
                <a:schemeClr val="tx1"/>
              </a:solidFill>
            </a:rPr>
            <a:t>Interoperability</a:t>
          </a:r>
          <a:endParaRPr lang="en-IN" sz="5300" kern="1200" dirty="0">
            <a:solidFill>
              <a:schemeClr val="tx1"/>
            </a:solidFill>
          </a:endParaRPr>
        </a:p>
      </dsp:txBody>
      <dsp:txXfrm>
        <a:off x="60542" y="2978425"/>
        <a:ext cx="4909970" cy="11191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50A875-0F3B-4AF3-B351-86047FAA0361}">
      <dsp:nvSpPr>
        <dsp:cNvPr id="0" name=""/>
        <dsp:cNvSpPr/>
      </dsp:nvSpPr>
      <dsp:spPr>
        <a:xfrm>
          <a:off x="2419518" y="80141"/>
          <a:ext cx="2031564" cy="121893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kern="1200" dirty="0" smtClean="0"/>
            <a:t>STORE</a:t>
          </a:r>
          <a:endParaRPr lang="en-IN" sz="1700" b="1" kern="1200" dirty="0"/>
        </a:p>
      </dsp:txBody>
      <dsp:txXfrm>
        <a:off x="2419518" y="80141"/>
        <a:ext cx="2031564" cy="1218938"/>
      </dsp:txXfrm>
    </dsp:sp>
    <dsp:sp modelId="{89EA9439-71B2-4C37-A303-08B7146D6A23}">
      <dsp:nvSpPr>
        <dsp:cNvPr id="0" name=""/>
        <dsp:cNvSpPr/>
      </dsp:nvSpPr>
      <dsp:spPr>
        <a:xfrm>
          <a:off x="2419518" y="1422534"/>
          <a:ext cx="2031564" cy="1218938"/>
        </a:xfrm>
        <a:prstGeom prst="rect">
          <a:avLst/>
        </a:prstGeom>
        <a:solidFill>
          <a:srgbClr val="FFC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kern="1200" dirty="0" smtClean="0"/>
            <a:t>QUERY/RETRIEVE</a:t>
          </a:r>
          <a:endParaRPr lang="en-IN" sz="1700" b="1" kern="1200" dirty="0"/>
        </a:p>
      </dsp:txBody>
      <dsp:txXfrm>
        <a:off x="2419518" y="1422534"/>
        <a:ext cx="2031564" cy="1218938"/>
      </dsp:txXfrm>
    </dsp:sp>
    <dsp:sp modelId="{626D3649-CE35-489F-852B-FAE58B24F2A2}">
      <dsp:nvSpPr>
        <dsp:cNvPr id="0" name=""/>
        <dsp:cNvSpPr/>
      </dsp:nvSpPr>
      <dsp:spPr>
        <a:xfrm>
          <a:off x="192029" y="80137"/>
          <a:ext cx="2031564" cy="1218938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kern="1200" dirty="0" smtClean="0"/>
            <a:t>VERIFICATION</a:t>
          </a:r>
          <a:endParaRPr lang="en-IN" sz="1700" b="1" kern="1200" dirty="0"/>
        </a:p>
      </dsp:txBody>
      <dsp:txXfrm>
        <a:off x="192029" y="80137"/>
        <a:ext cx="2031564" cy="1218938"/>
      </dsp:txXfrm>
    </dsp:sp>
    <dsp:sp modelId="{CE8E09BB-3E4F-46D8-AEB6-356404E92EB1}">
      <dsp:nvSpPr>
        <dsp:cNvPr id="0" name=""/>
        <dsp:cNvSpPr/>
      </dsp:nvSpPr>
      <dsp:spPr>
        <a:xfrm>
          <a:off x="2422220" y="2730086"/>
          <a:ext cx="2031564" cy="1218938"/>
        </a:xfrm>
        <a:prstGeom prst="rect">
          <a:avLst/>
        </a:prstGeom>
        <a:solidFill>
          <a:srgbClr val="83E3A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kern="1200" dirty="0" smtClean="0"/>
            <a:t>PRINT</a:t>
          </a:r>
          <a:endParaRPr lang="en-IN" sz="1700" b="1" kern="1200" dirty="0"/>
        </a:p>
      </dsp:txBody>
      <dsp:txXfrm>
        <a:off x="2422220" y="2730086"/>
        <a:ext cx="2031564" cy="1218938"/>
      </dsp:txXfrm>
    </dsp:sp>
    <dsp:sp modelId="{0D166E16-2D9B-4955-982B-B6B725D83DC0}">
      <dsp:nvSpPr>
        <dsp:cNvPr id="0" name=""/>
        <dsp:cNvSpPr/>
      </dsp:nvSpPr>
      <dsp:spPr>
        <a:xfrm>
          <a:off x="192029" y="2730082"/>
          <a:ext cx="2031564" cy="1218938"/>
        </a:xfrm>
        <a:prstGeom prst="rect">
          <a:avLst/>
        </a:prstGeom>
        <a:solidFill>
          <a:srgbClr val="92D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kern="1200" dirty="0" smtClean="0"/>
            <a:t>MODALITY WORKLIST</a:t>
          </a:r>
          <a:endParaRPr lang="en-IN" sz="1700" b="1" kern="1200" dirty="0"/>
        </a:p>
      </dsp:txBody>
      <dsp:txXfrm>
        <a:off x="192029" y="2730082"/>
        <a:ext cx="2031564" cy="1218938"/>
      </dsp:txXfrm>
    </dsp:sp>
    <dsp:sp modelId="{315CFBF1-A16C-4E47-9FF8-C7B0A818452D}">
      <dsp:nvSpPr>
        <dsp:cNvPr id="0" name=""/>
        <dsp:cNvSpPr/>
      </dsp:nvSpPr>
      <dsp:spPr>
        <a:xfrm>
          <a:off x="192029" y="1422526"/>
          <a:ext cx="2031564" cy="1218938"/>
        </a:xfrm>
        <a:prstGeom prst="rect">
          <a:avLst/>
        </a:prstGeom>
        <a:solidFill>
          <a:srgbClr val="F2BF7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700" kern="1200" dirty="0"/>
        </a:p>
      </dsp:txBody>
      <dsp:txXfrm>
        <a:off x="192029" y="1422526"/>
        <a:ext cx="2031564" cy="121893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D2EA77-CC1D-4DB1-B94C-87134B94DBD9}">
      <dsp:nvSpPr>
        <dsp:cNvPr id="0" name=""/>
        <dsp:cNvSpPr/>
      </dsp:nvSpPr>
      <dsp:spPr>
        <a:xfrm>
          <a:off x="819" y="1030734"/>
          <a:ext cx="1549289" cy="1549289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/>
            <a:t>Workstation</a:t>
          </a:r>
          <a:endParaRPr lang="en-IN" sz="1400" b="1" kern="1200" dirty="0"/>
        </a:p>
      </dsp:txBody>
      <dsp:txXfrm>
        <a:off x="227707" y="1257622"/>
        <a:ext cx="1095513" cy="1095513"/>
      </dsp:txXfrm>
    </dsp:sp>
    <dsp:sp modelId="{7425F524-2106-4194-B982-122F3DC60292}">
      <dsp:nvSpPr>
        <dsp:cNvPr id="0" name=""/>
        <dsp:cNvSpPr/>
      </dsp:nvSpPr>
      <dsp:spPr>
        <a:xfrm>
          <a:off x="1429319" y="811784"/>
          <a:ext cx="965609" cy="52288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100" kern="1200" dirty="0"/>
        </a:p>
      </dsp:txBody>
      <dsp:txXfrm>
        <a:off x="1429319" y="916361"/>
        <a:ext cx="808744" cy="313731"/>
      </dsp:txXfrm>
    </dsp:sp>
    <dsp:sp modelId="{74C03F8C-37C1-4028-80F9-4382DD83DF1F}">
      <dsp:nvSpPr>
        <dsp:cNvPr id="0" name=""/>
        <dsp:cNvSpPr/>
      </dsp:nvSpPr>
      <dsp:spPr>
        <a:xfrm>
          <a:off x="2328795" y="1030734"/>
          <a:ext cx="1549289" cy="1549289"/>
        </a:xfrm>
        <a:prstGeom prst="ellipse">
          <a:avLst/>
        </a:prstGeom>
        <a:gradFill rotWithShape="0">
          <a:gsLst>
            <a:gs pos="0">
              <a:schemeClr val="accent2">
                <a:hueOff val="-14400000"/>
                <a:satOff val="-50003"/>
                <a:lumOff val="60001"/>
                <a:alphaOff val="0"/>
                <a:shade val="51000"/>
                <a:satMod val="130000"/>
              </a:schemeClr>
            </a:gs>
            <a:gs pos="80000">
              <a:schemeClr val="accent2">
                <a:hueOff val="-14400000"/>
                <a:satOff val="-50003"/>
                <a:lumOff val="60001"/>
                <a:alphaOff val="0"/>
                <a:shade val="93000"/>
                <a:satMod val="130000"/>
              </a:schemeClr>
            </a:gs>
            <a:gs pos="100000">
              <a:schemeClr val="accent2">
                <a:hueOff val="-14400000"/>
                <a:satOff val="-50003"/>
                <a:lumOff val="60001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>
              <a:solidFill>
                <a:schemeClr val="tx1"/>
              </a:solidFill>
            </a:rPr>
            <a:t>PACS</a:t>
          </a:r>
          <a:endParaRPr lang="en-IN" sz="1400" b="1" kern="1200" dirty="0">
            <a:solidFill>
              <a:schemeClr val="tx1"/>
            </a:solidFill>
          </a:endParaRPr>
        </a:p>
      </dsp:txBody>
      <dsp:txXfrm>
        <a:off x="2555683" y="1257622"/>
        <a:ext cx="1095513" cy="1095513"/>
      </dsp:txXfrm>
    </dsp:sp>
    <dsp:sp modelId="{AD0A4730-E7B1-48FD-B7DF-EF6B8E96D0DB}">
      <dsp:nvSpPr>
        <dsp:cNvPr id="0" name=""/>
        <dsp:cNvSpPr/>
      </dsp:nvSpPr>
      <dsp:spPr>
        <a:xfrm rot="10800000">
          <a:off x="1483976" y="2276089"/>
          <a:ext cx="965609" cy="522885"/>
        </a:xfrm>
        <a:prstGeom prst="rightArrow">
          <a:avLst>
            <a:gd name="adj1" fmla="val 60000"/>
            <a:gd name="adj2" fmla="val 50000"/>
          </a:avLst>
        </a:prstGeom>
        <a:solidFill>
          <a:schemeClr val="bg1">
            <a:lumMod val="6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100" kern="1200" dirty="0"/>
        </a:p>
      </dsp:txBody>
      <dsp:txXfrm rot="10800000">
        <a:off x="1640841" y="2380666"/>
        <a:ext cx="808744" cy="31373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9/2/quickstyle/3d8">
  <dgm:title val=""/>
  <dgm:desc val=""/>
  <dgm:catLst>
    <dgm:cat type="3D" pri="11800"/>
  </dgm:catLst>
  <dgm:scene3d>
    <a:camera prst="perspectiveHeroicExtremeRightFacing" zoom="82000">
      <a:rot lat="21300000" lon="20400000" rev="180000"/>
    </a:camera>
    <a:lightRig rig="morning" dir="t">
      <a:rot lat="0" lon="0" rev="20400000"/>
    </a:lightRig>
  </dgm:scene3d>
  <dgm:styleLbl name="node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0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60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635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152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90500" prstMaterial="matte">
      <a:bevelT w="120650" h="38100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4015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09079" y="0"/>
            <a:ext cx="2914015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48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8824"/>
            <a:ext cx="2914015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48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09079" y="9378824"/>
            <a:ext cx="2914015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B69E1801-D9BF-431B-80F0-F2DC37D0EB4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42752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4015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09079" y="0"/>
            <a:ext cx="2914015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95350" y="741363"/>
            <a:ext cx="4933950" cy="37020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2465" y="4690269"/>
            <a:ext cx="5379720" cy="4443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8824"/>
            <a:ext cx="2914015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09079" y="9378824"/>
            <a:ext cx="2914015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41FCB658-C90E-4D1D-A441-1C8EAD6131B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62791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CDDD73DF-6E29-46B5-83BC-E4905456A9A8}" type="slidenum">
              <a:rPr lang="en-US"/>
              <a:pPr/>
              <a:t>1</a:t>
            </a:fld>
            <a:endParaRPr lang="en-US" dirty="0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de-DE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1FCB658-C90E-4D1D-A441-1C8EAD6131B4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1FCB658-C90E-4D1D-A441-1C8EAD6131B4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1FCB658-C90E-4D1D-A441-1C8EAD6131B4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85080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/>
          <p:cNvSpPr>
            <a:spLocks noChangeArrowheads="1"/>
          </p:cNvSpPr>
          <p:nvPr userDrawn="1"/>
        </p:nvSpPr>
        <p:spPr bwMode="auto">
          <a:xfrm>
            <a:off x="0" y="3175"/>
            <a:ext cx="9144000" cy="1428750"/>
          </a:xfrm>
          <a:prstGeom prst="rect">
            <a:avLst/>
          </a:prstGeom>
          <a:gradFill rotWithShape="1">
            <a:gsLst>
              <a:gs pos="0">
                <a:srgbClr val="389A67"/>
              </a:gs>
              <a:gs pos="100000">
                <a:srgbClr val="B6E4CC"/>
              </a:gs>
            </a:gsLst>
            <a:lin ang="0" scaled="1"/>
          </a:gradFill>
          <a:ln w="9525">
            <a:solidFill>
              <a:srgbClr val="96969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5" name="Rectangle 13"/>
          <p:cNvSpPr>
            <a:spLocks noChangeArrowheads="1"/>
          </p:cNvSpPr>
          <p:nvPr userDrawn="1"/>
        </p:nvSpPr>
        <p:spPr bwMode="auto">
          <a:xfrm>
            <a:off x="0" y="1431925"/>
            <a:ext cx="9144000" cy="15240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pic>
        <p:nvPicPr>
          <p:cNvPr id="6" name="Picture 9" descr="DICOM LOGO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5000" y="317500"/>
            <a:ext cx="3048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 Box 11"/>
          <p:cNvSpPr txBox="1">
            <a:spLocks noChangeArrowheads="1"/>
          </p:cNvSpPr>
          <p:nvPr userDrawn="1"/>
        </p:nvSpPr>
        <p:spPr bwMode="auto">
          <a:xfrm>
            <a:off x="152400" y="49213"/>
            <a:ext cx="5181600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de-DE" sz="2200" b="1" dirty="0" smtClean="0">
                <a:solidFill>
                  <a:srgbClr val="FFFFFF"/>
                </a:solidFill>
                <a:latin typeface="arial"/>
              </a:rPr>
              <a:t>THE DICOM 2013 INTERNATIONAL</a:t>
            </a:r>
            <a:br>
              <a:rPr lang="de-DE" sz="2200" b="1" dirty="0" smtClean="0">
                <a:solidFill>
                  <a:srgbClr val="FFFFFF"/>
                </a:solidFill>
                <a:latin typeface="arial"/>
              </a:rPr>
            </a:br>
            <a:r>
              <a:rPr lang="de-DE" sz="2200" b="1" dirty="0" smtClean="0">
                <a:solidFill>
                  <a:srgbClr val="FFFFFF"/>
                </a:solidFill>
                <a:latin typeface="arial"/>
              </a:rPr>
              <a:t>CONFERENCE &amp; SEMINAR</a:t>
            </a:r>
            <a:br>
              <a:rPr lang="de-DE" sz="2200" b="1" dirty="0" smtClean="0">
                <a:solidFill>
                  <a:srgbClr val="FFFFFF"/>
                </a:solidFill>
                <a:latin typeface="arial"/>
              </a:rPr>
            </a:br>
            <a:r>
              <a:rPr lang="de-DE" sz="2000" b="0" dirty="0" smtClean="0">
                <a:solidFill>
                  <a:srgbClr val="FFFFFF"/>
                </a:solidFill>
                <a:latin typeface="arial"/>
              </a:rPr>
              <a:t>March 14-16		Bangalore, </a:t>
            </a:r>
            <a:r>
              <a:rPr lang="de-DE" sz="2000" b="0" dirty="0" err="1" smtClean="0">
                <a:solidFill>
                  <a:srgbClr val="FFFFFF"/>
                </a:solidFill>
                <a:latin typeface="arial"/>
              </a:rPr>
              <a:t>India</a:t>
            </a:r>
            <a:endParaRPr lang="de-DE" sz="20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14815" y="1791325"/>
            <a:ext cx="6375230" cy="1196975"/>
          </a:xfrm>
        </p:spPr>
        <p:txBody>
          <a:bodyPr/>
          <a:lstStyle>
            <a:lvl1pPr algn="ctr">
              <a:defRPr sz="4000" b="1">
                <a:solidFill>
                  <a:srgbClr val="008080"/>
                </a:solidFill>
              </a:defRPr>
            </a:lvl1pPr>
          </a:lstStyle>
          <a:p>
            <a:pPr lvl="0"/>
            <a:r>
              <a:rPr lang="en-US" noProof="0" dirty="0" smtClean="0"/>
              <a:t>Title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61930" y="3390595"/>
            <a:ext cx="7066520" cy="2841969"/>
          </a:xfrm>
        </p:spPr>
        <p:txBody>
          <a:bodyPr/>
          <a:lstStyle>
            <a:lvl1pPr marL="0" indent="0" algn="l">
              <a:buFontTx/>
              <a:buNone/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 smtClean="0"/>
              <a:t>Click to edit Master subtitle style</a:t>
            </a:r>
          </a:p>
        </p:txBody>
      </p:sp>
      <p:pic>
        <p:nvPicPr>
          <p:cNvPr id="38914" name="Picture 2" descr="bangalore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2235" y="1508750"/>
            <a:ext cx="1666875" cy="1762126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/>
            </a:lvl1pPr>
            <a:lvl2pPr marL="285750" indent="-285750">
              <a:buFont typeface="Arial" pitchFamily="34" charset="0"/>
              <a:buChar char="•"/>
              <a:defRPr b="1">
                <a:solidFill>
                  <a:srgbClr val="008080"/>
                </a:solidFill>
              </a:defRPr>
            </a:lvl2pPr>
            <a:lvl3pPr marL="457200" indent="-166688">
              <a:defRPr sz="2800"/>
            </a:lvl3pPr>
            <a:lvl4pPr marL="741363" indent="-228600">
              <a:defRPr sz="2200"/>
            </a:lvl4pPr>
            <a:lvl5pPr marL="969963" indent="-234950" defTabSz="1025525">
              <a:buFont typeface="Arial" pitchFamily="34" charset="0"/>
              <a:buChar char="–"/>
              <a:defRPr sz="22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March 2013 DICOM International Conference &amp; Seminar </a:t>
            </a:r>
            <a:endParaRPr lang="en-US" dirty="0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 dirty="0" smtClean="0"/>
              <a:t>Effective Strategy for verifying DICOM Conformance</a:t>
            </a:r>
            <a:endParaRPr lang="en-US" dirty="0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70696F-EECE-4C70-B5BC-2F2BE52D202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098362"/>
          </a:xfrm>
        </p:spPr>
        <p:txBody>
          <a:bodyPr anchor="b"/>
          <a:lstStyle>
            <a:lvl1pPr marL="0" indent="0" algn="ctr">
              <a:buNone/>
              <a:defRPr sz="32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March 2013 DICOM International Conference &amp; Seminar </a:t>
            </a:r>
            <a:endParaRPr lang="en-US" dirty="0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 dirty="0" smtClean="0"/>
              <a:t>Effective Strategy for verifying DICOM Conformance</a:t>
            </a:r>
            <a:endParaRPr lang="en-US" dirty="0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FA7FC1-DF09-41B3-9C9D-D01804B572C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30363"/>
            <a:ext cx="4038600" cy="4525962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2800" smtClean="0"/>
            </a:lvl1pPr>
            <a:lvl2pPr>
              <a:defRPr lang="en-US" sz="2400" b="1" smtClean="0">
                <a:solidFill>
                  <a:srgbClr val="008080"/>
                </a:solidFill>
              </a:defRPr>
            </a:lvl2pPr>
            <a:lvl3pPr>
              <a:defRPr lang="en-US" sz="2400" smtClean="0"/>
            </a:lvl3pPr>
            <a:lvl4pPr>
              <a:defRPr lang="en-US" sz="2000" smtClean="0"/>
            </a:lvl4pPr>
            <a:lvl5pPr>
              <a:defRPr lang="en-US" sz="2000"/>
            </a:lvl5pPr>
          </a:lstStyle>
          <a:p>
            <a:pPr marL="0" lvl="0" indent="0">
              <a:buNone/>
            </a:pPr>
            <a:r>
              <a:rPr lang="en-US" dirty="0" smtClean="0"/>
              <a:t>Click to edit Master text styles</a:t>
            </a:r>
          </a:p>
          <a:p>
            <a:pPr marL="285750" lvl="1">
              <a:buFont typeface="Arial" pitchFamily="34" charset="0"/>
              <a:buChar char="•"/>
            </a:pPr>
            <a:r>
              <a:rPr lang="en-US" dirty="0" smtClean="0"/>
              <a:t>Second level</a:t>
            </a:r>
          </a:p>
          <a:p>
            <a:pPr marL="457200" lvl="2" indent="-166688"/>
            <a:r>
              <a:rPr lang="en-US" dirty="0" smtClean="0"/>
              <a:t>Third level</a:t>
            </a:r>
          </a:p>
          <a:p>
            <a:pPr marL="741363" lvl="3"/>
            <a:r>
              <a:rPr lang="en-US" dirty="0" smtClean="0"/>
              <a:t>Fourth level</a:t>
            </a:r>
          </a:p>
          <a:p>
            <a:pPr marL="969963" lvl="4" indent="-234950" defTabSz="1025525">
              <a:buFont typeface="Arial" pitchFamily="34" charset="0"/>
              <a:buChar char="–"/>
            </a:pPr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30363"/>
            <a:ext cx="4038600" cy="4525962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2800" smtClean="0"/>
            </a:lvl1pPr>
            <a:lvl2pPr>
              <a:defRPr lang="en-US" sz="2400" b="1" smtClean="0">
                <a:solidFill>
                  <a:srgbClr val="008080"/>
                </a:solidFill>
              </a:defRPr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  <a:p>
            <a:pPr marL="285750" lvl="1">
              <a:buFont typeface="Arial" pitchFamily="34" charset="0"/>
              <a:buChar char="•"/>
            </a:pPr>
            <a:r>
              <a:rPr lang="en-US" smtClean="0"/>
              <a:t>Second level</a:t>
            </a:r>
          </a:p>
          <a:p>
            <a:pPr marL="457200" lvl="2" indent="-166688"/>
            <a:r>
              <a:rPr lang="en-US" smtClean="0"/>
              <a:t>Third level</a:t>
            </a:r>
          </a:p>
          <a:p>
            <a:pPr marL="741363" lvl="3"/>
            <a:r>
              <a:rPr lang="en-US" smtClean="0"/>
              <a:t>Fourth level</a:t>
            </a:r>
          </a:p>
          <a:p>
            <a:pPr marL="969963" lvl="4" indent="-234950" defTabSz="1025525">
              <a:buFont typeface="Arial" pitchFamily="34" charset="0"/>
              <a:buChar char="–"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March 2013 DICOM International Conference &amp; Seminar </a:t>
            </a:r>
            <a:endParaRPr lang="en-US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 dirty="0" smtClean="0"/>
              <a:t>Effective Strategy for verifying DICOM Conformance</a:t>
            </a:r>
            <a:endParaRPr lang="en-US" dirty="0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7D4905-E78C-4D1D-8AE7-E9E8FE9A1C8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450" y="126169"/>
            <a:ext cx="6067990" cy="101952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2400" smtClean="0"/>
            </a:lvl1pPr>
            <a:lvl2pPr>
              <a:defRPr lang="en-US" sz="2000" b="1" smtClean="0">
                <a:solidFill>
                  <a:srgbClr val="008080"/>
                </a:solidFill>
              </a:defRPr>
            </a:lvl2pPr>
            <a:lvl3pPr>
              <a:defRPr lang="en-US" sz="2000" smtClean="0"/>
            </a:lvl3pPr>
            <a:lvl4pPr>
              <a:defRPr lang="en-US" sz="1800" smtClean="0"/>
            </a:lvl4pPr>
            <a:lvl5pPr>
              <a:defRPr lang="en-US" sz="1800"/>
            </a:lvl5pPr>
          </a:lstStyle>
          <a:p>
            <a:pPr marL="0" lvl="0" indent="0">
              <a:buNone/>
            </a:pPr>
            <a:r>
              <a:rPr lang="en-US" dirty="0" smtClean="0"/>
              <a:t>Click to edit Master text styles</a:t>
            </a:r>
          </a:p>
          <a:p>
            <a:pPr marL="285750" lvl="1">
              <a:buFont typeface="Arial" pitchFamily="34" charset="0"/>
              <a:buChar char="•"/>
            </a:pPr>
            <a:r>
              <a:rPr lang="en-US" dirty="0" smtClean="0"/>
              <a:t>Second level</a:t>
            </a:r>
          </a:p>
          <a:p>
            <a:pPr marL="457200" lvl="2" indent="-166688"/>
            <a:r>
              <a:rPr lang="en-US" dirty="0" smtClean="0"/>
              <a:t>Third level</a:t>
            </a:r>
          </a:p>
          <a:p>
            <a:pPr marL="741363" lvl="3"/>
            <a:r>
              <a:rPr lang="en-US" dirty="0" smtClean="0"/>
              <a:t>Fourth level</a:t>
            </a:r>
          </a:p>
          <a:p>
            <a:pPr marL="969963" lvl="4" indent="-234950" defTabSz="1025525">
              <a:buFont typeface="Arial" pitchFamily="34" charset="0"/>
              <a:buChar char="–"/>
            </a:pPr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2400" smtClean="0"/>
            </a:lvl1pPr>
            <a:lvl2pPr>
              <a:defRPr lang="en-US" sz="2000" b="1" smtClean="0">
                <a:solidFill>
                  <a:srgbClr val="008080"/>
                </a:solidFill>
              </a:defRPr>
            </a:lvl2pPr>
            <a:lvl3pPr>
              <a:defRPr lang="en-US" sz="2000" smtClean="0"/>
            </a:lvl3pPr>
            <a:lvl4pPr>
              <a:defRPr lang="en-US" sz="1800" smtClean="0"/>
            </a:lvl4pPr>
            <a:lvl5pPr>
              <a:defRPr lang="en-US" sz="1800"/>
            </a:lvl5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  <a:p>
            <a:pPr marL="285750" lvl="1">
              <a:buFont typeface="Arial" pitchFamily="34" charset="0"/>
              <a:buChar char="•"/>
            </a:pPr>
            <a:r>
              <a:rPr lang="en-US" smtClean="0"/>
              <a:t>Second level</a:t>
            </a:r>
          </a:p>
          <a:p>
            <a:pPr marL="457200" lvl="2" indent="-166688"/>
            <a:r>
              <a:rPr lang="en-US" smtClean="0"/>
              <a:t>Third level</a:t>
            </a:r>
          </a:p>
          <a:p>
            <a:pPr marL="741363" lvl="3"/>
            <a:r>
              <a:rPr lang="en-US" smtClean="0"/>
              <a:t>Fourth level</a:t>
            </a:r>
          </a:p>
          <a:p>
            <a:pPr marL="969963" lvl="4" indent="-234950" defTabSz="1025525">
              <a:buFont typeface="Arial" pitchFamily="34" charset="0"/>
              <a:buChar char="–"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March 2013 DICOM International Conference &amp; Seminar </a:t>
            </a:r>
            <a:endParaRPr lang="en-US" dirty="0"/>
          </a:p>
        </p:txBody>
      </p:sp>
      <p:sp>
        <p:nvSpPr>
          <p:cNvPr id="8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 dirty="0" smtClean="0"/>
              <a:t>Effective Strategy for verifying DICOM Conformance</a:t>
            </a:r>
            <a:endParaRPr lang="en-US" dirty="0"/>
          </a:p>
        </p:txBody>
      </p:sp>
      <p:sp>
        <p:nvSpPr>
          <p:cNvPr id="9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F1B232-492A-44B4-AA67-40BAC5F69A0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March 2013 DICOM International Conference &amp; Seminar </a:t>
            </a:r>
            <a:endParaRPr lang="en-US" dirty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 dirty="0" smtClean="0"/>
              <a:t>Effective Strategy for verifying DICOM Conformance</a:t>
            </a:r>
            <a:endParaRPr lang="en-US" dirty="0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AEFD43-1B13-4072-BB52-17C0449C894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wmf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1201738"/>
            <a:ext cx="9144000" cy="15240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1027" name="Rectangle 8"/>
          <p:cNvSpPr>
            <a:spLocks noChangeArrowheads="1"/>
          </p:cNvSpPr>
          <p:nvPr/>
        </p:nvSpPr>
        <p:spPr bwMode="auto">
          <a:xfrm>
            <a:off x="0" y="-17463"/>
            <a:ext cx="9144000" cy="1219201"/>
          </a:xfrm>
          <a:prstGeom prst="rect">
            <a:avLst/>
          </a:prstGeom>
          <a:gradFill rotWithShape="1">
            <a:gsLst>
              <a:gs pos="0">
                <a:srgbClr val="389A67"/>
              </a:gs>
              <a:gs pos="100000">
                <a:srgbClr val="B6E4CC"/>
              </a:gs>
            </a:gsLst>
            <a:lin ang="0" scaled="1"/>
          </a:gradFill>
          <a:ln w="9525">
            <a:solidFill>
              <a:srgbClr val="96969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5575" y="125413"/>
            <a:ext cx="6169025" cy="97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30363"/>
            <a:ext cx="8229600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lvl="0" indent="0">
              <a:buNone/>
            </a:pPr>
            <a:r>
              <a:rPr lang="en-US" dirty="0" smtClean="0"/>
              <a:t>Click to edit Master text styles</a:t>
            </a:r>
          </a:p>
          <a:p>
            <a:pPr marL="285750" lvl="1">
              <a:buFont typeface="Arial" pitchFamily="34" charset="0"/>
              <a:buChar char="•"/>
            </a:pPr>
            <a:r>
              <a:rPr lang="en-US" dirty="0" smtClean="0"/>
              <a:t>Second level</a:t>
            </a:r>
          </a:p>
          <a:p>
            <a:pPr marL="457200" lvl="2" indent="-166688"/>
            <a:r>
              <a:rPr lang="en-US" dirty="0" smtClean="0"/>
              <a:t>Third level</a:t>
            </a:r>
          </a:p>
          <a:p>
            <a:pPr marL="741363" lvl="3"/>
            <a:r>
              <a:rPr lang="en-US" dirty="0" smtClean="0"/>
              <a:t>Fourth level</a:t>
            </a:r>
          </a:p>
          <a:p>
            <a:pPr marL="969963" lvl="4" indent="-234950" defTabSz="1025525">
              <a:buFont typeface="Arial" pitchFamily="34" charset="0"/>
              <a:buChar char="–"/>
            </a:pPr>
            <a:r>
              <a:rPr lang="en-US" dirty="0" smtClean="0"/>
              <a:t>Fifth level</a:t>
            </a:r>
          </a:p>
        </p:txBody>
      </p:sp>
      <p:pic>
        <p:nvPicPr>
          <p:cNvPr id="1030" name="Picture 9" descr="DICOM LOGO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477000" y="317500"/>
            <a:ext cx="2286000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4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5250" y="6539805"/>
            <a:ext cx="3401410" cy="307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/>
            </a:lvl1pPr>
          </a:lstStyle>
          <a:p>
            <a:pPr>
              <a:defRPr/>
            </a:pPr>
            <a:r>
              <a:rPr lang="en-US" dirty="0" smtClean="0"/>
              <a:t>March 2013 DICOM International Conference &amp; Seminar </a:t>
            </a:r>
            <a:endParaRPr lang="en-US" dirty="0"/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0280" y="6539805"/>
            <a:ext cx="4584700" cy="307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smtClean="0"/>
            </a:lvl1pPr>
          </a:lstStyle>
          <a:p>
            <a:pPr>
              <a:defRPr/>
            </a:pPr>
            <a:r>
              <a:rPr lang="en-IN" dirty="0" smtClean="0"/>
              <a:t>Effective Strategy for verifying DICOM Conformance</a:t>
            </a:r>
            <a:endParaRPr lang="en-US" dirty="0"/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66120" y="6539805"/>
            <a:ext cx="536316" cy="307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smtClean="0"/>
            </a:lvl1pPr>
          </a:lstStyle>
          <a:p>
            <a:pPr>
              <a:defRPr/>
            </a:pPr>
            <a:fld id="{74390077-D56E-4159-82B3-BE7C08A3817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61" r:id="rId2"/>
    <p:sldLayoutId id="2147483662" r:id="rId3"/>
    <p:sldLayoutId id="2147483663" r:id="rId4"/>
    <p:sldLayoutId id="2147483664" r:id="rId5"/>
    <p:sldLayoutId id="2147483665" r:id="rId6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lang="en-US" sz="3200" b="1" dirty="0" smtClean="0">
          <a:solidFill>
            <a:srgbClr val="00808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lang="en-US" sz="2800" b="1" dirty="0" smtClean="0">
          <a:solidFill>
            <a:srgbClr val="008080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lang="en-US" sz="2800" dirty="0" smtClean="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lang="en-US" sz="2200" dirty="0" smtClean="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lang="en-US" sz="2200" dirty="0" smtClean="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diagramLayout" Target="../diagrams/layout1.xml"/><Relationship Id="rId7" Type="http://schemas.openxmlformats.org/officeDocument/2006/relationships/image" Target="../media/image6.jp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10.jpeg"/><Relationship Id="rId7" Type="http://schemas.openxmlformats.org/officeDocument/2006/relationships/image" Target="../media/image14.jpeg"/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8.jp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hyperlink" Target="http://en.wikipedia.org/wiki/Conceptual_interoperability" TargetMode="External"/><Relationship Id="rId4" Type="http://schemas.openxmlformats.org/officeDocument/2006/relationships/image" Target="../media/image2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mailto:Chitrai.selvam@philips.com" TargetMode="External"/><Relationship Id="rId2" Type="http://schemas.openxmlformats.org/officeDocument/2006/relationships/hyperlink" Target="mailto:Venkateswara.goud@philips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Kishan.Harwalkar@philips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14815" y="1278320"/>
            <a:ext cx="7529185" cy="1196975"/>
          </a:xfrm>
        </p:spPr>
        <p:txBody>
          <a:bodyPr/>
          <a:lstStyle/>
          <a:p>
            <a:r>
              <a:rPr lang="en-US" dirty="0"/>
              <a:t/>
            </a:r>
            <a:br>
              <a:rPr lang="en-US" dirty="0"/>
            </a:br>
            <a:r>
              <a:rPr lang="en-IN" dirty="0"/>
              <a:t/>
            </a:r>
            <a:br>
              <a:rPr lang="en-IN" dirty="0"/>
            </a:br>
            <a:r>
              <a:rPr lang="en-IN" dirty="0"/>
              <a:t>Effective Strategy for verifying DICOM Conformance</a:t>
            </a:r>
            <a:endParaRPr lang="en-US" sz="1200" b="0" dirty="0" smtClean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846715" y="2776115"/>
            <a:ext cx="8141861" cy="2841969"/>
          </a:xfrm>
        </p:spPr>
        <p:txBody>
          <a:bodyPr/>
          <a:lstStyle/>
          <a:p>
            <a:pPr marL="20638" lvl="0" indent="-20638" eaLnBrk="1" hangingPunct="1">
              <a:tabLst>
                <a:tab pos="2954338" algn="l"/>
              </a:tabLst>
            </a:pPr>
            <a:endParaRPr lang="en-US" dirty="0">
              <a:solidFill>
                <a:srgbClr val="000000"/>
              </a:solidFill>
            </a:endParaRPr>
          </a:p>
          <a:p>
            <a:pPr marL="20638" lvl="0" indent="-20638" eaLnBrk="1" hangingPunct="1">
              <a:tabLst>
                <a:tab pos="2954338" algn="l"/>
              </a:tabLst>
            </a:pPr>
            <a:r>
              <a:rPr lang="en-US" dirty="0" smtClean="0">
                <a:solidFill>
                  <a:srgbClr val="000000"/>
                </a:solidFill>
              </a:rPr>
              <a:t>Venkateswara Goud</a:t>
            </a:r>
            <a:endParaRPr lang="en-US" dirty="0">
              <a:solidFill>
                <a:srgbClr val="000000"/>
              </a:solidFill>
            </a:endParaRPr>
          </a:p>
          <a:p>
            <a:pPr marL="20638" lvl="0" indent="-20638" eaLnBrk="1" hangingPunct="1">
              <a:tabLst>
                <a:tab pos="2954338" algn="l"/>
              </a:tabLst>
            </a:pPr>
            <a:r>
              <a:rPr lang="en-US" sz="2400" dirty="0" smtClean="0">
                <a:solidFill>
                  <a:srgbClr val="000000"/>
                </a:solidFill>
              </a:rPr>
              <a:t>Philips Healthcare - ICAP</a:t>
            </a:r>
            <a:endParaRPr lang="en-US" sz="2400" dirty="0">
              <a:solidFill>
                <a:srgbClr val="000000"/>
              </a:solidFill>
            </a:endParaRPr>
          </a:p>
          <a:p>
            <a:pPr marL="20638" lvl="0" indent="-20638" eaLnBrk="1" hangingPunct="1">
              <a:tabLst>
                <a:tab pos="2954338" algn="l"/>
              </a:tabLst>
            </a:pPr>
            <a:r>
              <a:rPr lang="en-US" sz="1800" dirty="0" smtClean="0">
                <a:solidFill>
                  <a:srgbClr val="000000"/>
                </a:solidFill>
              </a:rPr>
              <a:t>Sr.Technical Specialist - Testing</a:t>
            </a:r>
            <a:br>
              <a:rPr lang="en-US" sz="1800" dirty="0" smtClean="0">
                <a:solidFill>
                  <a:srgbClr val="000000"/>
                </a:solidFill>
              </a:rPr>
            </a:br>
            <a:r>
              <a:rPr lang="en-US" sz="1800" dirty="0" smtClean="0">
                <a:solidFill>
                  <a:srgbClr val="000000"/>
                </a:solidFill>
              </a:rPr>
              <a:t>Bangalore, India</a:t>
            </a:r>
          </a:p>
          <a:p>
            <a:pPr marL="20638" lvl="0" indent="-20638" eaLnBrk="1" hangingPunct="1">
              <a:tabLst>
                <a:tab pos="2954338" algn="l"/>
              </a:tabLst>
            </a:pPr>
            <a:r>
              <a:rPr lang="en-US" sz="2000" b="1" dirty="0" smtClean="0">
                <a:solidFill>
                  <a:srgbClr val="000000"/>
                </a:solidFill>
              </a:rPr>
              <a:t>Co-Authors:</a:t>
            </a:r>
          </a:p>
          <a:p>
            <a:pPr marL="20638" lvl="0" indent="-20638" eaLnBrk="1" hangingPunct="1">
              <a:tabLst>
                <a:tab pos="2954338" algn="l"/>
              </a:tabLst>
            </a:pPr>
            <a:r>
              <a:rPr lang="en-US" sz="2000" b="1" dirty="0">
                <a:solidFill>
                  <a:srgbClr val="000000"/>
                </a:solidFill>
              </a:rPr>
              <a:t>	 </a:t>
            </a:r>
            <a:r>
              <a:rPr lang="en-US" sz="2000" b="1" dirty="0" smtClean="0">
                <a:solidFill>
                  <a:srgbClr val="000000"/>
                </a:solidFill>
              </a:rPr>
              <a:t>                  </a:t>
            </a:r>
            <a:r>
              <a:rPr lang="en-US" sz="2000" dirty="0" smtClean="0">
                <a:solidFill>
                  <a:srgbClr val="000000"/>
                </a:solidFill>
              </a:rPr>
              <a:t>Chitrai Senthamil Selvam – Technical Specialist-Testing</a:t>
            </a:r>
            <a:endParaRPr lang="en-US" sz="2400" dirty="0" smtClean="0">
              <a:solidFill>
                <a:srgbClr val="000000"/>
              </a:solidFill>
            </a:endParaRPr>
          </a:p>
          <a:p>
            <a:pPr marL="20638" lvl="0" indent="-20638" eaLnBrk="1" hangingPunct="1">
              <a:tabLst>
                <a:tab pos="2954338" algn="l"/>
              </a:tabLst>
            </a:pPr>
            <a:r>
              <a:rPr lang="en-US" sz="2000" dirty="0" smtClean="0">
                <a:solidFill>
                  <a:srgbClr val="000000"/>
                </a:solidFill>
              </a:rPr>
              <a:t>                    Kishan Harwalkar – Sr.Domain Specialist -Interoperability</a:t>
            </a:r>
            <a:endParaRPr lang="en-US" sz="1400" dirty="0" smtClean="0">
              <a:solidFill>
                <a:srgbClr val="000000"/>
              </a:solidFill>
            </a:endParaRPr>
          </a:p>
          <a:p>
            <a:pPr marL="20638" lvl="0" indent="-20638" eaLnBrk="1" hangingPunct="1">
              <a:tabLst>
                <a:tab pos="2954338" algn="l"/>
              </a:tabLst>
            </a:pPr>
            <a:endParaRPr lang="en-US" sz="1600" dirty="0">
              <a:solidFill>
                <a:srgbClr val="000000"/>
              </a:solidFill>
            </a:endParaRP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9490" y="5999552"/>
            <a:ext cx="1881845" cy="3376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125413"/>
            <a:ext cx="6298270" cy="977900"/>
          </a:xfrm>
        </p:spPr>
        <p:txBody>
          <a:bodyPr/>
          <a:lstStyle/>
          <a:p>
            <a:r>
              <a:rPr lang="en-IN" sz="2800" dirty="0"/>
              <a:t>Effective </a:t>
            </a:r>
            <a:r>
              <a:rPr lang="en-IN" sz="2800" dirty="0" smtClean="0"/>
              <a:t>DICOM Verification Strategy</a:t>
            </a:r>
            <a:endParaRPr lang="en-US" sz="1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accent1"/>
            </a:solidFill>
          </a:ln>
        </p:spPr>
        <p:txBody>
          <a:bodyPr/>
          <a:lstStyle/>
          <a:p>
            <a:pPr marL="457200" indent="-457200" eaLnBrk="1" hangingPunct="1">
              <a:buFontTx/>
              <a:buChar char="-"/>
            </a:pPr>
            <a:r>
              <a:rPr lang="en-US" sz="2800" dirty="0" smtClean="0"/>
              <a:t>Introduction </a:t>
            </a:r>
          </a:p>
          <a:p>
            <a:pPr eaLnBrk="1" hangingPunct="1"/>
            <a:endParaRPr lang="en-US" sz="2800" dirty="0" smtClean="0"/>
          </a:p>
          <a:p>
            <a:pPr marL="457200" indent="-457200" eaLnBrk="1" hangingPunct="1">
              <a:buFontTx/>
              <a:buChar char="-"/>
            </a:pPr>
            <a:r>
              <a:rPr lang="en-US" sz="2800" dirty="0" smtClean="0"/>
              <a:t>Challenges</a:t>
            </a:r>
          </a:p>
          <a:p>
            <a:pPr eaLnBrk="1" hangingPunct="1"/>
            <a:endParaRPr lang="en-US" sz="2800" dirty="0" smtClean="0"/>
          </a:p>
          <a:p>
            <a:pPr marL="457200" indent="-457200" eaLnBrk="1" hangingPunct="1">
              <a:buFontTx/>
              <a:buChar char="-"/>
            </a:pPr>
            <a:r>
              <a:rPr lang="en-US" sz="2800" dirty="0" smtClean="0"/>
              <a:t>Verification Strategy</a:t>
            </a:r>
          </a:p>
          <a:p>
            <a:pPr marL="457200" indent="-457200" eaLnBrk="1" hangingPunct="1">
              <a:buFontTx/>
              <a:buChar char="-"/>
            </a:pPr>
            <a:endParaRPr lang="en-US" sz="2800" dirty="0"/>
          </a:p>
          <a:p>
            <a:pPr marL="457200" indent="-457200" eaLnBrk="1" hangingPunct="1">
              <a:buFontTx/>
              <a:buChar char="-"/>
            </a:pPr>
            <a:r>
              <a:rPr lang="en-US" sz="2800" dirty="0" smtClean="0"/>
              <a:t>Summary</a:t>
            </a:r>
          </a:p>
          <a:p>
            <a:pPr eaLnBrk="1" hangingPunct="1"/>
            <a:endParaRPr lang="en-US" sz="2800" dirty="0" smtClean="0"/>
          </a:p>
          <a:p>
            <a:pPr marL="457200" indent="-457200" eaLnBrk="1" hangingPunct="1">
              <a:buFontTx/>
              <a:buChar char="-"/>
            </a:pPr>
            <a:r>
              <a:rPr lang="en-US" sz="2800" dirty="0" smtClean="0"/>
              <a:t>Conclusion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5250" y="6501400"/>
            <a:ext cx="3401410" cy="3175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March 2013 DICOM International Conference &amp; Seminar 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65495" y="6462995"/>
            <a:ext cx="4416575" cy="317500"/>
          </a:xfrm>
        </p:spPr>
        <p:txBody>
          <a:bodyPr/>
          <a:lstStyle/>
          <a:p>
            <a:pPr>
              <a:defRPr/>
            </a:pPr>
            <a:r>
              <a:rPr lang="en-IN" dirty="0" smtClean="0"/>
              <a:t>Effective Strategy for verifying DICOM Conformance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98020" y="6462995"/>
            <a:ext cx="1250730" cy="317500"/>
          </a:xfrm>
        </p:spPr>
        <p:txBody>
          <a:bodyPr/>
          <a:lstStyle/>
          <a:p>
            <a:pPr>
              <a:defRPr/>
            </a:pPr>
            <a:fld id="{DDB8D09D-59CE-42DB-95EF-00F3C5577E82}" type="slidenum">
              <a:rPr lang="en-US" smtClean="0"/>
              <a:pPr>
                <a:defRPr/>
              </a:pPr>
              <a:t>2</a:t>
            </a:fld>
            <a:endParaRPr lang="en-US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2250" y="1815990"/>
            <a:ext cx="1689820" cy="16898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</a:rPr>
              <a:t>Introduction</a:t>
            </a:r>
            <a:endParaRPr lang="en-IN" sz="3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March 2013 DICOM International Conference &amp; Seminar 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Effective Strategy for verifying DICOM Conformance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5D2FB-B4B0-444A-AE25-4D3A786E36C1}" type="slidenum">
              <a:rPr lang="en-US" smtClean="0"/>
              <a:pPr/>
              <a:t>3</a:t>
            </a:fld>
            <a:endParaRPr lang="en-US" dirty="0" smtClean="0"/>
          </a:p>
          <a:p>
            <a:endParaRPr lang="en-US" dirty="0"/>
          </a:p>
        </p:txBody>
      </p:sp>
      <p:pic>
        <p:nvPicPr>
          <p:cNvPr id="1026" name="Picture 4" descr="image0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310" y="1777584"/>
            <a:ext cx="6989710" cy="476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192360" y="1393535"/>
            <a:ext cx="5952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Interoperability Levels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266004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March 2013 DICOM International Conference &amp; Seminar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 dirty="0" smtClean="0"/>
              <a:t>Effective Strategy for verifying DICOM Conformance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FA7FC1-DF09-41B3-9C9D-D01804B572C4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78614" y="125413"/>
            <a:ext cx="6336826" cy="977900"/>
          </a:xfrm>
        </p:spPr>
        <p:txBody>
          <a:bodyPr/>
          <a:lstStyle/>
          <a:p>
            <a:r>
              <a:rPr lang="en-US" sz="3200" dirty="0" smtClean="0"/>
              <a:t>Challenges </a:t>
            </a:r>
            <a:endParaRPr lang="en-US" sz="3200" dirty="0"/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3461456586"/>
              </p:ext>
            </p:extLst>
          </p:nvPr>
        </p:nvGraphicFramePr>
        <p:xfrm>
          <a:off x="2114080" y="442123"/>
          <a:ext cx="5031055" cy="56831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2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898" y="3236717"/>
            <a:ext cx="1247775" cy="1133475"/>
          </a:xfrm>
          <a:prstGeom prst="rect">
            <a:avLst/>
          </a:prstGeom>
        </p:spPr>
      </p:pic>
      <p:sp>
        <p:nvSpPr>
          <p:cNvPr id="8" name="Explosion 2 7"/>
          <p:cNvSpPr/>
          <p:nvPr/>
        </p:nvSpPr>
        <p:spPr>
          <a:xfrm>
            <a:off x="2997395" y="3107232"/>
            <a:ext cx="2847819" cy="1392444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3323479" y="3372567"/>
            <a:ext cx="222749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   </a:t>
            </a:r>
            <a:r>
              <a:rPr lang="en-US" sz="1600" b="1" dirty="0" smtClean="0"/>
              <a:t>What is effective          </a:t>
            </a:r>
          </a:p>
          <a:p>
            <a:r>
              <a:rPr lang="en-US" sz="1600" b="1" dirty="0"/>
              <a:t> </a:t>
            </a:r>
            <a:r>
              <a:rPr lang="en-US" sz="1600" b="1" dirty="0" smtClean="0"/>
              <a:t>     Verification  </a:t>
            </a:r>
          </a:p>
          <a:p>
            <a:r>
              <a:rPr lang="en-US" sz="1600" b="1" dirty="0"/>
              <a:t> </a:t>
            </a:r>
            <a:r>
              <a:rPr lang="en-US" sz="1600" b="1" dirty="0" smtClean="0"/>
              <a:t>      Strategy ?</a:t>
            </a:r>
            <a:endParaRPr lang="en-IN" sz="1600" b="1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4196" y="3273117"/>
            <a:ext cx="1347788" cy="1262797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5199" y="3132847"/>
            <a:ext cx="1924050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808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2169" y="1271857"/>
            <a:ext cx="9144000" cy="5107865"/>
          </a:xfrm>
        </p:spPr>
        <p:txBody>
          <a:bodyPr/>
          <a:lstStyle/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March 2013 DICOM International Conference &amp; Seminar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 dirty="0" smtClean="0"/>
              <a:t>Effective Strategy for verifying DICOM Conformance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FA7FC1-DF09-41B3-9C9D-D01804B572C4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78614" y="125413"/>
            <a:ext cx="6336826" cy="977900"/>
          </a:xfrm>
        </p:spPr>
        <p:txBody>
          <a:bodyPr/>
          <a:lstStyle/>
          <a:p>
            <a:r>
              <a:rPr lang="en-US" sz="3200" dirty="0" smtClean="0"/>
              <a:t>Verification Strategy in Nutshell</a:t>
            </a:r>
            <a:endParaRPr lang="en-US" sz="3200" dirty="0"/>
          </a:p>
        </p:txBody>
      </p:sp>
      <p:pic>
        <p:nvPicPr>
          <p:cNvPr id="1027" name="Picture 3" descr="C:\Program Files (x86)\Microsoft Office\MEDIA\CAGCAT10\j0149481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689" y="2421970"/>
            <a:ext cx="905031" cy="597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ight Brace 14"/>
          <p:cNvSpPr/>
          <p:nvPr/>
        </p:nvSpPr>
        <p:spPr>
          <a:xfrm>
            <a:off x="6492250" y="1239916"/>
            <a:ext cx="768100" cy="5299890"/>
          </a:xfrm>
          <a:prstGeom prst="rightBrac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1768435" y="2504974"/>
            <a:ext cx="4454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 Transfer </a:t>
            </a:r>
            <a:r>
              <a:rPr lang="en-IN" dirty="0"/>
              <a:t>Syntax &amp; Data Conversion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8025" y="1631325"/>
            <a:ext cx="3073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DICOM </a:t>
            </a:r>
            <a:r>
              <a:rPr lang="en-IN" dirty="0"/>
              <a:t>Services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63024" y="3196017"/>
            <a:ext cx="3073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Variance</a:t>
            </a:r>
            <a:endParaRPr lang="en-IN" dirty="0"/>
          </a:p>
        </p:txBody>
      </p:sp>
      <p:sp>
        <p:nvSpPr>
          <p:cNvPr id="28" name="TextBox 27"/>
          <p:cNvSpPr txBox="1"/>
          <p:nvPr/>
        </p:nvSpPr>
        <p:spPr>
          <a:xfrm>
            <a:off x="1750381" y="4077916"/>
            <a:ext cx="40707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  Harmonization &amp; </a:t>
            </a:r>
            <a:r>
              <a:rPr lang="en-IN" dirty="0"/>
              <a:t>DICOM Data Model  </a:t>
            </a:r>
          </a:p>
          <a:p>
            <a:endParaRPr lang="en-IN" dirty="0"/>
          </a:p>
        </p:txBody>
      </p:sp>
      <p:sp>
        <p:nvSpPr>
          <p:cNvPr id="29" name="TextBox 28"/>
          <p:cNvSpPr txBox="1"/>
          <p:nvPr/>
        </p:nvSpPr>
        <p:spPr>
          <a:xfrm>
            <a:off x="1878025" y="6032766"/>
            <a:ext cx="3073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Performance &amp; Stress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93485" y="4850023"/>
            <a:ext cx="3073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Hazard Scenarios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78025" y="5429390"/>
            <a:ext cx="3073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Media Interoperability</a:t>
            </a:r>
          </a:p>
        </p:txBody>
      </p:sp>
      <p:grpSp>
        <p:nvGrpSpPr>
          <p:cNvPr id="21" name="Group 8"/>
          <p:cNvGrpSpPr>
            <a:grpSpLocks/>
          </p:cNvGrpSpPr>
          <p:nvPr/>
        </p:nvGrpSpPr>
        <p:grpSpPr bwMode="auto">
          <a:xfrm>
            <a:off x="742274" y="1542240"/>
            <a:ext cx="949613" cy="575516"/>
            <a:chOff x="1824" y="633"/>
            <a:chExt cx="2834" cy="2849"/>
          </a:xfrm>
        </p:grpSpPr>
        <p:sp>
          <p:nvSpPr>
            <p:cNvPr id="22" name="Puzzle3"/>
            <p:cNvSpPr>
              <a:spLocks noEditPoints="1" noChangeArrowheads="1"/>
            </p:cNvSpPr>
            <p:nvPr/>
          </p:nvSpPr>
          <p:spPr bwMode="auto">
            <a:xfrm>
              <a:off x="3204" y="633"/>
              <a:ext cx="1114" cy="1514"/>
            </a:xfrm>
            <a:custGeom>
              <a:avLst/>
              <a:gdLst>
                <a:gd name="T0" fmla="*/ 10391 w 21600"/>
                <a:gd name="T1" fmla="*/ 15806 h 21600"/>
                <a:gd name="T2" fmla="*/ 20551 w 21600"/>
                <a:gd name="T3" fmla="*/ 21088 h 21600"/>
                <a:gd name="T4" fmla="*/ 13180 w 21600"/>
                <a:gd name="T5" fmla="*/ 13801 h 21600"/>
                <a:gd name="T6" fmla="*/ 20551 w 21600"/>
                <a:gd name="T7" fmla="*/ 7025 h 21600"/>
                <a:gd name="T8" fmla="*/ 10500 w 21600"/>
                <a:gd name="T9" fmla="*/ 52 h 21600"/>
                <a:gd name="T10" fmla="*/ 692 w 21600"/>
                <a:gd name="T11" fmla="*/ 6802 h 21600"/>
                <a:gd name="T12" fmla="*/ 8064 w 21600"/>
                <a:gd name="T13" fmla="*/ 13526 h 21600"/>
                <a:gd name="T14" fmla="*/ 692 w 21600"/>
                <a:gd name="T15" fmla="*/ 21088 h 21600"/>
                <a:gd name="T16" fmla="*/ 2273 w 21600"/>
                <a:gd name="T17" fmla="*/ 7719 h 21600"/>
                <a:gd name="T18" fmla="*/ 19149 w 21600"/>
                <a:gd name="T19" fmla="*/ 202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6625" y="20892"/>
                  </a:moveTo>
                  <a:lnTo>
                    <a:pt x="7105" y="21023"/>
                  </a:lnTo>
                  <a:lnTo>
                    <a:pt x="7513" y="21088"/>
                  </a:lnTo>
                  <a:lnTo>
                    <a:pt x="7922" y="21115"/>
                  </a:lnTo>
                  <a:lnTo>
                    <a:pt x="8242" y="21115"/>
                  </a:lnTo>
                  <a:lnTo>
                    <a:pt x="8544" y="21062"/>
                  </a:lnTo>
                  <a:lnTo>
                    <a:pt x="8810" y="20997"/>
                  </a:lnTo>
                  <a:lnTo>
                    <a:pt x="9023" y="20892"/>
                  </a:lnTo>
                  <a:lnTo>
                    <a:pt x="9148" y="20761"/>
                  </a:lnTo>
                  <a:lnTo>
                    <a:pt x="9290" y="20616"/>
                  </a:lnTo>
                  <a:lnTo>
                    <a:pt x="9361" y="20459"/>
                  </a:lnTo>
                  <a:lnTo>
                    <a:pt x="9396" y="20289"/>
                  </a:lnTo>
                  <a:lnTo>
                    <a:pt x="9396" y="20092"/>
                  </a:lnTo>
                  <a:lnTo>
                    <a:pt x="9325" y="19909"/>
                  </a:lnTo>
                  <a:lnTo>
                    <a:pt x="9219" y="19738"/>
                  </a:lnTo>
                  <a:lnTo>
                    <a:pt x="9094" y="19555"/>
                  </a:lnTo>
                  <a:lnTo>
                    <a:pt x="8917" y="19384"/>
                  </a:lnTo>
                  <a:lnTo>
                    <a:pt x="8650" y="19162"/>
                  </a:lnTo>
                  <a:lnTo>
                    <a:pt x="8437" y="18900"/>
                  </a:lnTo>
                  <a:lnTo>
                    <a:pt x="8277" y="18624"/>
                  </a:lnTo>
                  <a:lnTo>
                    <a:pt x="8135" y="18349"/>
                  </a:lnTo>
                  <a:lnTo>
                    <a:pt x="8028" y="18048"/>
                  </a:lnTo>
                  <a:lnTo>
                    <a:pt x="7993" y="17746"/>
                  </a:lnTo>
                  <a:lnTo>
                    <a:pt x="7993" y="17471"/>
                  </a:lnTo>
                  <a:lnTo>
                    <a:pt x="8028" y="17169"/>
                  </a:lnTo>
                  <a:lnTo>
                    <a:pt x="8135" y="16920"/>
                  </a:lnTo>
                  <a:lnTo>
                    <a:pt x="8277" y="16671"/>
                  </a:lnTo>
                  <a:lnTo>
                    <a:pt x="8366" y="16540"/>
                  </a:lnTo>
                  <a:lnTo>
                    <a:pt x="8473" y="16409"/>
                  </a:lnTo>
                  <a:lnTo>
                    <a:pt x="8615" y="16317"/>
                  </a:lnTo>
                  <a:lnTo>
                    <a:pt x="8739" y="16213"/>
                  </a:lnTo>
                  <a:lnTo>
                    <a:pt x="8881" y="16134"/>
                  </a:lnTo>
                  <a:lnTo>
                    <a:pt x="9059" y="16055"/>
                  </a:lnTo>
                  <a:lnTo>
                    <a:pt x="9254" y="15990"/>
                  </a:lnTo>
                  <a:lnTo>
                    <a:pt x="9432" y="15911"/>
                  </a:lnTo>
                  <a:lnTo>
                    <a:pt x="9663" y="15885"/>
                  </a:lnTo>
                  <a:lnTo>
                    <a:pt x="9876" y="15833"/>
                  </a:lnTo>
                  <a:lnTo>
                    <a:pt x="10142" y="15806"/>
                  </a:lnTo>
                  <a:lnTo>
                    <a:pt x="10391" y="15806"/>
                  </a:lnTo>
                  <a:lnTo>
                    <a:pt x="10728" y="15806"/>
                  </a:lnTo>
                  <a:lnTo>
                    <a:pt x="10995" y="15806"/>
                  </a:lnTo>
                  <a:lnTo>
                    <a:pt x="11279" y="15833"/>
                  </a:lnTo>
                  <a:lnTo>
                    <a:pt x="11546" y="15885"/>
                  </a:lnTo>
                  <a:lnTo>
                    <a:pt x="11776" y="15937"/>
                  </a:lnTo>
                  <a:lnTo>
                    <a:pt x="12025" y="15990"/>
                  </a:lnTo>
                  <a:lnTo>
                    <a:pt x="12221" y="16055"/>
                  </a:lnTo>
                  <a:lnTo>
                    <a:pt x="12434" y="16134"/>
                  </a:lnTo>
                  <a:lnTo>
                    <a:pt x="12611" y="16213"/>
                  </a:lnTo>
                  <a:lnTo>
                    <a:pt x="12771" y="16317"/>
                  </a:lnTo>
                  <a:lnTo>
                    <a:pt x="12913" y="16409"/>
                  </a:lnTo>
                  <a:lnTo>
                    <a:pt x="13038" y="16514"/>
                  </a:lnTo>
                  <a:lnTo>
                    <a:pt x="13251" y="16737"/>
                  </a:lnTo>
                  <a:lnTo>
                    <a:pt x="13428" y="16986"/>
                  </a:lnTo>
                  <a:lnTo>
                    <a:pt x="13517" y="17248"/>
                  </a:lnTo>
                  <a:lnTo>
                    <a:pt x="13588" y="17523"/>
                  </a:lnTo>
                  <a:lnTo>
                    <a:pt x="13588" y="17799"/>
                  </a:lnTo>
                  <a:lnTo>
                    <a:pt x="13517" y="18074"/>
                  </a:lnTo>
                  <a:lnTo>
                    <a:pt x="13428" y="18323"/>
                  </a:lnTo>
                  <a:lnTo>
                    <a:pt x="13286" y="18572"/>
                  </a:lnTo>
                  <a:lnTo>
                    <a:pt x="13109" y="18808"/>
                  </a:lnTo>
                  <a:lnTo>
                    <a:pt x="12878" y="19031"/>
                  </a:lnTo>
                  <a:lnTo>
                    <a:pt x="12434" y="19411"/>
                  </a:lnTo>
                  <a:lnTo>
                    <a:pt x="12132" y="19738"/>
                  </a:lnTo>
                  <a:lnTo>
                    <a:pt x="12025" y="19856"/>
                  </a:lnTo>
                  <a:lnTo>
                    <a:pt x="11919" y="20014"/>
                  </a:lnTo>
                  <a:lnTo>
                    <a:pt x="11883" y="20132"/>
                  </a:lnTo>
                  <a:lnTo>
                    <a:pt x="11883" y="20263"/>
                  </a:lnTo>
                  <a:lnTo>
                    <a:pt x="11883" y="20394"/>
                  </a:lnTo>
                  <a:lnTo>
                    <a:pt x="11954" y="20485"/>
                  </a:lnTo>
                  <a:lnTo>
                    <a:pt x="12061" y="20590"/>
                  </a:lnTo>
                  <a:lnTo>
                    <a:pt x="12185" y="20695"/>
                  </a:lnTo>
                  <a:lnTo>
                    <a:pt x="12327" y="20787"/>
                  </a:lnTo>
                  <a:lnTo>
                    <a:pt x="12540" y="20892"/>
                  </a:lnTo>
                  <a:lnTo>
                    <a:pt x="12771" y="20997"/>
                  </a:lnTo>
                  <a:lnTo>
                    <a:pt x="13073" y="21088"/>
                  </a:lnTo>
                  <a:lnTo>
                    <a:pt x="13428" y="21193"/>
                  </a:lnTo>
                  <a:lnTo>
                    <a:pt x="13873" y="21298"/>
                  </a:lnTo>
                  <a:lnTo>
                    <a:pt x="14317" y="21390"/>
                  </a:lnTo>
                  <a:lnTo>
                    <a:pt x="14778" y="21468"/>
                  </a:lnTo>
                  <a:lnTo>
                    <a:pt x="15294" y="21547"/>
                  </a:lnTo>
                  <a:lnTo>
                    <a:pt x="15809" y="21600"/>
                  </a:lnTo>
                  <a:lnTo>
                    <a:pt x="16359" y="21652"/>
                  </a:lnTo>
                  <a:lnTo>
                    <a:pt x="16875" y="21678"/>
                  </a:lnTo>
                  <a:lnTo>
                    <a:pt x="17407" y="21678"/>
                  </a:lnTo>
                  <a:lnTo>
                    <a:pt x="17958" y="21678"/>
                  </a:lnTo>
                  <a:lnTo>
                    <a:pt x="18473" y="21652"/>
                  </a:lnTo>
                  <a:lnTo>
                    <a:pt x="18953" y="21573"/>
                  </a:lnTo>
                  <a:lnTo>
                    <a:pt x="19397" y="21495"/>
                  </a:lnTo>
                  <a:lnTo>
                    <a:pt x="19841" y="21390"/>
                  </a:lnTo>
                  <a:lnTo>
                    <a:pt x="20214" y="21272"/>
                  </a:lnTo>
                  <a:lnTo>
                    <a:pt x="20551" y="21088"/>
                  </a:lnTo>
                  <a:lnTo>
                    <a:pt x="20480" y="20787"/>
                  </a:lnTo>
                  <a:lnTo>
                    <a:pt x="20409" y="20485"/>
                  </a:lnTo>
                  <a:lnTo>
                    <a:pt x="20356" y="20158"/>
                  </a:lnTo>
                  <a:lnTo>
                    <a:pt x="20356" y="19804"/>
                  </a:lnTo>
                  <a:lnTo>
                    <a:pt x="20321" y="19083"/>
                  </a:lnTo>
                  <a:lnTo>
                    <a:pt x="20356" y="18349"/>
                  </a:lnTo>
                  <a:lnTo>
                    <a:pt x="20409" y="17641"/>
                  </a:lnTo>
                  <a:lnTo>
                    <a:pt x="20480" y="17012"/>
                  </a:lnTo>
                  <a:lnTo>
                    <a:pt x="20551" y="16488"/>
                  </a:lnTo>
                  <a:lnTo>
                    <a:pt x="20551" y="16055"/>
                  </a:lnTo>
                  <a:lnTo>
                    <a:pt x="20551" y="15911"/>
                  </a:lnTo>
                  <a:lnTo>
                    <a:pt x="20445" y="15754"/>
                  </a:lnTo>
                  <a:lnTo>
                    <a:pt x="20356" y="15610"/>
                  </a:lnTo>
                  <a:lnTo>
                    <a:pt x="20178" y="15452"/>
                  </a:lnTo>
                  <a:lnTo>
                    <a:pt x="20001" y="15334"/>
                  </a:lnTo>
                  <a:lnTo>
                    <a:pt x="19770" y="15230"/>
                  </a:lnTo>
                  <a:lnTo>
                    <a:pt x="19521" y="15125"/>
                  </a:lnTo>
                  <a:lnTo>
                    <a:pt x="19290" y="15059"/>
                  </a:lnTo>
                  <a:lnTo>
                    <a:pt x="19024" y="15007"/>
                  </a:lnTo>
                  <a:lnTo>
                    <a:pt x="18740" y="14954"/>
                  </a:lnTo>
                  <a:lnTo>
                    <a:pt x="18509" y="14954"/>
                  </a:lnTo>
                  <a:lnTo>
                    <a:pt x="18225" y="14954"/>
                  </a:lnTo>
                  <a:lnTo>
                    <a:pt x="17994" y="15007"/>
                  </a:lnTo>
                  <a:lnTo>
                    <a:pt x="17763" y="15085"/>
                  </a:lnTo>
                  <a:lnTo>
                    <a:pt x="17550" y="15177"/>
                  </a:lnTo>
                  <a:lnTo>
                    <a:pt x="17372" y="15308"/>
                  </a:lnTo>
                  <a:lnTo>
                    <a:pt x="17176" y="15426"/>
                  </a:lnTo>
                  <a:lnTo>
                    <a:pt x="16928" y="15557"/>
                  </a:lnTo>
                  <a:lnTo>
                    <a:pt x="16661" y="15636"/>
                  </a:lnTo>
                  <a:lnTo>
                    <a:pt x="16359" y="15688"/>
                  </a:lnTo>
                  <a:lnTo>
                    <a:pt x="16022" y="15715"/>
                  </a:lnTo>
                  <a:lnTo>
                    <a:pt x="15667" y="15688"/>
                  </a:lnTo>
                  <a:lnTo>
                    <a:pt x="15294" y="15662"/>
                  </a:lnTo>
                  <a:lnTo>
                    <a:pt x="14956" y="15583"/>
                  </a:lnTo>
                  <a:lnTo>
                    <a:pt x="14619" y="15479"/>
                  </a:lnTo>
                  <a:lnTo>
                    <a:pt x="14281" y="15334"/>
                  </a:lnTo>
                  <a:lnTo>
                    <a:pt x="13961" y="15177"/>
                  </a:lnTo>
                  <a:lnTo>
                    <a:pt x="13695" y="14981"/>
                  </a:lnTo>
                  <a:lnTo>
                    <a:pt x="13588" y="14850"/>
                  </a:lnTo>
                  <a:lnTo>
                    <a:pt x="13482" y="14732"/>
                  </a:lnTo>
                  <a:lnTo>
                    <a:pt x="13393" y="14600"/>
                  </a:lnTo>
                  <a:lnTo>
                    <a:pt x="13322" y="14456"/>
                  </a:lnTo>
                  <a:lnTo>
                    <a:pt x="13251" y="14299"/>
                  </a:lnTo>
                  <a:lnTo>
                    <a:pt x="13215" y="14155"/>
                  </a:lnTo>
                  <a:lnTo>
                    <a:pt x="13180" y="13971"/>
                  </a:lnTo>
                  <a:lnTo>
                    <a:pt x="13180" y="13801"/>
                  </a:lnTo>
                  <a:lnTo>
                    <a:pt x="13180" y="13591"/>
                  </a:lnTo>
                  <a:lnTo>
                    <a:pt x="13215" y="13395"/>
                  </a:lnTo>
                  <a:lnTo>
                    <a:pt x="13251" y="13198"/>
                  </a:lnTo>
                  <a:lnTo>
                    <a:pt x="13322" y="13015"/>
                  </a:lnTo>
                  <a:lnTo>
                    <a:pt x="13393" y="12870"/>
                  </a:lnTo>
                  <a:lnTo>
                    <a:pt x="13482" y="12713"/>
                  </a:lnTo>
                  <a:lnTo>
                    <a:pt x="13588" y="12569"/>
                  </a:lnTo>
                  <a:lnTo>
                    <a:pt x="13730" y="12438"/>
                  </a:lnTo>
                  <a:lnTo>
                    <a:pt x="13997" y="12215"/>
                  </a:lnTo>
                  <a:lnTo>
                    <a:pt x="14334" y="12005"/>
                  </a:lnTo>
                  <a:lnTo>
                    <a:pt x="14690" y="11861"/>
                  </a:lnTo>
                  <a:lnTo>
                    <a:pt x="15063" y="11756"/>
                  </a:lnTo>
                  <a:lnTo>
                    <a:pt x="15436" y="11678"/>
                  </a:lnTo>
                  <a:lnTo>
                    <a:pt x="15809" y="11638"/>
                  </a:lnTo>
                  <a:lnTo>
                    <a:pt x="16182" y="11638"/>
                  </a:lnTo>
                  <a:lnTo>
                    <a:pt x="16555" y="11678"/>
                  </a:lnTo>
                  <a:lnTo>
                    <a:pt x="16910" y="11730"/>
                  </a:lnTo>
                  <a:lnTo>
                    <a:pt x="17248" y="11835"/>
                  </a:lnTo>
                  <a:lnTo>
                    <a:pt x="17514" y="11966"/>
                  </a:lnTo>
                  <a:lnTo>
                    <a:pt x="17763" y="12110"/>
                  </a:lnTo>
                  <a:lnTo>
                    <a:pt x="17887" y="12215"/>
                  </a:lnTo>
                  <a:lnTo>
                    <a:pt x="18065" y="12307"/>
                  </a:lnTo>
                  <a:lnTo>
                    <a:pt x="18260" y="12412"/>
                  </a:lnTo>
                  <a:lnTo>
                    <a:pt x="18438" y="12464"/>
                  </a:lnTo>
                  <a:lnTo>
                    <a:pt x="18669" y="12543"/>
                  </a:lnTo>
                  <a:lnTo>
                    <a:pt x="18882" y="12569"/>
                  </a:lnTo>
                  <a:lnTo>
                    <a:pt x="19113" y="12595"/>
                  </a:lnTo>
                  <a:lnTo>
                    <a:pt x="19361" y="12608"/>
                  </a:lnTo>
                  <a:lnTo>
                    <a:pt x="19592" y="12608"/>
                  </a:lnTo>
                  <a:lnTo>
                    <a:pt x="19841" y="12595"/>
                  </a:lnTo>
                  <a:lnTo>
                    <a:pt x="20072" y="12543"/>
                  </a:lnTo>
                  <a:lnTo>
                    <a:pt x="20321" y="12490"/>
                  </a:lnTo>
                  <a:lnTo>
                    <a:pt x="20551" y="12438"/>
                  </a:lnTo>
                  <a:lnTo>
                    <a:pt x="20800" y="12333"/>
                  </a:lnTo>
                  <a:lnTo>
                    <a:pt x="20996" y="12241"/>
                  </a:lnTo>
                  <a:lnTo>
                    <a:pt x="21244" y="12110"/>
                  </a:lnTo>
                  <a:lnTo>
                    <a:pt x="21298" y="12032"/>
                  </a:lnTo>
                  <a:lnTo>
                    <a:pt x="21404" y="11966"/>
                  </a:lnTo>
                  <a:lnTo>
                    <a:pt x="21475" y="11861"/>
                  </a:lnTo>
                  <a:lnTo>
                    <a:pt x="21511" y="11730"/>
                  </a:lnTo>
                  <a:lnTo>
                    <a:pt x="21617" y="11481"/>
                  </a:lnTo>
                  <a:lnTo>
                    <a:pt x="21653" y="11180"/>
                  </a:lnTo>
                  <a:lnTo>
                    <a:pt x="21653" y="10826"/>
                  </a:lnTo>
                  <a:lnTo>
                    <a:pt x="21653" y="10472"/>
                  </a:lnTo>
                  <a:lnTo>
                    <a:pt x="21582" y="10092"/>
                  </a:lnTo>
                  <a:lnTo>
                    <a:pt x="21511" y="9725"/>
                  </a:lnTo>
                  <a:lnTo>
                    <a:pt x="21298" y="8912"/>
                  </a:lnTo>
                  <a:lnTo>
                    <a:pt x="21067" y="8191"/>
                  </a:lnTo>
                  <a:lnTo>
                    <a:pt x="20800" y="7536"/>
                  </a:lnTo>
                  <a:lnTo>
                    <a:pt x="20551" y="7025"/>
                  </a:lnTo>
                  <a:lnTo>
                    <a:pt x="20001" y="7103"/>
                  </a:lnTo>
                  <a:lnTo>
                    <a:pt x="19432" y="7156"/>
                  </a:lnTo>
                  <a:lnTo>
                    <a:pt x="18846" y="7208"/>
                  </a:lnTo>
                  <a:lnTo>
                    <a:pt x="18225" y="7208"/>
                  </a:lnTo>
                  <a:lnTo>
                    <a:pt x="17656" y="7208"/>
                  </a:lnTo>
                  <a:lnTo>
                    <a:pt x="17070" y="7182"/>
                  </a:lnTo>
                  <a:lnTo>
                    <a:pt x="16484" y="7156"/>
                  </a:lnTo>
                  <a:lnTo>
                    <a:pt x="15986" y="7103"/>
                  </a:lnTo>
                  <a:lnTo>
                    <a:pt x="14992" y="6999"/>
                  </a:lnTo>
                  <a:lnTo>
                    <a:pt x="14210" y="6907"/>
                  </a:lnTo>
                  <a:lnTo>
                    <a:pt x="13695" y="6828"/>
                  </a:lnTo>
                  <a:lnTo>
                    <a:pt x="13517" y="6802"/>
                  </a:lnTo>
                  <a:lnTo>
                    <a:pt x="13073" y="6645"/>
                  </a:lnTo>
                  <a:lnTo>
                    <a:pt x="12700" y="6474"/>
                  </a:lnTo>
                  <a:lnTo>
                    <a:pt x="12363" y="6304"/>
                  </a:lnTo>
                  <a:lnTo>
                    <a:pt x="12132" y="6094"/>
                  </a:lnTo>
                  <a:lnTo>
                    <a:pt x="11919" y="5871"/>
                  </a:lnTo>
                  <a:lnTo>
                    <a:pt x="11776" y="5649"/>
                  </a:lnTo>
                  <a:lnTo>
                    <a:pt x="11688" y="5413"/>
                  </a:lnTo>
                  <a:lnTo>
                    <a:pt x="11617" y="5190"/>
                  </a:lnTo>
                  <a:lnTo>
                    <a:pt x="11617" y="4941"/>
                  </a:lnTo>
                  <a:lnTo>
                    <a:pt x="11652" y="4718"/>
                  </a:lnTo>
                  <a:lnTo>
                    <a:pt x="11723" y="4482"/>
                  </a:lnTo>
                  <a:lnTo>
                    <a:pt x="11812" y="4285"/>
                  </a:lnTo>
                  <a:lnTo>
                    <a:pt x="11919" y="4089"/>
                  </a:lnTo>
                  <a:lnTo>
                    <a:pt x="12096" y="3905"/>
                  </a:lnTo>
                  <a:lnTo>
                    <a:pt x="12292" y="3735"/>
                  </a:lnTo>
                  <a:lnTo>
                    <a:pt x="12505" y="3604"/>
                  </a:lnTo>
                  <a:lnTo>
                    <a:pt x="12700" y="3460"/>
                  </a:lnTo>
                  <a:lnTo>
                    <a:pt x="12878" y="3250"/>
                  </a:lnTo>
                  <a:lnTo>
                    <a:pt x="13038" y="3027"/>
                  </a:lnTo>
                  <a:lnTo>
                    <a:pt x="13180" y="2752"/>
                  </a:lnTo>
                  <a:lnTo>
                    <a:pt x="13286" y="2477"/>
                  </a:lnTo>
                  <a:lnTo>
                    <a:pt x="13322" y="2175"/>
                  </a:lnTo>
                  <a:lnTo>
                    <a:pt x="13357" y="1874"/>
                  </a:lnTo>
                  <a:lnTo>
                    <a:pt x="13286" y="1572"/>
                  </a:lnTo>
                  <a:lnTo>
                    <a:pt x="13180" y="1271"/>
                  </a:lnTo>
                  <a:lnTo>
                    <a:pt x="13038" y="983"/>
                  </a:lnTo>
                  <a:lnTo>
                    <a:pt x="12949" y="865"/>
                  </a:lnTo>
                  <a:lnTo>
                    <a:pt x="12807" y="733"/>
                  </a:lnTo>
                  <a:lnTo>
                    <a:pt x="12665" y="616"/>
                  </a:lnTo>
                  <a:lnTo>
                    <a:pt x="12505" y="511"/>
                  </a:lnTo>
                  <a:lnTo>
                    <a:pt x="12327" y="406"/>
                  </a:lnTo>
                  <a:lnTo>
                    <a:pt x="12132" y="314"/>
                  </a:lnTo>
                  <a:lnTo>
                    <a:pt x="11883" y="235"/>
                  </a:lnTo>
                  <a:lnTo>
                    <a:pt x="11652" y="183"/>
                  </a:lnTo>
                  <a:lnTo>
                    <a:pt x="11368" y="104"/>
                  </a:lnTo>
                  <a:lnTo>
                    <a:pt x="11101" y="78"/>
                  </a:lnTo>
                  <a:lnTo>
                    <a:pt x="10800" y="52"/>
                  </a:lnTo>
                  <a:lnTo>
                    <a:pt x="10444" y="52"/>
                  </a:lnTo>
                  <a:lnTo>
                    <a:pt x="10142" y="52"/>
                  </a:lnTo>
                  <a:lnTo>
                    <a:pt x="9840" y="78"/>
                  </a:lnTo>
                  <a:lnTo>
                    <a:pt x="9574" y="104"/>
                  </a:lnTo>
                  <a:lnTo>
                    <a:pt x="9325" y="157"/>
                  </a:lnTo>
                  <a:lnTo>
                    <a:pt x="9094" y="209"/>
                  </a:lnTo>
                  <a:lnTo>
                    <a:pt x="8846" y="262"/>
                  </a:lnTo>
                  <a:lnTo>
                    <a:pt x="8650" y="340"/>
                  </a:lnTo>
                  <a:lnTo>
                    <a:pt x="8437" y="432"/>
                  </a:lnTo>
                  <a:lnTo>
                    <a:pt x="8277" y="511"/>
                  </a:lnTo>
                  <a:lnTo>
                    <a:pt x="8100" y="616"/>
                  </a:lnTo>
                  <a:lnTo>
                    <a:pt x="7957" y="707"/>
                  </a:lnTo>
                  <a:lnTo>
                    <a:pt x="7833" y="838"/>
                  </a:lnTo>
                  <a:lnTo>
                    <a:pt x="7620" y="1061"/>
                  </a:lnTo>
                  <a:lnTo>
                    <a:pt x="7442" y="1336"/>
                  </a:lnTo>
                  <a:lnTo>
                    <a:pt x="7353" y="1599"/>
                  </a:lnTo>
                  <a:lnTo>
                    <a:pt x="7318" y="1900"/>
                  </a:lnTo>
                  <a:lnTo>
                    <a:pt x="7318" y="2175"/>
                  </a:lnTo>
                  <a:lnTo>
                    <a:pt x="7353" y="2450"/>
                  </a:lnTo>
                  <a:lnTo>
                    <a:pt x="7442" y="2726"/>
                  </a:lnTo>
                  <a:lnTo>
                    <a:pt x="7620" y="2975"/>
                  </a:lnTo>
                  <a:lnTo>
                    <a:pt x="7833" y="3198"/>
                  </a:lnTo>
                  <a:lnTo>
                    <a:pt x="8064" y="3433"/>
                  </a:lnTo>
                  <a:lnTo>
                    <a:pt x="8295" y="3630"/>
                  </a:lnTo>
                  <a:lnTo>
                    <a:pt x="8508" y="3853"/>
                  </a:lnTo>
                  <a:lnTo>
                    <a:pt x="8686" y="4089"/>
                  </a:lnTo>
                  <a:lnTo>
                    <a:pt x="8775" y="4312"/>
                  </a:lnTo>
                  <a:lnTo>
                    <a:pt x="8846" y="4561"/>
                  </a:lnTo>
                  <a:lnTo>
                    <a:pt x="8846" y="4810"/>
                  </a:lnTo>
                  <a:lnTo>
                    <a:pt x="8810" y="5059"/>
                  </a:lnTo>
                  <a:lnTo>
                    <a:pt x="8721" y="5295"/>
                  </a:lnTo>
                  <a:lnTo>
                    <a:pt x="8579" y="5544"/>
                  </a:lnTo>
                  <a:lnTo>
                    <a:pt x="8366" y="5766"/>
                  </a:lnTo>
                  <a:lnTo>
                    <a:pt x="8135" y="5976"/>
                  </a:lnTo>
                  <a:lnTo>
                    <a:pt x="7833" y="6199"/>
                  </a:lnTo>
                  <a:lnTo>
                    <a:pt x="7478" y="6369"/>
                  </a:lnTo>
                  <a:lnTo>
                    <a:pt x="7069" y="6527"/>
                  </a:lnTo>
                  <a:lnTo>
                    <a:pt x="6590" y="6671"/>
                  </a:lnTo>
                  <a:lnTo>
                    <a:pt x="6092" y="6802"/>
                  </a:lnTo>
                  <a:lnTo>
                    <a:pt x="5684" y="6802"/>
                  </a:lnTo>
                  <a:lnTo>
                    <a:pt x="5133" y="6802"/>
                  </a:lnTo>
                  <a:lnTo>
                    <a:pt x="4547" y="6802"/>
                  </a:lnTo>
                  <a:lnTo>
                    <a:pt x="3872" y="6802"/>
                  </a:lnTo>
                  <a:lnTo>
                    <a:pt x="3144" y="6802"/>
                  </a:lnTo>
                  <a:lnTo>
                    <a:pt x="2362" y="6802"/>
                  </a:lnTo>
                  <a:lnTo>
                    <a:pt x="1545" y="6802"/>
                  </a:lnTo>
                  <a:lnTo>
                    <a:pt x="692" y="6802"/>
                  </a:lnTo>
                  <a:lnTo>
                    <a:pt x="586" y="7234"/>
                  </a:lnTo>
                  <a:lnTo>
                    <a:pt x="461" y="7837"/>
                  </a:lnTo>
                  <a:lnTo>
                    <a:pt x="355" y="8493"/>
                  </a:lnTo>
                  <a:lnTo>
                    <a:pt x="248" y="9187"/>
                  </a:lnTo>
                  <a:lnTo>
                    <a:pt x="142" y="9869"/>
                  </a:lnTo>
                  <a:lnTo>
                    <a:pt x="106" y="10498"/>
                  </a:lnTo>
                  <a:lnTo>
                    <a:pt x="106" y="10983"/>
                  </a:lnTo>
                  <a:lnTo>
                    <a:pt x="106" y="11311"/>
                  </a:lnTo>
                  <a:lnTo>
                    <a:pt x="213" y="11481"/>
                  </a:lnTo>
                  <a:lnTo>
                    <a:pt x="319" y="11651"/>
                  </a:lnTo>
                  <a:lnTo>
                    <a:pt x="497" y="11783"/>
                  </a:lnTo>
                  <a:lnTo>
                    <a:pt x="692" y="11914"/>
                  </a:lnTo>
                  <a:lnTo>
                    <a:pt x="941" y="12032"/>
                  </a:lnTo>
                  <a:lnTo>
                    <a:pt x="1207" y="12110"/>
                  </a:lnTo>
                  <a:lnTo>
                    <a:pt x="1509" y="12189"/>
                  </a:lnTo>
                  <a:lnTo>
                    <a:pt x="1794" y="12241"/>
                  </a:lnTo>
                  <a:lnTo>
                    <a:pt x="2131" y="12267"/>
                  </a:lnTo>
                  <a:lnTo>
                    <a:pt x="2433" y="12281"/>
                  </a:lnTo>
                  <a:lnTo>
                    <a:pt x="2735" y="12267"/>
                  </a:lnTo>
                  <a:lnTo>
                    <a:pt x="3055" y="12241"/>
                  </a:lnTo>
                  <a:lnTo>
                    <a:pt x="3357" y="12189"/>
                  </a:lnTo>
                  <a:lnTo>
                    <a:pt x="3623" y="12084"/>
                  </a:lnTo>
                  <a:lnTo>
                    <a:pt x="3872" y="11979"/>
                  </a:lnTo>
                  <a:lnTo>
                    <a:pt x="4103" y="11861"/>
                  </a:lnTo>
                  <a:lnTo>
                    <a:pt x="4316" y="11704"/>
                  </a:lnTo>
                  <a:lnTo>
                    <a:pt x="4582" y="11612"/>
                  </a:lnTo>
                  <a:lnTo>
                    <a:pt x="4849" y="11533"/>
                  </a:lnTo>
                  <a:lnTo>
                    <a:pt x="5169" y="11507"/>
                  </a:lnTo>
                  <a:lnTo>
                    <a:pt x="5506" y="11481"/>
                  </a:lnTo>
                  <a:lnTo>
                    <a:pt x="5808" y="11507"/>
                  </a:lnTo>
                  <a:lnTo>
                    <a:pt x="6146" y="11560"/>
                  </a:lnTo>
                  <a:lnTo>
                    <a:pt x="6501" y="11651"/>
                  </a:lnTo>
                  <a:lnTo>
                    <a:pt x="6803" y="11783"/>
                  </a:lnTo>
                  <a:lnTo>
                    <a:pt x="7105" y="11940"/>
                  </a:lnTo>
                  <a:lnTo>
                    <a:pt x="7353" y="12110"/>
                  </a:lnTo>
                  <a:lnTo>
                    <a:pt x="7584" y="12333"/>
                  </a:lnTo>
                  <a:lnTo>
                    <a:pt x="7798" y="12595"/>
                  </a:lnTo>
                  <a:lnTo>
                    <a:pt x="7922" y="12870"/>
                  </a:lnTo>
                  <a:lnTo>
                    <a:pt x="8028" y="13198"/>
                  </a:lnTo>
                  <a:lnTo>
                    <a:pt x="8064" y="13526"/>
                  </a:lnTo>
                  <a:lnTo>
                    <a:pt x="8028" y="13775"/>
                  </a:lnTo>
                  <a:lnTo>
                    <a:pt x="7922" y="13998"/>
                  </a:lnTo>
                  <a:lnTo>
                    <a:pt x="7798" y="14220"/>
                  </a:lnTo>
                  <a:lnTo>
                    <a:pt x="7584" y="14404"/>
                  </a:lnTo>
                  <a:lnTo>
                    <a:pt x="7353" y="14574"/>
                  </a:lnTo>
                  <a:lnTo>
                    <a:pt x="7105" y="14732"/>
                  </a:lnTo>
                  <a:lnTo>
                    <a:pt x="6803" y="14850"/>
                  </a:lnTo>
                  <a:lnTo>
                    <a:pt x="6501" y="14954"/>
                  </a:lnTo>
                  <a:lnTo>
                    <a:pt x="6146" y="15033"/>
                  </a:lnTo>
                  <a:lnTo>
                    <a:pt x="5808" y="15085"/>
                  </a:lnTo>
                  <a:lnTo>
                    <a:pt x="5506" y="15085"/>
                  </a:lnTo>
                  <a:lnTo>
                    <a:pt x="5169" y="15059"/>
                  </a:lnTo>
                  <a:lnTo>
                    <a:pt x="4849" y="15007"/>
                  </a:lnTo>
                  <a:lnTo>
                    <a:pt x="4582" y="14902"/>
                  </a:lnTo>
                  <a:lnTo>
                    <a:pt x="4316" y="14784"/>
                  </a:lnTo>
                  <a:lnTo>
                    <a:pt x="4103" y="14600"/>
                  </a:lnTo>
                  <a:lnTo>
                    <a:pt x="3907" y="14430"/>
                  </a:lnTo>
                  <a:lnTo>
                    <a:pt x="3659" y="14299"/>
                  </a:lnTo>
                  <a:lnTo>
                    <a:pt x="3428" y="14194"/>
                  </a:lnTo>
                  <a:lnTo>
                    <a:pt x="3179" y="14129"/>
                  </a:lnTo>
                  <a:lnTo>
                    <a:pt x="2913" y="14102"/>
                  </a:lnTo>
                  <a:lnTo>
                    <a:pt x="2646" y="14102"/>
                  </a:lnTo>
                  <a:lnTo>
                    <a:pt x="2362" y="14129"/>
                  </a:lnTo>
                  <a:lnTo>
                    <a:pt x="2096" y="14168"/>
                  </a:lnTo>
                  <a:lnTo>
                    <a:pt x="1811" y="14273"/>
                  </a:lnTo>
                  <a:lnTo>
                    <a:pt x="1545" y="14378"/>
                  </a:lnTo>
                  <a:lnTo>
                    <a:pt x="1314" y="14496"/>
                  </a:lnTo>
                  <a:lnTo>
                    <a:pt x="1065" y="14653"/>
                  </a:lnTo>
                  <a:lnTo>
                    <a:pt x="870" y="14797"/>
                  </a:lnTo>
                  <a:lnTo>
                    <a:pt x="657" y="14981"/>
                  </a:lnTo>
                  <a:lnTo>
                    <a:pt x="497" y="15177"/>
                  </a:lnTo>
                  <a:lnTo>
                    <a:pt x="390" y="15413"/>
                  </a:lnTo>
                  <a:lnTo>
                    <a:pt x="284" y="15636"/>
                  </a:lnTo>
                  <a:lnTo>
                    <a:pt x="248" y="15911"/>
                  </a:lnTo>
                  <a:lnTo>
                    <a:pt x="284" y="16239"/>
                  </a:lnTo>
                  <a:lnTo>
                    <a:pt x="319" y="16566"/>
                  </a:lnTo>
                  <a:lnTo>
                    <a:pt x="497" y="17340"/>
                  </a:lnTo>
                  <a:lnTo>
                    <a:pt x="692" y="18152"/>
                  </a:lnTo>
                  <a:lnTo>
                    <a:pt x="799" y="18559"/>
                  </a:lnTo>
                  <a:lnTo>
                    <a:pt x="905" y="18978"/>
                  </a:lnTo>
                  <a:lnTo>
                    <a:pt x="959" y="19384"/>
                  </a:lnTo>
                  <a:lnTo>
                    <a:pt x="994" y="19791"/>
                  </a:lnTo>
                  <a:lnTo>
                    <a:pt x="994" y="20132"/>
                  </a:lnTo>
                  <a:lnTo>
                    <a:pt x="959" y="20485"/>
                  </a:lnTo>
                  <a:lnTo>
                    <a:pt x="941" y="20669"/>
                  </a:lnTo>
                  <a:lnTo>
                    <a:pt x="870" y="20813"/>
                  </a:lnTo>
                  <a:lnTo>
                    <a:pt x="799" y="20970"/>
                  </a:lnTo>
                  <a:lnTo>
                    <a:pt x="692" y="21088"/>
                  </a:lnTo>
                  <a:lnTo>
                    <a:pt x="1474" y="20997"/>
                  </a:lnTo>
                  <a:lnTo>
                    <a:pt x="2291" y="20866"/>
                  </a:lnTo>
                  <a:lnTo>
                    <a:pt x="3108" y="20787"/>
                  </a:lnTo>
                  <a:lnTo>
                    <a:pt x="3907" y="20721"/>
                  </a:lnTo>
                  <a:lnTo>
                    <a:pt x="4653" y="20695"/>
                  </a:lnTo>
                  <a:lnTo>
                    <a:pt x="5364" y="20695"/>
                  </a:lnTo>
                  <a:lnTo>
                    <a:pt x="5701" y="20721"/>
                  </a:lnTo>
                  <a:lnTo>
                    <a:pt x="6057" y="20761"/>
                  </a:lnTo>
                  <a:lnTo>
                    <a:pt x="6323" y="20813"/>
                  </a:lnTo>
                  <a:lnTo>
                    <a:pt x="6625" y="20892"/>
                  </a:lnTo>
                  <a:close/>
                </a:path>
              </a:pathLst>
            </a:custGeom>
            <a:solidFill>
              <a:srgbClr val="FFBE7D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3" name="Puzzle2"/>
            <p:cNvSpPr>
              <a:spLocks noEditPoints="1" noChangeArrowheads="1"/>
            </p:cNvSpPr>
            <p:nvPr/>
          </p:nvSpPr>
          <p:spPr bwMode="auto">
            <a:xfrm>
              <a:off x="2880" y="1736"/>
              <a:ext cx="1778" cy="1379"/>
            </a:xfrm>
            <a:custGeom>
              <a:avLst/>
              <a:gdLst>
                <a:gd name="T0" fmla="*/ 11 w 21600"/>
                <a:gd name="T1" fmla="*/ 13386 h 21600"/>
                <a:gd name="T2" fmla="*/ 4202 w 21600"/>
                <a:gd name="T3" fmla="*/ 21161 h 21600"/>
                <a:gd name="T4" fmla="*/ 10400 w 21600"/>
                <a:gd name="T5" fmla="*/ 13909 h 21600"/>
                <a:gd name="T6" fmla="*/ 16821 w 21600"/>
                <a:gd name="T7" fmla="*/ 21190 h 21600"/>
                <a:gd name="T8" fmla="*/ 21600 w 21600"/>
                <a:gd name="T9" fmla="*/ 15083 h 21600"/>
                <a:gd name="T10" fmla="*/ 16889 w 21600"/>
                <a:gd name="T11" fmla="*/ 5739 h 21600"/>
                <a:gd name="T12" fmla="*/ 10800 w 21600"/>
                <a:gd name="T13" fmla="*/ 28 h 21600"/>
                <a:gd name="T14" fmla="*/ 4202 w 21600"/>
                <a:gd name="T15" fmla="*/ 5894 h 21600"/>
                <a:gd name="T16" fmla="*/ 5388 w 21600"/>
                <a:gd name="T17" fmla="*/ 6742 h 21600"/>
                <a:gd name="T18" fmla="*/ 16177 w 21600"/>
                <a:gd name="T19" fmla="*/ 20441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4247" y="12354"/>
                  </a:moveTo>
                  <a:lnTo>
                    <a:pt x="4134" y="12468"/>
                  </a:lnTo>
                  <a:lnTo>
                    <a:pt x="4010" y="12581"/>
                  </a:lnTo>
                  <a:lnTo>
                    <a:pt x="3897" y="12637"/>
                  </a:lnTo>
                  <a:lnTo>
                    <a:pt x="3773" y="12694"/>
                  </a:lnTo>
                  <a:lnTo>
                    <a:pt x="3637" y="12694"/>
                  </a:lnTo>
                  <a:lnTo>
                    <a:pt x="3524" y="12694"/>
                  </a:lnTo>
                  <a:lnTo>
                    <a:pt x="3400" y="12665"/>
                  </a:lnTo>
                  <a:lnTo>
                    <a:pt x="3287" y="12609"/>
                  </a:lnTo>
                  <a:lnTo>
                    <a:pt x="3027" y="12496"/>
                  </a:lnTo>
                  <a:lnTo>
                    <a:pt x="2790" y="12340"/>
                  </a:lnTo>
                  <a:lnTo>
                    <a:pt x="2530" y="12142"/>
                  </a:lnTo>
                  <a:lnTo>
                    <a:pt x="2293" y="11987"/>
                  </a:lnTo>
                  <a:lnTo>
                    <a:pt x="2033" y="11817"/>
                  </a:lnTo>
                  <a:lnTo>
                    <a:pt x="1773" y="11676"/>
                  </a:lnTo>
                  <a:lnTo>
                    <a:pt x="1638" y="11662"/>
                  </a:lnTo>
                  <a:lnTo>
                    <a:pt x="1513" y="11634"/>
                  </a:lnTo>
                  <a:lnTo>
                    <a:pt x="1378" y="11634"/>
                  </a:lnTo>
                  <a:lnTo>
                    <a:pt x="1253" y="11634"/>
                  </a:lnTo>
                  <a:lnTo>
                    <a:pt x="1118" y="11662"/>
                  </a:lnTo>
                  <a:lnTo>
                    <a:pt x="971" y="11732"/>
                  </a:lnTo>
                  <a:lnTo>
                    <a:pt x="835" y="11817"/>
                  </a:lnTo>
                  <a:lnTo>
                    <a:pt x="711" y="11959"/>
                  </a:lnTo>
                  <a:lnTo>
                    <a:pt x="553" y="12086"/>
                  </a:lnTo>
                  <a:lnTo>
                    <a:pt x="429" y="12284"/>
                  </a:lnTo>
                  <a:lnTo>
                    <a:pt x="271" y="12524"/>
                  </a:lnTo>
                  <a:lnTo>
                    <a:pt x="146" y="12793"/>
                  </a:lnTo>
                  <a:lnTo>
                    <a:pt x="79" y="12962"/>
                  </a:lnTo>
                  <a:lnTo>
                    <a:pt x="33" y="13146"/>
                  </a:lnTo>
                  <a:lnTo>
                    <a:pt x="11" y="13386"/>
                  </a:lnTo>
                  <a:lnTo>
                    <a:pt x="11" y="13641"/>
                  </a:lnTo>
                  <a:lnTo>
                    <a:pt x="33" y="13881"/>
                  </a:lnTo>
                  <a:lnTo>
                    <a:pt x="101" y="14150"/>
                  </a:lnTo>
                  <a:lnTo>
                    <a:pt x="192" y="14404"/>
                  </a:lnTo>
                  <a:lnTo>
                    <a:pt x="293" y="14645"/>
                  </a:lnTo>
                  <a:lnTo>
                    <a:pt x="451" y="14857"/>
                  </a:lnTo>
                  <a:lnTo>
                    <a:pt x="621" y="15054"/>
                  </a:lnTo>
                  <a:lnTo>
                    <a:pt x="734" y="15125"/>
                  </a:lnTo>
                  <a:lnTo>
                    <a:pt x="835" y="15210"/>
                  </a:lnTo>
                  <a:lnTo>
                    <a:pt x="948" y="15267"/>
                  </a:lnTo>
                  <a:lnTo>
                    <a:pt x="1084" y="15323"/>
                  </a:lnTo>
                  <a:lnTo>
                    <a:pt x="1208" y="15351"/>
                  </a:lnTo>
                  <a:lnTo>
                    <a:pt x="1355" y="15380"/>
                  </a:lnTo>
                  <a:lnTo>
                    <a:pt x="1513" y="15380"/>
                  </a:lnTo>
                  <a:lnTo>
                    <a:pt x="1683" y="15380"/>
                  </a:lnTo>
                  <a:lnTo>
                    <a:pt x="1864" y="15351"/>
                  </a:lnTo>
                  <a:lnTo>
                    <a:pt x="2033" y="15323"/>
                  </a:lnTo>
                  <a:lnTo>
                    <a:pt x="2225" y="15238"/>
                  </a:lnTo>
                  <a:lnTo>
                    <a:pt x="2428" y="15153"/>
                  </a:lnTo>
                  <a:lnTo>
                    <a:pt x="2745" y="15026"/>
                  </a:lnTo>
                  <a:lnTo>
                    <a:pt x="3005" y="14913"/>
                  </a:lnTo>
                  <a:lnTo>
                    <a:pt x="3264" y="14828"/>
                  </a:lnTo>
                  <a:lnTo>
                    <a:pt x="3513" y="14800"/>
                  </a:lnTo>
                  <a:lnTo>
                    <a:pt x="3615" y="14828"/>
                  </a:lnTo>
                  <a:lnTo>
                    <a:pt x="3728" y="14857"/>
                  </a:lnTo>
                  <a:lnTo>
                    <a:pt x="3807" y="14913"/>
                  </a:lnTo>
                  <a:lnTo>
                    <a:pt x="3920" y="14998"/>
                  </a:lnTo>
                  <a:lnTo>
                    <a:pt x="4010" y="15097"/>
                  </a:lnTo>
                  <a:lnTo>
                    <a:pt x="4089" y="15238"/>
                  </a:lnTo>
                  <a:lnTo>
                    <a:pt x="4179" y="15408"/>
                  </a:lnTo>
                  <a:lnTo>
                    <a:pt x="4247" y="15620"/>
                  </a:lnTo>
                  <a:lnTo>
                    <a:pt x="4326" y="15860"/>
                  </a:lnTo>
                  <a:lnTo>
                    <a:pt x="4394" y="16129"/>
                  </a:lnTo>
                  <a:lnTo>
                    <a:pt x="4439" y="16440"/>
                  </a:lnTo>
                  <a:lnTo>
                    <a:pt x="4507" y="16737"/>
                  </a:lnTo>
                  <a:lnTo>
                    <a:pt x="4552" y="17090"/>
                  </a:lnTo>
                  <a:lnTo>
                    <a:pt x="4575" y="17443"/>
                  </a:lnTo>
                  <a:lnTo>
                    <a:pt x="4586" y="17825"/>
                  </a:lnTo>
                  <a:lnTo>
                    <a:pt x="4586" y="18193"/>
                  </a:lnTo>
                  <a:lnTo>
                    <a:pt x="4586" y="18574"/>
                  </a:lnTo>
                  <a:lnTo>
                    <a:pt x="4586" y="18984"/>
                  </a:lnTo>
                  <a:lnTo>
                    <a:pt x="4552" y="19366"/>
                  </a:lnTo>
                  <a:lnTo>
                    <a:pt x="4507" y="19748"/>
                  </a:lnTo>
                  <a:lnTo>
                    <a:pt x="4462" y="20129"/>
                  </a:lnTo>
                  <a:lnTo>
                    <a:pt x="4371" y="20483"/>
                  </a:lnTo>
                  <a:lnTo>
                    <a:pt x="4292" y="20836"/>
                  </a:lnTo>
                  <a:lnTo>
                    <a:pt x="4202" y="21161"/>
                  </a:lnTo>
                  <a:lnTo>
                    <a:pt x="4744" y="21161"/>
                  </a:lnTo>
                  <a:lnTo>
                    <a:pt x="5264" y="21161"/>
                  </a:lnTo>
                  <a:lnTo>
                    <a:pt x="5784" y="21161"/>
                  </a:lnTo>
                  <a:lnTo>
                    <a:pt x="6235" y="21161"/>
                  </a:lnTo>
                  <a:lnTo>
                    <a:pt x="6676" y="21161"/>
                  </a:lnTo>
                  <a:lnTo>
                    <a:pt x="7060" y="21161"/>
                  </a:lnTo>
                  <a:lnTo>
                    <a:pt x="7410" y="21161"/>
                  </a:lnTo>
                  <a:lnTo>
                    <a:pt x="7670" y="21161"/>
                  </a:lnTo>
                  <a:lnTo>
                    <a:pt x="8020" y="21020"/>
                  </a:lnTo>
                  <a:lnTo>
                    <a:pt x="8303" y="20893"/>
                  </a:lnTo>
                  <a:lnTo>
                    <a:pt x="8563" y="20695"/>
                  </a:lnTo>
                  <a:lnTo>
                    <a:pt x="8800" y="20511"/>
                  </a:lnTo>
                  <a:lnTo>
                    <a:pt x="8969" y="20285"/>
                  </a:lnTo>
                  <a:lnTo>
                    <a:pt x="9150" y="20045"/>
                  </a:lnTo>
                  <a:lnTo>
                    <a:pt x="9252" y="19804"/>
                  </a:lnTo>
                  <a:lnTo>
                    <a:pt x="9342" y="19550"/>
                  </a:lnTo>
                  <a:lnTo>
                    <a:pt x="9410" y="19281"/>
                  </a:lnTo>
                  <a:lnTo>
                    <a:pt x="9433" y="19013"/>
                  </a:lnTo>
                  <a:lnTo>
                    <a:pt x="9433" y="18744"/>
                  </a:lnTo>
                  <a:lnTo>
                    <a:pt x="9387" y="18504"/>
                  </a:lnTo>
                  <a:lnTo>
                    <a:pt x="9320" y="18221"/>
                  </a:lnTo>
                  <a:lnTo>
                    <a:pt x="9207" y="17981"/>
                  </a:lnTo>
                  <a:lnTo>
                    <a:pt x="9105" y="17740"/>
                  </a:lnTo>
                  <a:lnTo>
                    <a:pt x="8924" y="17514"/>
                  </a:lnTo>
                  <a:lnTo>
                    <a:pt x="8777" y="17274"/>
                  </a:lnTo>
                  <a:lnTo>
                    <a:pt x="8642" y="17034"/>
                  </a:lnTo>
                  <a:lnTo>
                    <a:pt x="8563" y="16765"/>
                  </a:lnTo>
                  <a:lnTo>
                    <a:pt x="8472" y="16468"/>
                  </a:lnTo>
                  <a:lnTo>
                    <a:pt x="8450" y="16157"/>
                  </a:lnTo>
                  <a:lnTo>
                    <a:pt x="8450" y="15860"/>
                  </a:lnTo>
                  <a:lnTo>
                    <a:pt x="8472" y="15563"/>
                  </a:lnTo>
                  <a:lnTo>
                    <a:pt x="8540" y="15267"/>
                  </a:lnTo>
                  <a:lnTo>
                    <a:pt x="8642" y="14998"/>
                  </a:lnTo>
                  <a:lnTo>
                    <a:pt x="8777" y="14729"/>
                  </a:lnTo>
                  <a:lnTo>
                    <a:pt x="8868" y="14616"/>
                  </a:lnTo>
                  <a:lnTo>
                    <a:pt x="8969" y="14475"/>
                  </a:lnTo>
                  <a:lnTo>
                    <a:pt x="9060" y="14376"/>
                  </a:lnTo>
                  <a:lnTo>
                    <a:pt x="9184" y="14291"/>
                  </a:lnTo>
                  <a:lnTo>
                    <a:pt x="9297" y="14206"/>
                  </a:lnTo>
                  <a:lnTo>
                    <a:pt x="9433" y="14121"/>
                  </a:lnTo>
                  <a:lnTo>
                    <a:pt x="9579" y="14051"/>
                  </a:lnTo>
                  <a:lnTo>
                    <a:pt x="9726" y="13994"/>
                  </a:lnTo>
                  <a:lnTo>
                    <a:pt x="9884" y="13938"/>
                  </a:lnTo>
                  <a:lnTo>
                    <a:pt x="10054" y="13909"/>
                  </a:lnTo>
                  <a:lnTo>
                    <a:pt x="10257" y="13881"/>
                  </a:lnTo>
                  <a:lnTo>
                    <a:pt x="10449" y="13881"/>
                  </a:lnTo>
                  <a:lnTo>
                    <a:pt x="10664" y="13881"/>
                  </a:lnTo>
                  <a:lnTo>
                    <a:pt x="10856" y="13909"/>
                  </a:lnTo>
                  <a:lnTo>
                    <a:pt x="11037" y="13966"/>
                  </a:lnTo>
                  <a:lnTo>
                    <a:pt x="11206" y="14023"/>
                  </a:lnTo>
                  <a:lnTo>
                    <a:pt x="11353" y="14093"/>
                  </a:lnTo>
                  <a:lnTo>
                    <a:pt x="11511" y="14178"/>
                  </a:lnTo>
                  <a:lnTo>
                    <a:pt x="11635" y="14263"/>
                  </a:lnTo>
                  <a:lnTo>
                    <a:pt x="11748" y="14376"/>
                  </a:lnTo>
                  <a:lnTo>
                    <a:pt x="11861" y="14475"/>
                  </a:lnTo>
                  <a:lnTo>
                    <a:pt x="11941" y="14616"/>
                  </a:lnTo>
                  <a:lnTo>
                    <a:pt x="12031" y="14758"/>
                  </a:lnTo>
                  <a:lnTo>
                    <a:pt x="12099" y="14885"/>
                  </a:lnTo>
                  <a:lnTo>
                    <a:pt x="12200" y="15210"/>
                  </a:lnTo>
                  <a:lnTo>
                    <a:pt x="12268" y="15507"/>
                  </a:lnTo>
                  <a:lnTo>
                    <a:pt x="12291" y="15832"/>
                  </a:lnTo>
                  <a:lnTo>
                    <a:pt x="12291" y="16157"/>
                  </a:lnTo>
                  <a:lnTo>
                    <a:pt x="12246" y="16482"/>
                  </a:lnTo>
                  <a:lnTo>
                    <a:pt x="12178" y="16807"/>
                  </a:lnTo>
                  <a:lnTo>
                    <a:pt x="12099" y="17090"/>
                  </a:lnTo>
                  <a:lnTo>
                    <a:pt x="12008" y="17330"/>
                  </a:lnTo>
                  <a:lnTo>
                    <a:pt x="11884" y="17542"/>
                  </a:lnTo>
                  <a:lnTo>
                    <a:pt x="11748" y="17712"/>
                  </a:lnTo>
                  <a:lnTo>
                    <a:pt x="11613" y="17839"/>
                  </a:lnTo>
                  <a:lnTo>
                    <a:pt x="11489" y="18037"/>
                  </a:lnTo>
                  <a:lnTo>
                    <a:pt x="11398" y="18221"/>
                  </a:lnTo>
                  <a:lnTo>
                    <a:pt x="11319" y="18447"/>
                  </a:lnTo>
                  <a:lnTo>
                    <a:pt x="11251" y="18659"/>
                  </a:lnTo>
                  <a:lnTo>
                    <a:pt x="11206" y="18900"/>
                  </a:lnTo>
                  <a:lnTo>
                    <a:pt x="11184" y="19154"/>
                  </a:lnTo>
                  <a:lnTo>
                    <a:pt x="11184" y="19423"/>
                  </a:lnTo>
                  <a:lnTo>
                    <a:pt x="11229" y="19663"/>
                  </a:lnTo>
                  <a:lnTo>
                    <a:pt x="11297" y="19903"/>
                  </a:lnTo>
                  <a:lnTo>
                    <a:pt x="11376" y="20158"/>
                  </a:lnTo>
                  <a:lnTo>
                    <a:pt x="11511" y="20398"/>
                  </a:lnTo>
                  <a:lnTo>
                    <a:pt x="11681" y="20610"/>
                  </a:lnTo>
                  <a:lnTo>
                    <a:pt x="11884" y="20808"/>
                  </a:lnTo>
                  <a:lnTo>
                    <a:pt x="12121" y="20992"/>
                  </a:lnTo>
                  <a:lnTo>
                    <a:pt x="12404" y="21161"/>
                  </a:lnTo>
                  <a:lnTo>
                    <a:pt x="12528" y="21190"/>
                  </a:lnTo>
                  <a:lnTo>
                    <a:pt x="12856" y="21274"/>
                  </a:lnTo>
                  <a:lnTo>
                    <a:pt x="13330" y="21373"/>
                  </a:lnTo>
                  <a:lnTo>
                    <a:pt x="13963" y="21486"/>
                  </a:lnTo>
                  <a:lnTo>
                    <a:pt x="14313" y="21543"/>
                  </a:lnTo>
                  <a:lnTo>
                    <a:pt x="14652" y="21571"/>
                  </a:lnTo>
                  <a:lnTo>
                    <a:pt x="15025" y="21600"/>
                  </a:lnTo>
                  <a:lnTo>
                    <a:pt x="15409" y="21600"/>
                  </a:lnTo>
                  <a:lnTo>
                    <a:pt x="15782" y="21600"/>
                  </a:lnTo>
                  <a:lnTo>
                    <a:pt x="16177" y="21571"/>
                  </a:lnTo>
                  <a:lnTo>
                    <a:pt x="16516" y="21486"/>
                  </a:lnTo>
                  <a:lnTo>
                    <a:pt x="16889" y="21402"/>
                  </a:lnTo>
                  <a:lnTo>
                    <a:pt x="16821" y="21190"/>
                  </a:lnTo>
                  <a:lnTo>
                    <a:pt x="16776" y="20935"/>
                  </a:lnTo>
                  <a:lnTo>
                    <a:pt x="16742" y="20667"/>
                  </a:lnTo>
                  <a:lnTo>
                    <a:pt x="16719" y="20370"/>
                  </a:lnTo>
                  <a:lnTo>
                    <a:pt x="16697" y="19719"/>
                  </a:lnTo>
                  <a:lnTo>
                    <a:pt x="16697" y="19013"/>
                  </a:lnTo>
                  <a:lnTo>
                    <a:pt x="16719" y="18306"/>
                  </a:lnTo>
                  <a:lnTo>
                    <a:pt x="16753" y="17599"/>
                  </a:lnTo>
                  <a:lnTo>
                    <a:pt x="16821" y="16949"/>
                  </a:lnTo>
                  <a:lnTo>
                    <a:pt x="16889" y="16383"/>
                  </a:lnTo>
                  <a:lnTo>
                    <a:pt x="16934" y="16129"/>
                  </a:lnTo>
                  <a:lnTo>
                    <a:pt x="17002" y="15945"/>
                  </a:lnTo>
                  <a:lnTo>
                    <a:pt x="17081" y="15790"/>
                  </a:lnTo>
                  <a:lnTo>
                    <a:pt x="17194" y="15648"/>
                  </a:lnTo>
                  <a:lnTo>
                    <a:pt x="17318" y="15563"/>
                  </a:lnTo>
                  <a:lnTo>
                    <a:pt x="17453" y="15507"/>
                  </a:lnTo>
                  <a:lnTo>
                    <a:pt x="17600" y="15450"/>
                  </a:lnTo>
                  <a:lnTo>
                    <a:pt x="17758" y="15450"/>
                  </a:lnTo>
                  <a:lnTo>
                    <a:pt x="17905" y="15479"/>
                  </a:lnTo>
                  <a:lnTo>
                    <a:pt x="18064" y="15535"/>
                  </a:lnTo>
                  <a:lnTo>
                    <a:pt x="18233" y="15620"/>
                  </a:lnTo>
                  <a:lnTo>
                    <a:pt x="18380" y="15733"/>
                  </a:lnTo>
                  <a:lnTo>
                    <a:pt x="18561" y="15832"/>
                  </a:lnTo>
                  <a:lnTo>
                    <a:pt x="18707" y="15973"/>
                  </a:lnTo>
                  <a:lnTo>
                    <a:pt x="18866" y="16129"/>
                  </a:lnTo>
                  <a:lnTo>
                    <a:pt x="18990" y="16327"/>
                  </a:lnTo>
                  <a:lnTo>
                    <a:pt x="19125" y="16482"/>
                  </a:lnTo>
                  <a:lnTo>
                    <a:pt x="19295" y="16624"/>
                  </a:lnTo>
                  <a:lnTo>
                    <a:pt x="19464" y="16737"/>
                  </a:lnTo>
                  <a:lnTo>
                    <a:pt x="19668" y="16807"/>
                  </a:lnTo>
                  <a:lnTo>
                    <a:pt x="19860" y="16836"/>
                  </a:lnTo>
                  <a:lnTo>
                    <a:pt x="20052" y="16864"/>
                  </a:lnTo>
                  <a:lnTo>
                    <a:pt x="20266" y="16836"/>
                  </a:lnTo>
                  <a:lnTo>
                    <a:pt x="20470" y="16793"/>
                  </a:lnTo>
                  <a:lnTo>
                    <a:pt x="20662" y="16708"/>
                  </a:lnTo>
                  <a:lnTo>
                    <a:pt x="20854" y="16567"/>
                  </a:lnTo>
                  <a:lnTo>
                    <a:pt x="21035" y="16412"/>
                  </a:lnTo>
                  <a:lnTo>
                    <a:pt x="21182" y="16214"/>
                  </a:lnTo>
                  <a:lnTo>
                    <a:pt x="21340" y="16002"/>
                  </a:lnTo>
                  <a:lnTo>
                    <a:pt x="21441" y="15733"/>
                  </a:lnTo>
                  <a:lnTo>
                    <a:pt x="21532" y="15436"/>
                  </a:lnTo>
                  <a:lnTo>
                    <a:pt x="21600" y="15083"/>
                  </a:lnTo>
                  <a:lnTo>
                    <a:pt x="21600" y="14885"/>
                  </a:lnTo>
                  <a:lnTo>
                    <a:pt x="21600" y="14729"/>
                  </a:lnTo>
                  <a:lnTo>
                    <a:pt x="21600" y="14531"/>
                  </a:lnTo>
                  <a:lnTo>
                    <a:pt x="21577" y="14376"/>
                  </a:lnTo>
                  <a:lnTo>
                    <a:pt x="21532" y="14206"/>
                  </a:lnTo>
                  <a:lnTo>
                    <a:pt x="21487" y="14051"/>
                  </a:lnTo>
                  <a:lnTo>
                    <a:pt x="21419" y="13909"/>
                  </a:lnTo>
                  <a:lnTo>
                    <a:pt x="21351" y="13768"/>
                  </a:lnTo>
                  <a:lnTo>
                    <a:pt x="21204" y="13500"/>
                  </a:lnTo>
                  <a:lnTo>
                    <a:pt x="21035" y="13287"/>
                  </a:lnTo>
                  <a:lnTo>
                    <a:pt x="20809" y="13090"/>
                  </a:lnTo>
                  <a:lnTo>
                    <a:pt x="20594" y="12962"/>
                  </a:lnTo>
                  <a:lnTo>
                    <a:pt x="20357" y="12821"/>
                  </a:lnTo>
                  <a:lnTo>
                    <a:pt x="20120" y="12764"/>
                  </a:lnTo>
                  <a:lnTo>
                    <a:pt x="19882" y="12708"/>
                  </a:lnTo>
                  <a:lnTo>
                    <a:pt x="19645" y="12736"/>
                  </a:lnTo>
                  <a:lnTo>
                    <a:pt x="19430" y="12793"/>
                  </a:lnTo>
                  <a:lnTo>
                    <a:pt x="19227" y="12906"/>
                  </a:lnTo>
                  <a:lnTo>
                    <a:pt x="19148" y="12962"/>
                  </a:lnTo>
                  <a:lnTo>
                    <a:pt x="19058" y="13047"/>
                  </a:lnTo>
                  <a:lnTo>
                    <a:pt x="18990" y="13146"/>
                  </a:lnTo>
                  <a:lnTo>
                    <a:pt x="18911" y="13259"/>
                  </a:lnTo>
                  <a:lnTo>
                    <a:pt x="18775" y="13471"/>
                  </a:lnTo>
                  <a:lnTo>
                    <a:pt x="18628" y="13641"/>
                  </a:lnTo>
                  <a:lnTo>
                    <a:pt x="18470" y="13740"/>
                  </a:lnTo>
                  <a:lnTo>
                    <a:pt x="18301" y="13825"/>
                  </a:lnTo>
                  <a:lnTo>
                    <a:pt x="18143" y="13853"/>
                  </a:lnTo>
                  <a:lnTo>
                    <a:pt x="17973" y="13881"/>
                  </a:lnTo>
                  <a:lnTo>
                    <a:pt x="17804" y="13853"/>
                  </a:lnTo>
                  <a:lnTo>
                    <a:pt x="17646" y="13796"/>
                  </a:lnTo>
                  <a:lnTo>
                    <a:pt x="17499" y="13726"/>
                  </a:lnTo>
                  <a:lnTo>
                    <a:pt x="17341" y="13641"/>
                  </a:lnTo>
                  <a:lnTo>
                    <a:pt x="17216" y="13528"/>
                  </a:lnTo>
                  <a:lnTo>
                    <a:pt x="17103" y="13386"/>
                  </a:lnTo>
                  <a:lnTo>
                    <a:pt x="17024" y="13259"/>
                  </a:lnTo>
                  <a:lnTo>
                    <a:pt x="16934" y="13118"/>
                  </a:lnTo>
                  <a:lnTo>
                    <a:pt x="16889" y="12991"/>
                  </a:lnTo>
                  <a:lnTo>
                    <a:pt x="16889" y="12849"/>
                  </a:lnTo>
                  <a:lnTo>
                    <a:pt x="16889" y="12383"/>
                  </a:lnTo>
                  <a:lnTo>
                    <a:pt x="16889" y="11662"/>
                  </a:lnTo>
                  <a:lnTo>
                    <a:pt x="16889" y="10701"/>
                  </a:lnTo>
                  <a:lnTo>
                    <a:pt x="16889" y="9640"/>
                  </a:lnTo>
                  <a:lnTo>
                    <a:pt x="16889" y="8566"/>
                  </a:lnTo>
                  <a:lnTo>
                    <a:pt x="16889" y="7478"/>
                  </a:lnTo>
                  <a:lnTo>
                    <a:pt x="16889" y="6502"/>
                  </a:lnTo>
                  <a:lnTo>
                    <a:pt x="16889" y="5739"/>
                  </a:lnTo>
                  <a:lnTo>
                    <a:pt x="16674" y="5894"/>
                  </a:lnTo>
                  <a:lnTo>
                    <a:pt x="16414" y="6036"/>
                  </a:lnTo>
                  <a:lnTo>
                    <a:pt x="16154" y="6177"/>
                  </a:lnTo>
                  <a:lnTo>
                    <a:pt x="15849" y="6248"/>
                  </a:lnTo>
                  <a:lnTo>
                    <a:pt x="15544" y="6304"/>
                  </a:lnTo>
                  <a:lnTo>
                    <a:pt x="15217" y="6332"/>
                  </a:lnTo>
                  <a:lnTo>
                    <a:pt x="14866" y="6361"/>
                  </a:lnTo>
                  <a:lnTo>
                    <a:pt x="14550" y="6361"/>
                  </a:lnTo>
                  <a:lnTo>
                    <a:pt x="14200" y="6332"/>
                  </a:lnTo>
                  <a:lnTo>
                    <a:pt x="13850" y="6276"/>
                  </a:lnTo>
                  <a:lnTo>
                    <a:pt x="13522" y="6219"/>
                  </a:lnTo>
                  <a:lnTo>
                    <a:pt x="13206" y="6149"/>
                  </a:lnTo>
                  <a:lnTo>
                    <a:pt x="12901" y="6064"/>
                  </a:lnTo>
                  <a:lnTo>
                    <a:pt x="12618" y="5951"/>
                  </a:lnTo>
                  <a:lnTo>
                    <a:pt x="12358" y="5838"/>
                  </a:lnTo>
                  <a:lnTo>
                    <a:pt x="12121" y="5739"/>
                  </a:lnTo>
                  <a:lnTo>
                    <a:pt x="11941" y="5626"/>
                  </a:lnTo>
                  <a:lnTo>
                    <a:pt x="11794" y="5513"/>
                  </a:lnTo>
                  <a:lnTo>
                    <a:pt x="11658" y="5414"/>
                  </a:lnTo>
                  <a:lnTo>
                    <a:pt x="11556" y="5301"/>
                  </a:lnTo>
                  <a:lnTo>
                    <a:pt x="11466" y="5187"/>
                  </a:lnTo>
                  <a:lnTo>
                    <a:pt x="11398" y="5089"/>
                  </a:lnTo>
                  <a:lnTo>
                    <a:pt x="11376" y="4947"/>
                  </a:lnTo>
                  <a:lnTo>
                    <a:pt x="11353" y="4834"/>
                  </a:lnTo>
                  <a:lnTo>
                    <a:pt x="11353" y="4707"/>
                  </a:lnTo>
                  <a:lnTo>
                    <a:pt x="11376" y="4565"/>
                  </a:lnTo>
                  <a:lnTo>
                    <a:pt x="11443" y="4410"/>
                  </a:lnTo>
                  <a:lnTo>
                    <a:pt x="11511" y="4240"/>
                  </a:lnTo>
                  <a:lnTo>
                    <a:pt x="11703" y="3887"/>
                  </a:lnTo>
                  <a:lnTo>
                    <a:pt x="11986" y="3505"/>
                  </a:lnTo>
                  <a:lnTo>
                    <a:pt x="12144" y="3265"/>
                  </a:lnTo>
                  <a:lnTo>
                    <a:pt x="12246" y="3025"/>
                  </a:lnTo>
                  <a:lnTo>
                    <a:pt x="12336" y="2756"/>
                  </a:lnTo>
                  <a:lnTo>
                    <a:pt x="12404" y="2445"/>
                  </a:lnTo>
                  <a:lnTo>
                    <a:pt x="12438" y="2176"/>
                  </a:lnTo>
                  <a:lnTo>
                    <a:pt x="12438" y="1880"/>
                  </a:lnTo>
                  <a:lnTo>
                    <a:pt x="12404" y="1583"/>
                  </a:lnTo>
                  <a:lnTo>
                    <a:pt x="12336" y="1314"/>
                  </a:lnTo>
                  <a:lnTo>
                    <a:pt x="12246" y="1046"/>
                  </a:lnTo>
                  <a:lnTo>
                    <a:pt x="12099" y="791"/>
                  </a:lnTo>
                  <a:lnTo>
                    <a:pt x="12008" y="692"/>
                  </a:lnTo>
                  <a:lnTo>
                    <a:pt x="11918" y="579"/>
                  </a:lnTo>
                  <a:lnTo>
                    <a:pt x="11816" y="466"/>
                  </a:lnTo>
                  <a:lnTo>
                    <a:pt x="11703" y="381"/>
                  </a:lnTo>
                  <a:lnTo>
                    <a:pt x="11579" y="310"/>
                  </a:lnTo>
                  <a:lnTo>
                    <a:pt x="11443" y="226"/>
                  </a:lnTo>
                  <a:lnTo>
                    <a:pt x="11297" y="169"/>
                  </a:lnTo>
                  <a:lnTo>
                    <a:pt x="11138" y="113"/>
                  </a:lnTo>
                  <a:lnTo>
                    <a:pt x="10969" y="56"/>
                  </a:lnTo>
                  <a:lnTo>
                    <a:pt x="10800" y="28"/>
                  </a:lnTo>
                  <a:lnTo>
                    <a:pt x="10619" y="28"/>
                  </a:lnTo>
                  <a:lnTo>
                    <a:pt x="10404" y="28"/>
                  </a:lnTo>
                  <a:lnTo>
                    <a:pt x="10257" y="28"/>
                  </a:lnTo>
                  <a:lnTo>
                    <a:pt x="10076" y="56"/>
                  </a:lnTo>
                  <a:lnTo>
                    <a:pt x="9952" y="84"/>
                  </a:lnTo>
                  <a:lnTo>
                    <a:pt x="9794" y="141"/>
                  </a:lnTo>
                  <a:lnTo>
                    <a:pt x="9692" y="226"/>
                  </a:lnTo>
                  <a:lnTo>
                    <a:pt x="9557" y="282"/>
                  </a:lnTo>
                  <a:lnTo>
                    <a:pt x="9455" y="381"/>
                  </a:lnTo>
                  <a:lnTo>
                    <a:pt x="9365" y="466"/>
                  </a:lnTo>
                  <a:lnTo>
                    <a:pt x="9274" y="579"/>
                  </a:lnTo>
                  <a:lnTo>
                    <a:pt x="9184" y="692"/>
                  </a:lnTo>
                  <a:lnTo>
                    <a:pt x="9128" y="791"/>
                  </a:lnTo>
                  <a:lnTo>
                    <a:pt x="9060" y="932"/>
                  </a:lnTo>
                  <a:lnTo>
                    <a:pt x="8969" y="1201"/>
                  </a:lnTo>
                  <a:lnTo>
                    <a:pt x="8913" y="1498"/>
                  </a:lnTo>
                  <a:lnTo>
                    <a:pt x="8890" y="1795"/>
                  </a:lnTo>
                  <a:lnTo>
                    <a:pt x="8890" y="2120"/>
                  </a:lnTo>
                  <a:lnTo>
                    <a:pt x="8913" y="2445"/>
                  </a:lnTo>
                  <a:lnTo>
                    <a:pt x="8969" y="2756"/>
                  </a:lnTo>
                  <a:lnTo>
                    <a:pt x="9060" y="3081"/>
                  </a:lnTo>
                  <a:lnTo>
                    <a:pt x="9173" y="3378"/>
                  </a:lnTo>
                  <a:lnTo>
                    <a:pt x="9297" y="3647"/>
                  </a:lnTo>
                  <a:lnTo>
                    <a:pt x="9466" y="3887"/>
                  </a:lnTo>
                  <a:lnTo>
                    <a:pt x="9579" y="4085"/>
                  </a:lnTo>
                  <a:lnTo>
                    <a:pt x="9670" y="4269"/>
                  </a:lnTo>
                  <a:lnTo>
                    <a:pt x="9726" y="4467"/>
                  </a:lnTo>
                  <a:lnTo>
                    <a:pt x="9771" y="4650"/>
                  </a:lnTo>
                  <a:lnTo>
                    <a:pt x="9771" y="4834"/>
                  </a:lnTo>
                  <a:lnTo>
                    <a:pt x="9749" y="5032"/>
                  </a:lnTo>
                  <a:lnTo>
                    <a:pt x="9715" y="5216"/>
                  </a:lnTo>
                  <a:lnTo>
                    <a:pt x="9625" y="5385"/>
                  </a:lnTo>
                  <a:lnTo>
                    <a:pt x="9534" y="5513"/>
                  </a:lnTo>
                  <a:lnTo>
                    <a:pt x="9410" y="5626"/>
                  </a:lnTo>
                  <a:lnTo>
                    <a:pt x="9229" y="5710"/>
                  </a:lnTo>
                  <a:lnTo>
                    <a:pt x="9060" y="5767"/>
                  </a:lnTo>
                  <a:lnTo>
                    <a:pt x="8845" y="5767"/>
                  </a:lnTo>
                  <a:lnTo>
                    <a:pt x="8585" y="5739"/>
                  </a:lnTo>
                  <a:lnTo>
                    <a:pt x="8325" y="5654"/>
                  </a:lnTo>
                  <a:lnTo>
                    <a:pt x="8020" y="5513"/>
                  </a:lnTo>
                  <a:lnTo>
                    <a:pt x="7840" y="5442"/>
                  </a:lnTo>
                  <a:lnTo>
                    <a:pt x="7648" y="5385"/>
                  </a:lnTo>
                  <a:lnTo>
                    <a:pt x="7433" y="5329"/>
                  </a:lnTo>
                  <a:lnTo>
                    <a:pt x="7241" y="5301"/>
                  </a:lnTo>
                  <a:lnTo>
                    <a:pt x="6755" y="5301"/>
                  </a:lnTo>
                  <a:lnTo>
                    <a:pt x="6281" y="5329"/>
                  </a:lnTo>
                  <a:lnTo>
                    <a:pt x="5784" y="5385"/>
                  </a:lnTo>
                  <a:lnTo>
                    <a:pt x="5264" y="5498"/>
                  </a:lnTo>
                  <a:lnTo>
                    <a:pt x="4744" y="5597"/>
                  </a:lnTo>
                  <a:lnTo>
                    <a:pt x="4247" y="5739"/>
                  </a:lnTo>
                  <a:lnTo>
                    <a:pt x="4202" y="5894"/>
                  </a:lnTo>
                  <a:lnTo>
                    <a:pt x="4202" y="6191"/>
                  </a:lnTo>
                  <a:lnTo>
                    <a:pt x="4202" y="6545"/>
                  </a:lnTo>
                  <a:lnTo>
                    <a:pt x="4225" y="6954"/>
                  </a:lnTo>
                  <a:lnTo>
                    <a:pt x="4315" y="7930"/>
                  </a:lnTo>
                  <a:lnTo>
                    <a:pt x="4394" y="9018"/>
                  </a:lnTo>
                  <a:lnTo>
                    <a:pt x="4439" y="9570"/>
                  </a:lnTo>
                  <a:lnTo>
                    <a:pt x="4462" y="10107"/>
                  </a:lnTo>
                  <a:lnTo>
                    <a:pt x="4484" y="10630"/>
                  </a:lnTo>
                  <a:lnTo>
                    <a:pt x="4507" y="11082"/>
                  </a:lnTo>
                  <a:lnTo>
                    <a:pt x="4484" y="11520"/>
                  </a:lnTo>
                  <a:lnTo>
                    <a:pt x="4439" y="11874"/>
                  </a:lnTo>
                  <a:lnTo>
                    <a:pt x="4394" y="12029"/>
                  </a:lnTo>
                  <a:lnTo>
                    <a:pt x="4349" y="12171"/>
                  </a:lnTo>
                  <a:lnTo>
                    <a:pt x="4315" y="12284"/>
                  </a:lnTo>
                  <a:lnTo>
                    <a:pt x="4247" y="12354"/>
                  </a:lnTo>
                  <a:close/>
                </a:path>
              </a:pathLst>
            </a:custGeom>
            <a:solidFill>
              <a:srgbClr val="FFFFCC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4" name="Puzzle4"/>
            <p:cNvSpPr>
              <a:spLocks noEditPoints="1" noChangeArrowheads="1"/>
            </p:cNvSpPr>
            <p:nvPr/>
          </p:nvSpPr>
          <p:spPr bwMode="auto">
            <a:xfrm>
              <a:off x="2192" y="1719"/>
              <a:ext cx="1072" cy="1763"/>
            </a:xfrm>
            <a:custGeom>
              <a:avLst/>
              <a:gdLst>
                <a:gd name="T0" fmla="*/ 8307 w 21600"/>
                <a:gd name="T1" fmla="*/ 11593 h 21600"/>
                <a:gd name="T2" fmla="*/ 453 w 21600"/>
                <a:gd name="T3" fmla="*/ 16938 h 21600"/>
                <a:gd name="T4" fmla="*/ 11500 w 21600"/>
                <a:gd name="T5" fmla="*/ 21600 h 21600"/>
                <a:gd name="T6" fmla="*/ 20920 w 21600"/>
                <a:gd name="T7" fmla="*/ 16751 h 21600"/>
                <a:gd name="T8" fmla="*/ 13972 w 21600"/>
                <a:gd name="T9" fmla="*/ 10888 h 21600"/>
                <a:gd name="T10" fmla="*/ 21033 w 21600"/>
                <a:gd name="T11" fmla="*/ 4716 h 21600"/>
                <a:gd name="T12" fmla="*/ 11102 w 21600"/>
                <a:gd name="T13" fmla="*/ 11 h 21600"/>
                <a:gd name="T14" fmla="*/ 453 w 21600"/>
                <a:gd name="T15" fmla="*/ 4716 h 21600"/>
                <a:gd name="T16" fmla="*/ 2076 w 21600"/>
                <a:gd name="T17" fmla="*/ 5664 h 21600"/>
                <a:gd name="T18" fmla="*/ 20203 w 21600"/>
                <a:gd name="T19" fmla="*/ 1598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3813" y="10590"/>
                  </a:moveTo>
                  <a:lnTo>
                    <a:pt x="3927" y="10513"/>
                  </a:lnTo>
                  <a:lnTo>
                    <a:pt x="4078" y="10425"/>
                  </a:lnTo>
                  <a:lnTo>
                    <a:pt x="4210" y="10359"/>
                  </a:lnTo>
                  <a:lnTo>
                    <a:pt x="4361" y="10315"/>
                  </a:lnTo>
                  <a:lnTo>
                    <a:pt x="4682" y="10237"/>
                  </a:lnTo>
                  <a:lnTo>
                    <a:pt x="5041" y="10193"/>
                  </a:lnTo>
                  <a:lnTo>
                    <a:pt x="5456" y="10171"/>
                  </a:lnTo>
                  <a:lnTo>
                    <a:pt x="5853" y="10193"/>
                  </a:lnTo>
                  <a:lnTo>
                    <a:pt x="6249" y="10260"/>
                  </a:lnTo>
                  <a:lnTo>
                    <a:pt x="6646" y="10337"/>
                  </a:lnTo>
                  <a:lnTo>
                    <a:pt x="7004" y="10469"/>
                  </a:lnTo>
                  <a:lnTo>
                    <a:pt x="7363" y="10612"/>
                  </a:lnTo>
                  <a:lnTo>
                    <a:pt x="7665" y="10788"/>
                  </a:lnTo>
                  <a:lnTo>
                    <a:pt x="7911" y="10998"/>
                  </a:lnTo>
                  <a:lnTo>
                    <a:pt x="8024" y="11097"/>
                  </a:lnTo>
                  <a:lnTo>
                    <a:pt x="8137" y="11207"/>
                  </a:lnTo>
                  <a:lnTo>
                    <a:pt x="8194" y="11340"/>
                  </a:lnTo>
                  <a:lnTo>
                    <a:pt x="8269" y="11461"/>
                  </a:lnTo>
                  <a:lnTo>
                    <a:pt x="8307" y="11593"/>
                  </a:lnTo>
                  <a:lnTo>
                    <a:pt x="8307" y="11714"/>
                  </a:lnTo>
                  <a:lnTo>
                    <a:pt x="8307" y="11868"/>
                  </a:lnTo>
                  <a:lnTo>
                    <a:pt x="8307" y="12012"/>
                  </a:lnTo>
                  <a:lnTo>
                    <a:pt x="8194" y="12265"/>
                  </a:lnTo>
                  <a:lnTo>
                    <a:pt x="8062" y="12519"/>
                  </a:lnTo>
                  <a:lnTo>
                    <a:pt x="7873" y="12706"/>
                  </a:lnTo>
                  <a:lnTo>
                    <a:pt x="7627" y="12904"/>
                  </a:lnTo>
                  <a:lnTo>
                    <a:pt x="7363" y="13048"/>
                  </a:lnTo>
                  <a:lnTo>
                    <a:pt x="7080" y="13180"/>
                  </a:lnTo>
                  <a:lnTo>
                    <a:pt x="6759" y="13257"/>
                  </a:lnTo>
                  <a:lnTo>
                    <a:pt x="6419" y="13345"/>
                  </a:lnTo>
                  <a:lnTo>
                    <a:pt x="6098" y="13389"/>
                  </a:lnTo>
                  <a:lnTo>
                    <a:pt x="5739" y="13389"/>
                  </a:lnTo>
                  <a:lnTo>
                    <a:pt x="5418" y="13389"/>
                  </a:lnTo>
                  <a:lnTo>
                    <a:pt x="5079" y="13345"/>
                  </a:lnTo>
                  <a:lnTo>
                    <a:pt x="4758" y="13301"/>
                  </a:lnTo>
                  <a:lnTo>
                    <a:pt x="4474" y="13213"/>
                  </a:lnTo>
                  <a:lnTo>
                    <a:pt x="4172" y="13114"/>
                  </a:lnTo>
                  <a:lnTo>
                    <a:pt x="3965" y="12982"/>
                  </a:lnTo>
                  <a:lnTo>
                    <a:pt x="3738" y="12838"/>
                  </a:lnTo>
                  <a:lnTo>
                    <a:pt x="3493" y="12706"/>
                  </a:lnTo>
                  <a:lnTo>
                    <a:pt x="3228" y="12607"/>
                  </a:lnTo>
                  <a:lnTo>
                    <a:pt x="2945" y="12519"/>
                  </a:lnTo>
                  <a:lnTo>
                    <a:pt x="2700" y="12431"/>
                  </a:lnTo>
                  <a:lnTo>
                    <a:pt x="2397" y="12375"/>
                  </a:lnTo>
                  <a:lnTo>
                    <a:pt x="2152" y="12331"/>
                  </a:lnTo>
                  <a:lnTo>
                    <a:pt x="1888" y="12309"/>
                  </a:lnTo>
                  <a:lnTo>
                    <a:pt x="1642" y="12309"/>
                  </a:lnTo>
                  <a:lnTo>
                    <a:pt x="1397" y="12331"/>
                  </a:lnTo>
                  <a:lnTo>
                    <a:pt x="1170" y="12397"/>
                  </a:lnTo>
                  <a:lnTo>
                    <a:pt x="962" y="12453"/>
                  </a:lnTo>
                  <a:lnTo>
                    <a:pt x="774" y="12563"/>
                  </a:lnTo>
                  <a:lnTo>
                    <a:pt x="623" y="12684"/>
                  </a:lnTo>
                  <a:lnTo>
                    <a:pt x="528" y="12838"/>
                  </a:lnTo>
                  <a:lnTo>
                    <a:pt x="453" y="13026"/>
                  </a:lnTo>
                  <a:lnTo>
                    <a:pt x="339" y="13477"/>
                  </a:lnTo>
                  <a:lnTo>
                    <a:pt x="226" y="13984"/>
                  </a:lnTo>
                  <a:lnTo>
                    <a:pt x="151" y="14535"/>
                  </a:lnTo>
                  <a:lnTo>
                    <a:pt x="113" y="15075"/>
                  </a:lnTo>
                  <a:lnTo>
                    <a:pt x="113" y="15626"/>
                  </a:lnTo>
                  <a:lnTo>
                    <a:pt x="151" y="16133"/>
                  </a:lnTo>
                  <a:lnTo>
                    <a:pt x="188" y="16376"/>
                  </a:lnTo>
                  <a:lnTo>
                    <a:pt x="264" y="16585"/>
                  </a:lnTo>
                  <a:lnTo>
                    <a:pt x="339" y="16773"/>
                  </a:lnTo>
                  <a:lnTo>
                    <a:pt x="453" y="16938"/>
                  </a:lnTo>
                  <a:lnTo>
                    <a:pt x="1095" y="16883"/>
                  </a:lnTo>
                  <a:lnTo>
                    <a:pt x="1963" y="16795"/>
                  </a:lnTo>
                  <a:lnTo>
                    <a:pt x="2945" y="16751"/>
                  </a:lnTo>
                  <a:lnTo>
                    <a:pt x="3965" y="16706"/>
                  </a:lnTo>
                  <a:lnTo>
                    <a:pt x="5022" y="16684"/>
                  </a:lnTo>
                  <a:lnTo>
                    <a:pt x="5947" y="16684"/>
                  </a:lnTo>
                  <a:lnTo>
                    <a:pt x="6759" y="16706"/>
                  </a:lnTo>
                  <a:lnTo>
                    <a:pt x="7363" y="16751"/>
                  </a:lnTo>
                  <a:lnTo>
                    <a:pt x="7948" y="16839"/>
                  </a:lnTo>
                  <a:lnTo>
                    <a:pt x="8458" y="16916"/>
                  </a:lnTo>
                  <a:lnTo>
                    <a:pt x="8893" y="17026"/>
                  </a:lnTo>
                  <a:lnTo>
                    <a:pt x="9289" y="17158"/>
                  </a:lnTo>
                  <a:lnTo>
                    <a:pt x="9572" y="17280"/>
                  </a:lnTo>
                  <a:lnTo>
                    <a:pt x="9799" y="17412"/>
                  </a:lnTo>
                  <a:lnTo>
                    <a:pt x="9969" y="17555"/>
                  </a:lnTo>
                  <a:lnTo>
                    <a:pt x="10120" y="17687"/>
                  </a:lnTo>
                  <a:lnTo>
                    <a:pt x="10158" y="17831"/>
                  </a:lnTo>
                  <a:lnTo>
                    <a:pt x="10195" y="17974"/>
                  </a:lnTo>
                  <a:lnTo>
                    <a:pt x="10158" y="18128"/>
                  </a:lnTo>
                  <a:lnTo>
                    <a:pt x="10082" y="18271"/>
                  </a:lnTo>
                  <a:lnTo>
                    <a:pt x="9969" y="18426"/>
                  </a:lnTo>
                  <a:lnTo>
                    <a:pt x="9837" y="18569"/>
                  </a:lnTo>
                  <a:lnTo>
                    <a:pt x="9648" y="18701"/>
                  </a:lnTo>
                  <a:lnTo>
                    <a:pt x="9440" y="18822"/>
                  </a:lnTo>
                  <a:lnTo>
                    <a:pt x="9213" y="18999"/>
                  </a:lnTo>
                  <a:lnTo>
                    <a:pt x="9044" y="19186"/>
                  </a:lnTo>
                  <a:lnTo>
                    <a:pt x="8893" y="19395"/>
                  </a:lnTo>
                  <a:lnTo>
                    <a:pt x="8817" y="19627"/>
                  </a:lnTo>
                  <a:lnTo>
                    <a:pt x="8779" y="19858"/>
                  </a:lnTo>
                  <a:lnTo>
                    <a:pt x="8779" y="20112"/>
                  </a:lnTo>
                  <a:lnTo>
                    <a:pt x="8855" y="20354"/>
                  </a:lnTo>
                  <a:lnTo>
                    <a:pt x="8968" y="20586"/>
                  </a:lnTo>
                  <a:lnTo>
                    <a:pt x="9138" y="20817"/>
                  </a:lnTo>
                  <a:lnTo>
                    <a:pt x="9365" y="21026"/>
                  </a:lnTo>
                  <a:lnTo>
                    <a:pt x="9610" y="21192"/>
                  </a:lnTo>
                  <a:lnTo>
                    <a:pt x="9950" y="21368"/>
                  </a:lnTo>
                  <a:lnTo>
                    <a:pt x="10120" y="21445"/>
                  </a:lnTo>
                  <a:lnTo>
                    <a:pt x="10346" y="21511"/>
                  </a:lnTo>
                  <a:lnTo>
                    <a:pt x="10516" y="21555"/>
                  </a:lnTo>
                  <a:lnTo>
                    <a:pt x="10743" y="21600"/>
                  </a:lnTo>
                  <a:lnTo>
                    <a:pt x="10988" y="21644"/>
                  </a:lnTo>
                  <a:lnTo>
                    <a:pt x="11215" y="21666"/>
                  </a:lnTo>
                  <a:lnTo>
                    <a:pt x="11498" y="21666"/>
                  </a:lnTo>
                  <a:lnTo>
                    <a:pt x="11762" y="21666"/>
                  </a:lnTo>
                  <a:lnTo>
                    <a:pt x="12253" y="21644"/>
                  </a:lnTo>
                  <a:lnTo>
                    <a:pt x="12763" y="21577"/>
                  </a:lnTo>
                  <a:lnTo>
                    <a:pt x="13197" y="21467"/>
                  </a:lnTo>
                  <a:lnTo>
                    <a:pt x="13556" y="21346"/>
                  </a:lnTo>
                  <a:lnTo>
                    <a:pt x="13896" y="21192"/>
                  </a:lnTo>
                  <a:lnTo>
                    <a:pt x="14179" y="21026"/>
                  </a:lnTo>
                  <a:lnTo>
                    <a:pt x="14444" y="20839"/>
                  </a:lnTo>
                  <a:lnTo>
                    <a:pt x="14576" y="20641"/>
                  </a:lnTo>
                  <a:lnTo>
                    <a:pt x="14727" y="20431"/>
                  </a:lnTo>
                  <a:lnTo>
                    <a:pt x="14765" y="20200"/>
                  </a:lnTo>
                  <a:lnTo>
                    <a:pt x="14802" y="19991"/>
                  </a:lnTo>
                  <a:lnTo>
                    <a:pt x="14727" y="19759"/>
                  </a:lnTo>
                  <a:lnTo>
                    <a:pt x="14613" y="19550"/>
                  </a:lnTo>
                  <a:lnTo>
                    <a:pt x="14444" y="19307"/>
                  </a:lnTo>
                  <a:lnTo>
                    <a:pt x="14217" y="19098"/>
                  </a:lnTo>
                  <a:lnTo>
                    <a:pt x="13934" y="18911"/>
                  </a:lnTo>
                  <a:lnTo>
                    <a:pt x="13669" y="18745"/>
                  </a:lnTo>
                  <a:lnTo>
                    <a:pt x="13462" y="18547"/>
                  </a:lnTo>
                  <a:lnTo>
                    <a:pt x="13311" y="18337"/>
                  </a:lnTo>
                  <a:lnTo>
                    <a:pt x="13197" y="18150"/>
                  </a:lnTo>
                  <a:lnTo>
                    <a:pt x="13122" y="17941"/>
                  </a:lnTo>
                  <a:lnTo>
                    <a:pt x="13122" y="17720"/>
                  </a:lnTo>
                  <a:lnTo>
                    <a:pt x="13122" y="17533"/>
                  </a:lnTo>
                  <a:lnTo>
                    <a:pt x="13197" y="17346"/>
                  </a:lnTo>
                  <a:lnTo>
                    <a:pt x="13273" y="17158"/>
                  </a:lnTo>
                  <a:lnTo>
                    <a:pt x="13386" y="16982"/>
                  </a:lnTo>
                  <a:lnTo>
                    <a:pt x="13537" y="16839"/>
                  </a:lnTo>
                  <a:lnTo>
                    <a:pt x="13707" y="16706"/>
                  </a:lnTo>
                  <a:lnTo>
                    <a:pt x="13896" y="16607"/>
                  </a:lnTo>
                  <a:lnTo>
                    <a:pt x="14104" y="16519"/>
                  </a:lnTo>
                  <a:lnTo>
                    <a:pt x="14330" y="16453"/>
                  </a:lnTo>
                  <a:lnTo>
                    <a:pt x="14538" y="16431"/>
                  </a:lnTo>
                  <a:lnTo>
                    <a:pt x="14897" y="16453"/>
                  </a:lnTo>
                  <a:lnTo>
                    <a:pt x="15406" y="16497"/>
                  </a:lnTo>
                  <a:lnTo>
                    <a:pt x="16105" y="16541"/>
                  </a:lnTo>
                  <a:lnTo>
                    <a:pt x="16898" y="16607"/>
                  </a:lnTo>
                  <a:lnTo>
                    <a:pt x="17804" y="16651"/>
                  </a:lnTo>
                  <a:lnTo>
                    <a:pt x="18786" y="16684"/>
                  </a:lnTo>
                  <a:lnTo>
                    <a:pt x="19844" y="16728"/>
                  </a:lnTo>
                  <a:lnTo>
                    <a:pt x="20920" y="16751"/>
                  </a:lnTo>
                  <a:lnTo>
                    <a:pt x="21109" y="16497"/>
                  </a:lnTo>
                  <a:lnTo>
                    <a:pt x="21241" y="16222"/>
                  </a:lnTo>
                  <a:lnTo>
                    <a:pt x="21392" y="15946"/>
                  </a:lnTo>
                  <a:lnTo>
                    <a:pt x="21467" y="15648"/>
                  </a:lnTo>
                  <a:lnTo>
                    <a:pt x="21543" y="15351"/>
                  </a:lnTo>
                  <a:lnTo>
                    <a:pt x="21618" y="15042"/>
                  </a:lnTo>
                  <a:lnTo>
                    <a:pt x="21618" y="14745"/>
                  </a:lnTo>
                  <a:lnTo>
                    <a:pt x="21618" y="14447"/>
                  </a:lnTo>
                  <a:lnTo>
                    <a:pt x="21618" y="14150"/>
                  </a:lnTo>
                  <a:lnTo>
                    <a:pt x="21581" y="13852"/>
                  </a:lnTo>
                  <a:lnTo>
                    <a:pt x="21505" y="13577"/>
                  </a:lnTo>
                  <a:lnTo>
                    <a:pt x="21430" y="13301"/>
                  </a:lnTo>
                  <a:lnTo>
                    <a:pt x="21354" y="13048"/>
                  </a:lnTo>
                  <a:lnTo>
                    <a:pt x="21241" y="12816"/>
                  </a:lnTo>
                  <a:lnTo>
                    <a:pt x="21146" y="12607"/>
                  </a:lnTo>
                  <a:lnTo>
                    <a:pt x="21033" y="12431"/>
                  </a:lnTo>
                  <a:lnTo>
                    <a:pt x="20920" y="12265"/>
                  </a:lnTo>
                  <a:lnTo>
                    <a:pt x="20769" y="12144"/>
                  </a:lnTo>
                  <a:lnTo>
                    <a:pt x="20637" y="12034"/>
                  </a:lnTo>
                  <a:lnTo>
                    <a:pt x="20486" y="11946"/>
                  </a:lnTo>
                  <a:lnTo>
                    <a:pt x="20297" y="11891"/>
                  </a:lnTo>
                  <a:lnTo>
                    <a:pt x="20165" y="11846"/>
                  </a:lnTo>
                  <a:lnTo>
                    <a:pt x="19976" y="11824"/>
                  </a:lnTo>
                  <a:lnTo>
                    <a:pt x="19806" y="11802"/>
                  </a:lnTo>
                  <a:lnTo>
                    <a:pt x="19390" y="11824"/>
                  </a:lnTo>
                  <a:lnTo>
                    <a:pt x="18956" y="11891"/>
                  </a:lnTo>
                  <a:lnTo>
                    <a:pt x="18503" y="11968"/>
                  </a:lnTo>
                  <a:lnTo>
                    <a:pt x="17993" y="12078"/>
                  </a:lnTo>
                  <a:lnTo>
                    <a:pt x="17653" y="12144"/>
                  </a:lnTo>
                  <a:lnTo>
                    <a:pt x="17332" y="12199"/>
                  </a:lnTo>
                  <a:lnTo>
                    <a:pt x="17049" y="12221"/>
                  </a:lnTo>
                  <a:lnTo>
                    <a:pt x="16747" y="12243"/>
                  </a:lnTo>
                  <a:lnTo>
                    <a:pt x="16464" y="12243"/>
                  </a:lnTo>
                  <a:lnTo>
                    <a:pt x="16218" y="12243"/>
                  </a:lnTo>
                  <a:lnTo>
                    <a:pt x="15992" y="12221"/>
                  </a:lnTo>
                  <a:lnTo>
                    <a:pt x="15746" y="12199"/>
                  </a:lnTo>
                  <a:lnTo>
                    <a:pt x="15520" y="12155"/>
                  </a:lnTo>
                  <a:lnTo>
                    <a:pt x="15350" y="12122"/>
                  </a:lnTo>
                  <a:lnTo>
                    <a:pt x="15161" y="12056"/>
                  </a:lnTo>
                  <a:lnTo>
                    <a:pt x="14972" y="11990"/>
                  </a:lnTo>
                  <a:lnTo>
                    <a:pt x="14689" y="11846"/>
                  </a:lnTo>
                  <a:lnTo>
                    <a:pt x="14444" y="11670"/>
                  </a:lnTo>
                  <a:lnTo>
                    <a:pt x="14255" y="11483"/>
                  </a:lnTo>
                  <a:lnTo>
                    <a:pt x="14104" y="11295"/>
                  </a:lnTo>
                  <a:lnTo>
                    <a:pt x="14028" y="11086"/>
                  </a:lnTo>
                  <a:lnTo>
                    <a:pt x="13972" y="10888"/>
                  </a:lnTo>
                  <a:lnTo>
                    <a:pt x="13972" y="10700"/>
                  </a:lnTo>
                  <a:lnTo>
                    <a:pt x="14009" y="10513"/>
                  </a:lnTo>
                  <a:lnTo>
                    <a:pt x="14066" y="10359"/>
                  </a:lnTo>
                  <a:lnTo>
                    <a:pt x="14179" y="10215"/>
                  </a:lnTo>
                  <a:lnTo>
                    <a:pt x="14406" y="10006"/>
                  </a:lnTo>
                  <a:lnTo>
                    <a:pt x="14651" y="9830"/>
                  </a:lnTo>
                  <a:lnTo>
                    <a:pt x="14878" y="9686"/>
                  </a:lnTo>
                  <a:lnTo>
                    <a:pt x="15123" y="9554"/>
                  </a:lnTo>
                  <a:lnTo>
                    <a:pt x="15350" y="9477"/>
                  </a:lnTo>
                  <a:lnTo>
                    <a:pt x="15558" y="9411"/>
                  </a:lnTo>
                  <a:lnTo>
                    <a:pt x="15803" y="9345"/>
                  </a:lnTo>
                  <a:lnTo>
                    <a:pt x="16030" y="9323"/>
                  </a:lnTo>
                  <a:lnTo>
                    <a:pt x="16256" y="9301"/>
                  </a:lnTo>
                  <a:lnTo>
                    <a:pt x="16464" y="9323"/>
                  </a:lnTo>
                  <a:lnTo>
                    <a:pt x="16690" y="9345"/>
                  </a:lnTo>
                  <a:lnTo>
                    <a:pt x="16898" y="9367"/>
                  </a:lnTo>
                  <a:lnTo>
                    <a:pt x="17332" y="9477"/>
                  </a:lnTo>
                  <a:lnTo>
                    <a:pt x="17767" y="9598"/>
                  </a:lnTo>
                  <a:lnTo>
                    <a:pt x="18163" y="9731"/>
                  </a:lnTo>
                  <a:lnTo>
                    <a:pt x="18597" y="9874"/>
                  </a:lnTo>
                  <a:lnTo>
                    <a:pt x="18994" y="10006"/>
                  </a:lnTo>
                  <a:lnTo>
                    <a:pt x="19428" y="10083"/>
                  </a:lnTo>
                  <a:lnTo>
                    <a:pt x="19617" y="10127"/>
                  </a:lnTo>
                  <a:lnTo>
                    <a:pt x="19844" y="10149"/>
                  </a:lnTo>
                  <a:lnTo>
                    <a:pt x="20013" y="10149"/>
                  </a:lnTo>
                  <a:lnTo>
                    <a:pt x="20240" y="10127"/>
                  </a:lnTo>
                  <a:lnTo>
                    <a:pt x="20410" y="10105"/>
                  </a:lnTo>
                  <a:lnTo>
                    <a:pt x="20637" y="10061"/>
                  </a:lnTo>
                  <a:lnTo>
                    <a:pt x="20844" y="9984"/>
                  </a:lnTo>
                  <a:lnTo>
                    <a:pt x="21033" y="9896"/>
                  </a:lnTo>
                  <a:lnTo>
                    <a:pt x="21146" y="9830"/>
                  </a:lnTo>
                  <a:lnTo>
                    <a:pt x="21203" y="9753"/>
                  </a:lnTo>
                  <a:lnTo>
                    <a:pt x="21279" y="9642"/>
                  </a:lnTo>
                  <a:lnTo>
                    <a:pt x="21354" y="9521"/>
                  </a:lnTo>
                  <a:lnTo>
                    <a:pt x="21430" y="9246"/>
                  </a:lnTo>
                  <a:lnTo>
                    <a:pt x="21430" y="8904"/>
                  </a:lnTo>
                  <a:lnTo>
                    <a:pt x="21430" y="8540"/>
                  </a:lnTo>
                  <a:lnTo>
                    <a:pt x="21392" y="8144"/>
                  </a:lnTo>
                  <a:lnTo>
                    <a:pt x="21354" y="7714"/>
                  </a:lnTo>
                  <a:lnTo>
                    <a:pt x="21279" y="7295"/>
                  </a:lnTo>
                  <a:lnTo>
                    <a:pt x="21146" y="6446"/>
                  </a:lnTo>
                  <a:lnTo>
                    <a:pt x="20995" y="5686"/>
                  </a:lnTo>
                  <a:lnTo>
                    <a:pt x="20958" y="5366"/>
                  </a:lnTo>
                  <a:lnTo>
                    <a:pt x="20958" y="5091"/>
                  </a:lnTo>
                  <a:lnTo>
                    <a:pt x="20958" y="4860"/>
                  </a:lnTo>
                  <a:lnTo>
                    <a:pt x="21033" y="4716"/>
                  </a:lnTo>
                  <a:lnTo>
                    <a:pt x="20637" y="4860"/>
                  </a:lnTo>
                  <a:lnTo>
                    <a:pt x="20127" y="4992"/>
                  </a:lnTo>
                  <a:lnTo>
                    <a:pt x="19617" y="5069"/>
                  </a:lnTo>
                  <a:lnTo>
                    <a:pt x="19032" y="5157"/>
                  </a:lnTo>
                  <a:lnTo>
                    <a:pt x="18465" y="5201"/>
                  </a:lnTo>
                  <a:lnTo>
                    <a:pt x="17842" y="5245"/>
                  </a:lnTo>
                  <a:lnTo>
                    <a:pt x="17219" y="5267"/>
                  </a:lnTo>
                  <a:lnTo>
                    <a:pt x="16615" y="5267"/>
                  </a:lnTo>
                  <a:lnTo>
                    <a:pt x="15992" y="5245"/>
                  </a:lnTo>
                  <a:lnTo>
                    <a:pt x="15369" y="5201"/>
                  </a:lnTo>
                  <a:lnTo>
                    <a:pt x="14840" y="5157"/>
                  </a:lnTo>
                  <a:lnTo>
                    <a:pt x="14293" y="5091"/>
                  </a:lnTo>
                  <a:lnTo>
                    <a:pt x="13783" y="5014"/>
                  </a:lnTo>
                  <a:lnTo>
                    <a:pt x="13386" y="4926"/>
                  </a:lnTo>
                  <a:lnTo>
                    <a:pt x="13027" y="4815"/>
                  </a:lnTo>
                  <a:lnTo>
                    <a:pt x="12725" y="4716"/>
                  </a:lnTo>
                  <a:lnTo>
                    <a:pt x="12480" y="4606"/>
                  </a:lnTo>
                  <a:lnTo>
                    <a:pt x="12291" y="4496"/>
                  </a:lnTo>
                  <a:lnTo>
                    <a:pt x="12197" y="4397"/>
                  </a:lnTo>
                  <a:lnTo>
                    <a:pt x="12083" y="4286"/>
                  </a:lnTo>
                  <a:lnTo>
                    <a:pt x="12046" y="4187"/>
                  </a:lnTo>
                  <a:lnTo>
                    <a:pt x="12008" y="4077"/>
                  </a:lnTo>
                  <a:lnTo>
                    <a:pt x="12046" y="3967"/>
                  </a:lnTo>
                  <a:lnTo>
                    <a:pt x="12121" y="3868"/>
                  </a:lnTo>
                  <a:lnTo>
                    <a:pt x="12197" y="3735"/>
                  </a:lnTo>
                  <a:lnTo>
                    <a:pt x="12291" y="3614"/>
                  </a:lnTo>
                  <a:lnTo>
                    <a:pt x="12442" y="3482"/>
                  </a:lnTo>
                  <a:lnTo>
                    <a:pt x="12631" y="3361"/>
                  </a:lnTo>
                  <a:lnTo>
                    <a:pt x="13065" y="3085"/>
                  </a:lnTo>
                  <a:lnTo>
                    <a:pt x="13537" y="2766"/>
                  </a:lnTo>
                  <a:lnTo>
                    <a:pt x="13783" y="2578"/>
                  </a:lnTo>
                  <a:lnTo>
                    <a:pt x="13934" y="2380"/>
                  </a:lnTo>
                  <a:lnTo>
                    <a:pt x="14028" y="2171"/>
                  </a:lnTo>
                  <a:lnTo>
                    <a:pt x="14104" y="1961"/>
                  </a:lnTo>
                  <a:lnTo>
                    <a:pt x="14104" y="1730"/>
                  </a:lnTo>
                  <a:lnTo>
                    <a:pt x="14066" y="1498"/>
                  </a:lnTo>
                  <a:lnTo>
                    <a:pt x="13972" y="1267"/>
                  </a:lnTo>
                  <a:lnTo>
                    <a:pt x="13820" y="1057"/>
                  </a:lnTo>
                  <a:lnTo>
                    <a:pt x="13594" y="837"/>
                  </a:lnTo>
                  <a:lnTo>
                    <a:pt x="13386" y="628"/>
                  </a:lnTo>
                  <a:lnTo>
                    <a:pt x="13103" y="462"/>
                  </a:lnTo>
                  <a:lnTo>
                    <a:pt x="12763" y="308"/>
                  </a:lnTo>
                  <a:lnTo>
                    <a:pt x="12404" y="187"/>
                  </a:lnTo>
                  <a:lnTo>
                    <a:pt x="12008" y="77"/>
                  </a:lnTo>
                  <a:lnTo>
                    <a:pt x="11574" y="33"/>
                  </a:lnTo>
                  <a:lnTo>
                    <a:pt x="11102" y="11"/>
                  </a:lnTo>
                  <a:lnTo>
                    <a:pt x="10667" y="11"/>
                  </a:lnTo>
                  <a:lnTo>
                    <a:pt x="10233" y="77"/>
                  </a:lnTo>
                  <a:lnTo>
                    <a:pt x="9837" y="187"/>
                  </a:lnTo>
                  <a:lnTo>
                    <a:pt x="9440" y="286"/>
                  </a:lnTo>
                  <a:lnTo>
                    <a:pt x="9062" y="462"/>
                  </a:lnTo>
                  <a:lnTo>
                    <a:pt x="8741" y="628"/>
                  </a:lnTo>
                  <a:lnTo>
                    <a:pt x="8458" y="815"/>
                  </a:lnTo>
                  <a:lnTo>
                    <a:pt x="8232" y="1035"/>
                  </a:lnTo>
                  <a:lnTo>
                    <a:pt x="8062" y="1245"/>
                  </a:lnTo>
                  <a:lnTo>
                    <a:pt x="7911" y="1476"/>
                  </a:lnTo>
                  <a:lnTo>
                    <a:pt x="7835" y="1708"/>
                  </a:lnTo>
                  <a:lnTo>
                    <a:pt x="7797" y="1961"/>
                  </a:lnTo>
                  <a:lnTo>
                    <a:pt x="7835" y="2193"/>
                  </a:lnTo>
                  <a:lnTo>
                    <a:pt x="7948" y="2402"/>
                  </a:lnTo>
                  <a:lnTo>
                    <a:pt x="8062" y="2534"/>
                  </a:lnTo>
                  <a:lnTo>
                    <a:pt x="8175" y="2644"/>
                  </a:lnTo>
                  <a:lnTo>
                    <a:pt x="8269" y="2744"/>
                  </a:lnTo>
                  <a:lnTo>
                    <a:pt x="8420" y="2832"/>
                  </a:lnTo>
                  <a:lnTo>
                    <a:pt x="8704" y="3019"/>
                  </a:lnTo>
                  <a:lnTo>
                    <a:pt x="8968" y="3206"/>
                  </a:lnTo>
                  <a:lnTo>
                    <a:pt x="9138" y="3405"/>
                  </a:lnTo>
                  <a:lnTo>
                    <a:pt x="9327" y="3570"/>
                  </a:lnTo>
                  <a:lnTo>
                    <a:pt x="9440" y="3735"/>
                  </a:lnTo>
                  <a:lnTo>
                    <a:pt x="9516" y="3890"/>
                  </a:lnTo>
                  <a:lnTo>
                    <a:pt x="9534" y="4033"/>
                  </a:lnTo>
                  <a:lnTo>
                    <a:pt x="9534" y="4165"/>
                  </a:lnTo>
                  <a:lnTo>
                    <a:pt x="9516" y="4286"/>
                  </a:lnTo>
                  <a:lnTo>
                    <a:pt x="9440" y="4397"/>
                  </a:lnTo>
                  <a:lnTo>
                    <a:pt x="9327" y="4496"/>
                  </a:lnTo>
                  <a:lnTo>
                    <a:pt x="9176" y="4562"/>
                  </a:lnTo>
                  <a:lnTo>
                    <a:pt x="9006" y="4628"/>
                  </a:lnTo>
                  <a:lnTo>
                    <a:pt x="8779" y="4694"/>
                  </a:lnTo>
                  <a:lnTo>
                    <a:pt x="8534" y="4716"/>
                  </a:lnTo>
                  <a:lnTo>
                    <a:pt x="8232" y="4716"/>
                  </a:lnTo>
                  <a:lnTo>
                    <a:pt x="7118" y="4738"/>
                  </a:lnTo>
                  <a:lnTo>
                    <a:pt x="5947" y="4771"/>
                  </a:lnTo>
                  <a:lnTo>
                    <a:pt x="4795" y="4815"/>
                  </a:lnTo>
                  <a:lnTo>
                    <a:pt x="3681" y="4860"/>
                  </a:lnTo>
                  <a:lnTo>
                    <a:pt x="2662" y="4882"/>
                  </a:lnTo>
                  <a:lnTo>
                    <a:pt x="1755" y="4882"/>
                  </a:lnTo>
                  <a:lnTo>
                    <a:pt x="1359" y="4860"/>
                  </a:lnTo>
                  <a:lnTo>
                    <a:pt x="981" y="4837"/>
                  </a:lnTo>
                  <a:lnTo>
                    <a:pt x="698" y="4771"/>
                  </a:lnTo>
                  <a:lnTo>
                    <a:pt x="453" y="4716"/>
                  </a:lnTo>
                  <a:lnTo>
                    <a:pt x="453" y="5322"/>
                  </a:lnTo>
                  <a:lnTo>
                    <a:pt x="453" y="6083"/>
                  </a:lnTo>
                  <a:lnTo>
                    <a:pt x="453" y="6909"/>
                  </a:lnTo>
                  <a:lnTo>
                    <a:pt x="453" y="7780"/>
                  </a:lnTo>
                  <a:lnTo>
                    <a:pt x="453" y="8606"/>
                  </a:lnTo>
                  <a:lnTo>
                    <a:pt x="453" y="9345"/>
                  </a:lnTo>
                  <a:lnTo>
                    <a:pt x="453" y="9918"/>
                  </a:lnTo>
                  <a:lnTo>
                    <a:pt x="453" y="10282"/>
                  </a:lnTo>
                  <a:lnTo>
                    <a:pt x="490" y="10381"/>
                  </a:lnTo>
                  <a:lnTo>
                    <a:pt x="547" y="10491"/>
                  </a:lnTo>
                  <a:lnTo>
                    <a:pt x="660" y="10590"/>
                  </a:lnTo>
                  <a:lnTo>
                    <a:pt x="811" y="10700"/>
                  </a:lnTo>
                  <a:lnTo>
                    <a:pt x="981" y="10811"/>
                  </a:lnTo>
                  <a:lnTo>
                    <a:pt x="1208" y="10888"/>
                  </a:lnTo>
                  <a:lnTo>
                    <a:pt x="1453" y="10954"/>
                  </a:lnTo>
                  <a:lnTo>
                    <a:pt x="1718" y="11020"/>
                  </a:lnTo>
                  <a:lnTo>
                    <a:pt x="1963" y="11064"/>
                  </a:lnTo>
                  <a:lnTo>
                    <a:pt x="2265" y="11086"/>
                  </a:lnTo>
                  <a:lnTo>
                    <a:pt x="2548" y="11064"/>
                  </a:lnTo>
                  <a:lnTo>
                    <a:pt x="2794" y="11042"/>
                  </a:lnTo>
                  <a:lnTo>
                    <a:pt x="3096" y="10976"/>
                  </a:lnTo>
                  <a:lnTo>
                    <a:pt x="3341" y="10888"/>
                  </a:lnTo>
                  <a:lnTo>
                    <a:pt x="3606" y="10766"/>
                  </a:lnTo>
                  <a:lnTo>
                    <a:pt x="3813" y="10590"/>
                  </a:lnTo>
                  <a:close/>
                </a:path>
              </a:pathLst>
            </a:custGeom>
            <a:solidFill>
              <a:srgbClr val="D8EBB3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5" name="Puzzle1"/>
            <p:cNvSpPr>
              <a:spLocks noEditPoints="1" noChangeArrowheads="1"/>
            </p:cNvSpPr>
            <p:nvPr/>
          </p:nvSpPr>
          <p:spPr bwMode="auto">
            <a:xfrm>
              <a:off x="1824" y="1091"/>
              <a:ext cx="1800" cy="1051"/>
            </a:xfrm>
            <a:custGeom>
              <a:avLst/>
              <a:gdLst>
                <a:gd name="T0" fmla="*/ 16740 w 21600"/>
                <a:gd name="T1" fmla="*/ 21078 h 21600"/>
                <a:gd name="T2" fmla="*/ 16976 w 21600"/>
                <a:gd name="T3" fmla="*/ 521 h 21600"/>
                <a:gd name="T4" fmla="*/ 4725 w 21600"/>
                <a:gd name="T5" fmla="*/ 856 h 21600"/>
                <a:gd name="T6" fmla="*/ 5040 w 21600"/>
                <a:gd name="T7" fmla="*/ 21004 h 21600"/>
                <a:gd name="T8" fmla="*/ 10811 w 21600"/>
                <a:gd name="T9" fmla="*/ 12885 h 21600"/>
                <a:gd name="T10" fmla="*/ 10845 w 21600"/>
                <a:gd name="T11" fmla="*/ 8714 h 21600"/>
                <a:gd name="T12" fmla="*/ 21600 w 21600"/>
                <a:gd name="T13" fmla="*/ 10000 h 21600"/>
                <a:gd name="T14" fmla="*/ 56 w 21600"/>
                <a:gd name="T15" fmla="*/ 10000 h 21600"/>
                <a:gd name="T16" fmla="*/ 6086 w 21600"/>
                <a:gd name="T17" fmla="*/ 2569 h 21600"/>
                <a:gd name="T18" fmla="*/ 16132 w 21600"/>
                <a:gd name="T19" fmla="*/ 19552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9360" y="20836"/>
                  </a:moveTo>
                  <a:lnTo>
                    <a:pt x="9528" y="20836"/>
                  </a:lnTo>
                  <a:lnTo>
                    <a:pt x="9686" y="20762"/>
                  </a:lnTo>
                  <a:lnTo>
                    <a:pt x="9810" y="20687"/>
                  </a:lnTo>
                  <a:lnTo>
                    <a:pt x="9922" y="20575"/>
                  </a:lnTo>
                  <a:lnTo>
                    <a:pt x="10012" y="20426"/>
                  </a:lnTo>
                  <a:lnTo>
                    <a:pt x="10068" y="20296"/>
                  </a:lnTo>
                  <a:lnTo>
                    <a:pt x="10113" y="20110"/>
                  </a:lnTo>
                  <a:lnTo>
                    <a:pt x="10136" y="19905"/>
                  </a:lnTo>
                  <a:lnTo>
                    <a:pt x="10136" y="19682"/>
                  </a:lnTo>
                  <a:lnTo>
                    <a:pt x="10113" y="19440"/>
                  </a:lnTo>
                  <a:lnTo>
                    <a:pt x="10068" y="19142"/>
                  </a:lnTo>
                  <a:lnTo>
                    <a:pt x="10012" y="18900"/>
                  </a:lnTo>
                  <a:lnTo>
                    <a:pt x="9900" y="18620"/>
                  </a:lnTo>
                  <a:lnTo>
                    <a:pt x="9787" y="18285"/>
                  </a:lnTo>
                  <a:lnTo>
                    <a:pt x="9641" y="17968"/>
                  </a:lnTo>
                  <a:lnTo>
                    <a:pt x="9472" y="17652"/>
                  </a:lnTo>
                  <a:lnTo>
                    <a:pt x="9382" y="17466"/>
                  </a:lnTo>
                  <a:lnTo>
                    <a:pt x="9315" y="17298"/>
                  </a:lnTo>
                  <a:lnTo>
                    <a:pt x="9258" y="17112"/>
                  </a:lnTo>
                  <a:lnTo>
                    <a:pt x="9191" y="16926"/>
                  </a:lnTo>
                  <a:lnTo>
                    <a:pt x="9123" y="16535"/>
                  </a:lnTo>
                  <a:lnTo>
                    <a:pt x="9101" y="16144"/>
                  </a:lnTo>
                  <a:lnTo>
                    <a:pt x="9101" y="15753"/>
                  </a:lnTo>
                  <a:lnTo>
                    <a:pt x="9168" y="15362"/>
                  </a:lnTo>
                  <a:lnTo>
                    <a:pt x="9236" y="14971"/>
                  </a:lnTo>
                  <a:lnTo>
                    <a:pt x="9360" y="14580"/>
                  </a:lnTo>
                  <a:lnTo>
                    <a:pt x="9495" y="14244"/>
                  </a:lnTo>
                  <a:lnTo>
                    <a:pt x="9663" y="13891"/>
                  </a:lnTo>
                  <a:lnTo>
                    <a:pt x="9855" y="13611"/>
                  </a:lnTo>
                  <a:lnTo>
                    <a:pt x="10068" y="13351"/>
                  </a:lnTo>
                  <a:lnTo>
                    <a:pt x="10293" y="13146"/>
                  </a:lnTo>
                  <a:lnTo>
                    <a:pt x="10552" y="12997"/>
                  </a:lnTo>
                  <a:lnTo>
                    <a:pt x="10811" y="12885"/>
                  </a:lnTo>
                  <a:lnTo>
                    <a:pt x="11069" y="12866"/>
                  </a:lnTo>
                  <a:lnTo>
                    <a:pt x="11351" y="12885"/>
                  </a:lnTo>
                  <a:lnTo>
                    <a:pt x="11610" y="12997"/>
                  </a:lnTo>
                  <a:lnTo>
                    <a:pt x="11846" y="13183"/>
                  </a:lnTo>
                  <a:lnTo>
                    <a:pt x="12060" y="13388"/>
                  </a:lnTo>
                  <a:lnTo>
                    <a:pt x="12251" y="13648"/>
                  </a:lnTo>
                  <a:lnTo>
                    <a:pt x="12419" y="13928"/>
                  </a:lnTo>
                  <a:lnTo>
                    <a:pt x="12555" y="14244"/>
                  </a:lnTo>
                  <a:lnTo>
                    <a:pt x="12690" y="14617"/>
                  </a:lnTo>
                  <a:lnTo>
                    <a:pt x="12768" y="15008"/>
                  </a:lnTo>
                  <a:lnTo>
                    <a:pt x="12836" y="15399"/>
                  </a:lnTo>
                  <a:lnTo>
                    <a:pt x="12858" y="15753"/>
                  </a:lnTo>
                  <a:lnTo>
                    <a:pt x="12858" y="16144"/>
                  </a:lnTo>
                  <a:lnTo>
                    <a:pt x="12813" y="16535"/>
                  </a:lnTo>
                  <a:lnTo>
                    <a:pt x="12746" y="16888"/>
                  </a:lnTo>
                  <a:lnTo>
                    <a:pt x="12667" y="17224"/>
                  </a:lnTo>
                  <a:lnTo>
                    <a:pt x="12510" y="17503"/>
                  </a:lnTo>
                  <a:lnTo>
                    <a:pt x="12228" y="18043"/>
                  </a:lnTo>
                  <a:lnTo>
                    <a:pt x="11970" y="18546"/>
                  </a:lnTo>
                  <a:lnTo>
                    <a:pt x="11868" y="18751"/>
                  </a:lnTo>
                  <a:lnTo>
                    <a:pt x="11778" y="18974"/>
                  </a:lnTo>
                  <a:lnTo>
                    <a:pt x="11711" y="19179"/>
                  </a:lnTo>
                  <a:lnTo>
                    <a:pt x="11666" y="19365"/>
                  </a:lnTo>
                  <a:lnTo>
                    <a:pt x="11632" y="19570"/>
                  </a:lnTo>
                  <a:lnTo>
                    <a:pt x="11632" y="19756"/>
                  </a:lnTo>
                  <a:lnTo>
                    <a:pt x="11632" y="19942"/>
                  </a:lnTo>
                  <a:lnTo>
                    <a:pt x="11643" y="20110"/>
                  </a:lnTo>
                  <a:lnTo>
                    <a:pt x="11711" y="20296"/>
                  </a:lnTo>
                  <a:lnTo>
                    <a:pt x="11801" y="20464"/>
                  </a:lnTo>
                  <a:lnTo>
                    <a:pt x="11891" y="20650"/>
                  </a:lnTo>
                  <a:lnTo>
                    <a:pt x="12037" y="20836"/>
                  </a:lnTo>
                  <a:lnTo>
                    <a:pt x="12206" y="21004"/>
                  </a:lnTo>
                  <a:lnTo>
                    <a:pt x="12419" y="21190"/>
                  </a:lnTo>
                  <a:lnTo>
                    <a:pt x="12667" y="21320"/>
                  </a:lnTo>
                  <a:lnTo>
                    <a:pt x="12960" y="21432"/>
                  </a:lnTo>
                  <a:lnTo>
                    <a:pt x="13286" y="21544"/>
                  </a:lnTo>
                  <a:lnTo>
                    <a:pt x="13612" y="21655"/>
                  </a:lnTo>
                  <a:lnTo>
                    <a:pt x="13983" y="21693"/>
                  </a:lnTo>
                  <a:lnTo>
                    <a:pt x="14343" y="21730"/>
                  </a:lnTo>
                  <a:lnTo>
                    <a:pt x="14715" y="21730"/>
                  </a:lnTo>
                  <a:lnTo>
                    <a:pt x="15075" y="21730"/>
                  </a:lnTo>
                  <a:lnTo>
                    <a:pt x="15446" y="21655"/>
                  </a:lnTo>
                  <a:lnTo>
                    <a:pt x="15794" y="21581"/>
                  </a:lnTo>
                  <a:lnTo>
                    <a:pt x="16132" y="21432"/>
                  </a:lnTo>
                  <a:lnTo>
                    <a:pt x="16458" y="21302"/>
                  </a:lnTo>
                  <a:lnTo>
                    <a:pt x="16740" y="21078"/>
                  </a:lnTo>
                  <a:lnTo>
                    <a:pt x="16976" y="20836"/>
                  </a:lnTo>
                  <a:lnTo>
                    <a:pt x="17043" y="20650"/>
                  </a:lnTo>
                  <a:lnTo>
                    <a:pt x="17088" y="20426"/>
                  </a:lnTo>
                  <a:lnTo>
                    <a:pt x="17133" y="20222"/>
                  </a:lnTo>
                  <a:lnTo>
                    <a:pt x="17156" y="19980"/>
                  </a:lnTo>
                  <a:lnTo>
                    <a:pt x="17167" y="19477"/>
                  </a:lnTo>
                  <a:lnTo>
                    <a:pt x="17167" y="18974"/>
                  </a:lnTo>
                  <a:lnTo>
                    <a:pt x="17156" y="18397"/>
                  </a:lnTo>
                  <a:lnTo>
                    <a:pt x="17111" y="17820"/>
                  </a:lnTo>
                  <a:lnTo>
                    <a:pt x="17066" y="17261"/>
                  </a:lnTo>
                  <a:lnTo>
                    <a:pt x="16998" y="16646"/>
                  </a:lnTo>
                  <a:lnTo>
                    <a:pt x="16852" y="15511"/>
                  </a:lnTo>
                  <a:lnTo>
                    <a:pt x="16740" y="14393"/>
                  </a:lnTo>
                  <a:lnTo>
                    <a:pt x="16717" y="13928"/>
                  </a:lnTo>
                  <a:lnTo>
                    <a:pt x="16695" y="13462"/>
                  </a:lnTo>
                  <a:lnTo>
                    <a:pt x="16717" y="13071"/>
                  </a:lnTo>
                  <a:lnTo>
                    <a:pt x="16785" y="12755"/>
                  </a:lnTo>
                  <a:lnTo>
                    <a:pt x="16852" y="12419"/>
                  </a:lnTo>
                  <a:lnTo>
                    <a:pt x="16953" y="12140"/>
                  </a:lnTo>
                  <a:lnTo>
                    <a:pt x="17088" y="11898"/>
                  </a:lnTo>
                  <a:lnTo>
                    <a:pt x="17212" y="11675"/>
                  </a:lnTo>
                  <a:lnTo>
                    <a:pt x="17370" y="11470"/>
                  </a:lnTo>
                  <a:lnTo>
                    <a:pt x="17516" y="11284"/>
                  </a:lnTo>
                  <a:lnTo>
                    <a:pt x="17696" y="11135"/>
                  </a:lnTo>
                  <a:lnTo>
                    <a:pt x="17865" y="11042"/>
                  </a:lnTo>
                  <a:lnTo>
                    <a:pt x="18033" y="10930"/>
                  </a:lnTo>
                  <a:lnTo>
                    <a:pt x="18213" y="10893"/>
                  </a:lnTo>
                  <a:lnTo>
                    <a:pt x="18382" y="10893"/>
                  </a:lnTo>
                  <a:lnTo>
                    <a:pt x="18551" y="10967"/>
                  </a:lnTo>
                  <a:lnTo>
                    <a:pt x="18708" y="11042"/>
                  </a:lnTo>
                  <a:lnTo>
                    <a:pt x="18855" y="11172"/>
                  </a:lnTo>
                  <a:lnTo>
                    <a:pt x="19012" y="11358"/>
                  </a:lnTo>
                  <a:lnTo>
                    <a:pt x="19136" y="11600"/>
                  </a:lnTo>
                  <a:lnTo>
                    <a:pt x="19271" y="11861"/>
                  </a:lnTo>
                  <a:lnTo>
                    <a:pt x="19440" y="12028"/>
                  </a:lnTo>
                  <a:lnTo>
                    <a:pt x="19608" y="12177"/>
                  </a:lnTo>
                  <a:lnTo>
                    <a:pt x="19822" y="12289"/>
                  </a:lnTo>
                  <a:lnTo>
                    <a:pt x="20025" y="12289"/>
                  </a:lnTo>
                  <a:lnTo>
                    <a:pt x="20238" y="12289"/>
                  </a:lnTo>
                  <a:lnTo>
                    <a:pt x="20452" y="12215"/>
                  </a:lnTo>
                  <a:lnTo>
                    <a:pt x="20643" y="12103"/>
                  </a:lnTo>
                  <a:lnTo>
                    <a:pt x="20846" y="11973"/>
                  </a:lnTo>
                  <a:lnTo>
                    <a:pt x="21037" y="11786"/>
                  </a:lnTo>
                  <a:lnTo>
                    <a:pt x="21206" y="11563"/>
                  </a:lnTo>
                  <a:lnTo>
                    <a:pt x="21363" y="11321"/>
                  </a:lnTo>
                  <a:lnTo>
                    <a:pt x="21465" y="11079"/>
                  </a:lnTo>
                  <a:lnTo>
                    <a:pt x="21577" y="10744"/>
                  </a:lnTo>
                  <a:lnTo>
                    <a:pt x="21622" y="10427"/>
                  </a:lnTo>
                  <a:lnTo>
                    <a:pt x="21645" y="10111"/>
                  </a:lnTo>
                  <a:lnTo>
                    <a:pt x="21622" y="9608"/>
                  </a:lnTo>
                  <a:lnTo>
                    <a:pt x="21577" y="9142"/>
                  </a:lnTo>
                  <a:lnTo>
                    <a:pt x="21465" y="8751"/>
                  </a:lnTo>
                  <a:lnTo>
                    <a:pt x="21363" y="8397"/>
                  </a:lnTo>
                  <a:lnTo>
                    <a:pt x="21206" y="8062"/>
                  </a:lnTo>
                  <a:lnTo>
                    <a:pt x="21037" y="7820"/>
                  </a:lnTo>
                  <a:lnTo>
                    <a:pt x="20846" y="7597"/>
                  </a:lnTo>
                  <a:lnTo>
                    <a:pt x="20643" y="7429"/>
                  </a:lnTo>
                  <a:lnTo>
                    <a:pt x="20452" y="7317"/>
                  </a:lnTo>
                  <a:lnTo>
                    <a:pt x="20238" y="7206"/>
                  </a:lnTo>
                  <a:lnTo>
                    <a:pt x="20025" y="7168"/>
                  </a:lnTo>
                  <a:lnTo>
                    <a:pt x="19822" y="7206"/>
                  </a:lnTo>
                  <a:lnTo>
                    <a:pt x="19608" y="7243"/>
                  </a:lnTo>
                  <a:lnTo>
                    <a:pt x="19440" y="7355"/>
                  </a:lnTo>
                  <a:lnTo>
                    <a:pt x="19271" y="7504"/>
                  </a:lnTo>
                  <a:lnTo>
                    <a:pt x="19136" y="7708"/>
                  </a:lnTo>
                  <a:lnTo>
                    <a:pt x="19012" y="7895"/>
                  </a:lnTo>
                  <a:lnTo>
                    <a:pt x="18832" y="8025"/>
                  </a:lnTo>
                  <a:lnTo>
                    <a:pt x="18663" y="8174"/>
                  </a:lnTo>
                  <a:lnTo>
                    <a:pt x="18472" y="8248"/>
                  </a:lnTo>
                  <a:lnTo>
                    <a:pt x="18270" y="8286"/>
                  </a:lnTo>
                  <a:lnTo>
                    <a:pt x="18078" y="8323"/>
                  </a:lnTo>
                  <a:lnTo>
                    <a:pt x="17887" y="8323"/>
                  </a:lnTo>
                  <a:lnTo>
                    <a:pt x="17696" y="8248"/>
                  </a:lnTo>
                  <a:lnTo>
                    <a:pt x="17493" y="8174"/>
                  </a:lnTo>
                  <a:lnTo>
                    <a:pt x="17302" y="8062"/>
                  </a:lnTo>
                  <a:lnTo>
                    <a:pt x="17133" y="7969"/>
                  </a:lnTo>
                  <a:lnTo>
                    <a:pt x="16976" y="7783"/>
                  </a:lnTo>
                  <a:lnTo>
                    <a:pt x="16852" y="7597"/>
                  </a:lnTo>
                  <a:lnTo>
                    <a:pt x="16740" y="7429"/>
                  </a:lnTo>
                  <a:lnTo>
                    <a:pt x="16672" y="7168"/>
                  </a:lnTo>
                  <a:lnTo>
                    <a:pt x="16638" y="6926"/>
                  </a:lnTo>
                  <a:lnTo>
                    <a:pt x="16616" y="6498"/>
                  </a:lnTo>
                  <a:lnTo>
                    <a:pt x="16616" y="5772"/>
                  </a:lnTo>
                  <a:lnTo>
                    <a:pt x="16650" y="4915"/>
                  </a:lnTo>
                  <a:lnTo>
                    <a:pt x="16695" y="3928"/>
                  </a:lnTo>
                  <a:lnTo>
                    <a:pt x="16762" y="2960"/>
                  </a:lnTo>
                  <a:lnTo>
                    <a:pt x="16830" y="1992"/>
                  </a:lnTo>
                  <a:lnTo>
                    <a:pt x="16908" y="1173"/>
                  </a:lnTo>
                  <a:lnTo>
                    <a:pt x="16976" y="521"/>
                  </a:lnTo>
                  <a:lnTo>
                    <a:pt x="16953" y="521"/>
                  </a:lnTo>
                  <a:lnTo>
                    <a:pt x="16931" y="521"/>
                  </a:lnTo>
                  <a:lnTo>
                    <a:pt x="16267" y="484"/>
                  </a:lnTo>
                  <a:lnTo>
                    <a:pt x="15637" y="428"/>
                  </a:lnTo>
                  <a:lnTo>
                    <a:pt x="15063" y="353"/>
                  </a:lnTo>
                  <a:lnTo>
                    <a:pt x="14523" y="279"/>
                  </a:lnTo>
                  <a:lnTo>
                    <a:pt x="14040" y="167"/>
                  </a:lnTo>
                  <a:lnTo>
                    <a:pt x="13635" y="93"/>
                  </a:lnTo>
                  <a:lnTo>
                    <a:pt x="13331" y="18"/>
                  </a:lnTo>
                  <a:lnTo>
                    <a:pt x="13117" y="18"/>
                  </a:lnTo>
                  <a:lnTo>
                    <a:pt x="12982" y="18"/>
                  </a:lnTo>
                  <a:lnTo>
                    <a:pt x="12858" y="130"/>
                  </a:lnTo>
                  <a:lnTo>
                    <a:pt x="12723" y="279"/>
                  </a:lnTo>
                  <a:lnTo>
                    <a:pt x="12622" y="446"/>
                  </a:lnTo>
                  <a:lnTo>
                    <a:pt x="12510" y="670"/>
                  </a:lnTo>
                  <a:lnTo>
                    <a:pt x="12419" y="912"/>
                  </a:lnTo>
                  <a:lnTo>
                    <a:pt x="12363" y="1210"/>
                  </a:lnTo>
                  <a:lnTo>
                    <a:pt x="12318" y="1526"/>
                  </a:lnTo>
                  <a:lnTo>
                    <a:pt x="12273" y="1843"/>
                  </a:lnTo>
                  <a:lnTo>
                    <a:pt x="12251" y="2215"/>
                  </a:lnTo>
                  <a:lnTo>
                    <a:pt x="12273" y="2532"/>
                  </a:lnTo>
                  <a:lnTo>
                    <a:pt x="12318" y="2886"/>
                  </a:lnTo>
                  <a:lnTo>
                    <a:pt x="12386" y="3240"/>
                  </a:lnTo>
                  <a:lnTo>
                    <a:pt x="12464" y="3556"/>
                  </a:lnTo>
                  <a:lnTo>
                    <a:pt x="12577" y="3891"/>
                  </a:lnTo>
                  <a:lnTo>
                    <a:pt x="12746" y="4171"/>
                  </a:lnTo>
                  <a:lnTo>
                    <a:pt x="12926" y="4487"/>
                  </a:lnTo>
                  <a:lnTo>
                    <a:pt x="13050" y="4860"/>
                  </a:lnTo>
                  <a:lnTo>
                    <a:pt x="13162" y="5251"/>
                  </a:lnTo>
                  <a:lnTo>
                    <a:pt x="13218" y="5604"/>
                  </a:lnTo>
                  <a:lnTo>
                    <a:pt x="13263" y="5995"/>
                  </a:lnTo>
                  <a:lnTo>
                    <a:pt x="13241" y="6386"/>
                  </a:lnTo>
                  <a:lnTo>
                    <a:pt x="13218" y="6740"/>
                  </a:lnTo>
                  <a:lnTo>
                    <a:pt x="13139" y="7094"/>
                  </a:lnTo>
                  <a:lnTo>
                    <a:pt x="13050" y="7429"/>
                  </a:lnTo>
                  <a:lnTo>
                    <a:pt x="12903" y="7746"/>
                  </a:lnTo>
                  <a:lnTo>
                    <a:pt x="12723" y="8025"/>
                  </a:lnTo>
                  <a:lnTo>
                    <a:pt x="12532" y="8286"/>
                  </a:lnTo>
                  <a:lnTo>
                    <a:pt x="12318" y="8491"/>
                  </a:lnTo>
                  <a:lnTo>
                    <a:pt x="12060" y="8677"/>
                  </a:lnTo>
                  <a:lnTo>
                    <a:pt x="11756" y="8788"/>
                  </a:lnTo>
                  <a:lnTo>
                    <a:pt x="11452" y="8826"/>
                  </a:lnTo>
                  <a:lnTo>
                    <a:pt x="11283" y="8826"/>
                  </a:lnTo>
                  <a:lnTo>
                    <a:pt x="11126" y="8826"/>
                  </a:lnTo>
                  <a:lnTo>
                    <a:pt x="11002" y="8788"/>
                  </a:lnTo>
                  <a:lnTo>
                    <a:pt x="10845" y="8714"/>
                  </a:lnTo>
                  <a:lnTo>
                    <a:pt x="10721" y="8640"/>
                  </a:lnTo>
                  <a:lnTo>
                    <a:pt x="10608" y="8565"/>
                  </a:lnTo>
                  <a:lnTo>
                    <a:pt x="10485" y="8453"/>
                  </a:lnTo>
                  <a:lnTo>
                    <a:pt x="10372" y="8323"/>
                  </a:lnTo>
                  <a:lnTo>
                    <a:pt x="10181" y="8062"/>
                  </a:lnTo>
                  <a:lnTo>
                    <a:pt x="10035" y="7746"/>
                  </a:lnTo>
                  <a:lnTo>
                    <a:pt x="9900" y="7392"/>
                  </a:lnTo>
                  <a:lnTo>
                    <a:pt x="9787" y="7001"/>
                  </a:lnTo>
                  <a:lnTo>
                    <a:pt x="9731" y="6610"/>
                  </a:lnTo>
                  <a:lnTo>
                    <a:pt x="9686" y="6219"/>
                  </a:lnTo>
                  <a:lnTo>
                    <a:pt x="9663" y="5772"/>
                  </a:lnTo>
                  <a:lnTo>
                    <a:pt x="9686" y="5381"/>
                  </a:lnTo>
                  <a:lnTo>
                    <a:pt x="9753" y="4990"/>
                  </a:lnTo>
                  <a:lnTo>
                    <a:pt x="9832" y="4636"/>
                  </a:lnTo>
                  <a:lnTo>
                    <a:pt x="9945" y="4320"/>
                  </a:lnTo>
                  <a:lnTo>
                    <a:pt x="10068" y="4022"/>
                  </a:lnTo>
                  <a:lnTo>
                    <a:pt x="10203" y="3817"/>
                  </a:lnTo>
                  <a:lnTo>
                    <a:pt x="10316" y="3593"/>
                  </a:lnTo>
                  <a:lnTo>
                    <a:pt x="10395" y="3351"/>
                  </a:lnTo>
                  <a:lnTo>
                    <a:pt x="10462" y="3109"/>
                  </a:lnTo>
                  <a:lnTo>
                    <a:pt x="10507" y="2848"/>
                  </a:lnTo>
                  <a:lnTo>
                    <a:pt x="10530" y="2606"/>
                  </a:lnTo>
                  <a:lnTo>
                    <a:pt x="10507" y="2346"/>
                  </a:lnTo>
                  <a:lnTo>
                    <a:pt x="10462" y="2141"/>
                  </a:lnTo>
                  <a:lnTo>
                    <a:pt x="10395" y="1880"/>
                  </a:lnTo>
                  <a:lnTo>
                    <a:pt x="10293" y="1638"/>
                  </a:lnTo>
                  <a:lnTo>
                    <a:pt x="10158" y="1415"/>
                  </a:lnTo>
                  <a:lnTo>
                    <a:pt x="9967" y="1210"/>
                  </a:lnTo>
                  <a:lnTo>
                    <a:pt x="9753" y="986"/>
                  </a:lnTo>
                  <a:lnTo>
                    <a:pt x="9495" y="819"/>
                  </a:lnTo>
                  <a:lnTo>
                    <a:pt x="9191" y="670"/>
                  </a:lnTo>
                  <a:lnTo>
                    <a:pt x="8842" y="521"/>
                  </a:lnTo>
                  <a:lnTo>
                    <a:pt x="8471" y="446"/>
                  </a:lnTo>
                  <a:lnTo>
                    <a:pt x="7998" y="428"/>
                  </a:lnTo>
                  <a:lnTo>
                    <a:pt x="7413" y="428"/>
                  </a:lnTo>
                  <a:lnTo>
                    <a:pt x="6817" y="446"/>
                  </a:lnTo>
                  <a:lnTo>
                    <a:pt x="6187" y="521"/>
                  </a:lnTo>
                  <a:lnTo>
                    <a:pt x="5602" y="633"/>
                  </a:lnTo>
                  <a:lnTo>
                    <a:pt x="5107" y="744"/>
                  </a:lnTo>
                  <a:lnTo>
                    <a:pt x="4725" y="856"/>
                  </a:lnTo>
                  <a:lnTo>
                    <a:pt x="4848" y="1564"/>
                  </a:lnTo>
                  <a:lnTo>
                    <a:pt x="5028" y="2495"/>
                  </a:lnTo>
                  <a:lnTo>
                    <a:pt x="5175" y="3556"/>
                  </a:lnTo>
                  <a:lnTo>
                    <a:pt x="5298" y="4673"/>
                  </a:lnTo>
                  <a:lnTo>
                    <a:pt x="5343" y="5213"/>
                  </a:lnTo>
                  <a:lnTo>
                    <a:pt x="5388" y="5753"/>
                  </a:lnTo>
                  <a:lnTo>
                    <a:pt x="5411" y="6275"/>
                  </a:lnTo>
                  <a:lnTo>
                    <a:pt x="5411" y="6740"/>
                  </a:lnTo>
                  <a:lnTo>
                    <a:pt x="5366" y="7168"/>
                  </a:lnTo>
                  <a:lnTo>
                    <a:pt x="5321" y="7541"/>
                  </a:lnTo>
                  <a:lnTo>
                    <a:pt x="5287" y="7708"/>
                  </a:lnTo>
                  <a:lnTo>
                    <a:pt x="5242" y="7857"/>
                  </a:lnTo>
                  <a:lnTo>
                    <a:pt x="5197" y="7969"/>
                  </a:lnTo>
                  <a:lnTo>
                    <a:pt x="5130" y="8062"/>
                  </a:lnTo>
                  <a:lnTo>
                    <a:pt x="5006" y="8248"/>
                  </a:lnTo>
                  <a:lnTo>
                    <a:pt x="4848" y="8397"/>
                  </a:lnTo>
                  <a:lnTo>
                    <a:pt x="4725" y="8528"/>
                  </a:lnTo>
                  <a:lnTo>
                    <a:pt x="4567" y="8640"/>
                  </a:lnTo>
                  <a:lnTo>
                    <a:pt x="4421" y="8714"/>
                  </a:lnTo>
                  <a:lnTo>
                    <a:pt x="4263" y="8751"/>
                  </a:lnTo>
                  <a:lnTo>
                    <a:pt x="4095" y="8788"/>
                  </a:lnTo>
                  <a:lnTo>
                    <a:pt x="3948" y="8788"/>
                  </a:lnTo>
                  <a:lnTo>
                    <a:pt x="3791" y="8751"/>
                  </a:lnTo>
                  <a:lnTo>
                    <a:pt x="3667" y="8714"/>
                  </a:lnTo>
                  <a:lnTo>
                    <a:pt x="3510" y="8677"/>
                  </a:lnTo>
                  <a:lnTo>
                    <a:pt x="3386" y="8602"/>
                  </a:lnTo>
                  <a:lnTo>
                    <a:pt x="3251" y="8491"/>
                  </a:lnTo>
                  <a:lnTo>
                    <a:pt x="3127" y="8360"/>
                  </a:lnTo>
                  <a:lnTo>
                    <a:pt x="3015" y="8248"/>
                  </a:lnTo>
                  <a:lnTo>
                    <a:pt x="2925" y="8062"/>
                  </a:lnTo>
                  <a:lnTo>
                    <a:pt x="2778" y="7857"/>
                  </a:lnTo>
                  <a:lnTo>
                    <a:pt x="2610" y="7671"/>
                  </a:lnTo>
                  <a:lnTo>
                    <a:pt x="2407" y="7541"/>
                  </a:lnTo>
                  <a:lnTo>
                    <a:pt x="2171" y="7466"/>
                  </a:lnTo>
                  <a:lnTo>
                    <a:pt x="1957" y="7429"/>
                  </a:lnTo>
                  <a:lnTo>
                    <a:pt x="1698" y="7429"/>
                  </a:lnTo>
                  <a:lnTo>
                    <a:pt x="1462" y="7466"/>
                  </a:lnTo>
                  <a:lnTo>
                    <a:pt x="1226" y="7559"/>
                  </a:lnTo>
                  <a:lnTo>
                    <a:pt x="989" y="7708"/>
                  </a:lnTo>
                  <a:lnTo>
                    <a:pt x="776" y="7932"/>
                  </a:lnTo>
                  <a:lnTo>
                    <a:pt x="551" y="8211"/>
                  </a:lnTo>
                  <a:lnTo>
                    <a:pt x="382" y="8528"/>
                  </a:lnTo>
                  <a:lnTo>
                    <a:pt x="315" y="8714"/>
                  </a:lnTo>
                  <a:lnTo>
                    <a:pt x="236" y="8919"/>
                  </a:lnTo>
                  <a:lnTo>
                    <a:pt x="191" y="9142"/>
                  </a:lnTo>
                  <a:lnTo>
                    <a:pt x="123" y="9347"/>
                  </a:lnTo>
                  <a:lnTo>
                    <a:pt x="78" y="9608"/>
                  </a:lnTo>
                  <a:lnTo>
                    <a:pt x="56" y="9887"/>
                  </a:lnTo>
                  <a:lnTo>
                    <a:pt x="33" y="10185"/>
                  </a:lnTo>
                  <a:lnTo>
                    <a:pt x="33" y="10464"/>
                  </a:lnTo>
                  <a:lnTo>
                    <a:pt x="33" y="10706"/>
                  </a:lnTo>
                  <a:lnTo>
                    <a:pt x="56" y="10967"/>
                  </a:lnTo>
                  <a:lnTo>
                    <a:pt x="78" y="11172"/>
                  </a:lnTo>
                  <a:lnTo>
                    <a:pt x="123" y="11395"/>
                  </a:lnTo>
                  <a:lnTo>
                    <a:pt x="168" y="11600"/>
                  </a:lnTo>
                  <a:lnTo>
                    <a:pt x="236" y="11786"/>
                  </a:lnTo>
                  <a:lnTo>
                    <a:pt x="292" y="11973"/>
                  </a:lnTo>
                  <a:lnTo>
                    <a:pt x="382" y="12140"/>
                  </a:lnTo>
                  <a:lnTo>
                    <a:pt x="540" y="12419"/>
                  </a:lnTo>
                  <a:lnTo>
                    <a:pt x="731" y="12680"/>
                  </a:lnTo>
                  <a:lnTo>
                    <a:pt x="944" y="12866"/>
                  </a:lnTo>
                  <a:lnTo>
                    <a:pt x="1158" y="12997"/>
                  </a:lnTo>
                  <a:lnTo>
                    <a:pt x="1395" y="13108"/>
                  </a:lnTo>
                  <a:lnTo>
                    <a:pt x="1608" y="13183"/>
                  </a:lnTo>
                  <a:lnTo>
                    <a:pt x="1856" y="13183"/>
                  </a:lnTo>
                  <a:lnTo>
                    <a:pt x="2070" y="13146"/>
                  </a:lnTo>
                  <a:lnTo>
                    <a:pt x="2261" y="13071"/>
                  </a:lnTo>
                  <a:lnTo>
                    <a:pt x="2430" y="12960"/>
                  </a:lnTo>
                  <a:lnTo>
                    <a:pt x="2587" y="12792"/>
                  </a:lnTo>
                  <a:lnTo>
                    <a:pt x="2688" y="12606"/>
                  </a:lnTo>
                  <a:lnTo>
                    <a:pt x="2801" y="12419"/>
                  </a:lnTo>
                  <a:lnTo>
                    <a:pt x="2925" y="12289"/>
                  </a:lnTo>
                  <a:lnTo>
                    <a:pt x="3082" y="12177"/>
                  </a:lnTo>
                  <a:lnTo>
                    <a:pt x="3228" y="12103"/>
                  </a:lnTo>
                  <a:lnTo>
                    <a:pt x="3408" y="12103"/>
                  </a:lnTo>
                  <a:lnTo>
                    <a:pt x="3577" y="12103"/>
                  </a:lnTo>
                  <a:lnTo>
                    <a:pt x="3723" y="12177"/>
                  </a:lnTo>
                  <a:lnTo>
                    <a:pt x="3903" y="12252"/>
                  </a:lnTo>
                  <a:lnTo>
                    <a:pt x="4072" y="12364"/>
                  </a:lnTo>
                  <a:lnTo>
                    <a:pt x="4230" y="12494"/>
                  </a:lnTo>
                  <a:lnTo>
                    <a:pt x="4353" y="12643"/>
                  </a:lnTo>
                  <a:lnTo>
                    <a:pt x="4488" y="12829"/>
                  </a:lnTo>
                  <a:lnTo>
                    <a:pt x="4567" y="13034"/>
                  </a:lnTo>
                  <a:lnTo>
                    <a:pt x="4657" y="13257"/>
                  </a:lnTo>
                  <a:lnTo>
                    <a:pt x="4702" y="13462"/>
                  </a:lnTo>
                  <a:lnTo>
                    <a:pt x="4725" y="13686"/>
                  </a:lnTo>
                  <a:lnTo>
                    <a:pt x="4702" y="14282"/>
                  </a:lnTo>
                  <a:lnTo>
                    <a:pt x="4657" y="15045"/>
                  </a:lnTo>
                  <a:lnTo>
                    <a:pt x="4612" y="15976"/>
                  </a:lnTo>
                  <a:lnTo>
                    <a:pt x="4590" y="16926"/>
                  </a:lnTo>
                  <a:lnTo>
                    <a:pt x="4567" y="17968"/>
                  </a:lnTo>
                  <a:lnTo>
                    <a:pt x="4567" y="19011"/>
                  </a:lnTo>
                  <a:lnTo>
                    <a:pt x="4590" y="19514"/>
                  </a:lnTo>
                  <a:lnTo>
                    <a:pt x="4612" y="19980"/>
                  </a:lnTo>
                  <a:lnTo>
                    <a:pt x="4657" y="20426"/>
                  </a:lnTo>
                  <a:lnTo>
                    <a:pt x="4725" y="20836"/>
                  </a:lnTo>
                  <a:lnTo>
                    <a:pt x="4848" y="20929"/>
                  </a:lnTo>
                  <a:lnTo>
                    <a:pt x="5040" y="21004"/>
                  </a:lnTo>
                  <a:lnTo>
                    <a:pt x="5265" y="21078"/>
                  </a:lnTo>
                  <a:lnTo>
                    <a:pt x="5478" y="21115"/>
                  </a:lnTo>
                  <a:lnTo>
                    <a:pt x="6041" y="21115"/>
                  </a:lnTo>
                  <a:lnTo>
                    <a:pt x="6637" y="21078"/>
                  </a:lnTo>
                  <a:lnTo>
                    <a:pt x="7312" y="21004"/>
                  </a:lnTo>
                  <a:lnTo>
                    <a:pt x="7998" y="20929"/>
                  </a:lnTo>
                  <a:lnTo>
                    <a:pt x="8696" y="20855"/>
                  </a:lnTo>
                  <a:lnTo>
                    <a:pt x="9360" y="20836"/>
                  </a:lnTo>
                  <a:close/>
                </a:path>
              </a:pathLst>
            </a:custGeom>
            <a:solidFill>
              <a:srgbClr val="CCCC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pic>
        <p:nvPicPr>
          <p:cNvPr id="2061" name="Picture 13" descr="C:\Users\ing04500\Desktop\DICOM 2013 Conf\ClipArt\Windows_Egg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568" y="3078303"/>
            <a:ext cx="701393" cy="701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C:\Users\ing04500\Desktop\DICOM 2013 Conf\ClipArt\Harmonization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905" y="3889861"/>
            <a:ext cx="789815" cy="789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3" name="Picture 15" descr="C:\Users\ing04500\Desktop\DICOM 2013 Conf\ClipArt\Hazzard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583" y="4740845"/>
            <a:ext cx="587687" cy="587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5" name="Picture 17" descr="C:\Users\ing04500\Desktop\DICOM 2013 Conf\ClipArt\DVDS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819587" y="5328532"/>
            <a:ext cx="679677" cy="679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 descr="C:\Users\ing04500\Desktop\DICOM 2013 Conf\ClipArt\Perf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583" y="6008209"/>
            <a:ext cx="761557" cy="53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3970" y="2888517"/>
            <a:ext cx="1680826" cy="2146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542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1892800"/>
            <a:ext cx="7772400" cy="637502"/>
          </a:xfrm>
        </p:spPr>
        <p:txBody>
          <a:bodyPr/>
          <a:lstStyle/>
          <a:p>
            <a:pPr algn="l"/>
            <a:endParaRPr lang="en-US" dirty="0" smtClean="0"/>
          </a:p>
          <a:p>
            <a:pPr algn="l"/>
            <a:endParaRPr lang="en-US" dirty="0"/>
          </a:p>
          <a:p>
            <a:pPr algn="l"/>
            <a:endParaRPr lang="en-US" dirty="0" smtClean="0"/>
          </a:p>
          <a:p>
            <a:pPr algn="l"/>
            <a:endParaRPr lang="en-US" dirty="0" smtClean="0"/>
          </a:p>
          <a:p>
            <a:pPr algn="l"/>
            <a:endParaRPr lang="en-US" dirty="0"/>
          </a:p>
          <a:p>
            <a:pPr algn="l"/>
            <a:endParaRPr lang="en-US" dirty="0" smtClean="0"/>
          </a:p>
          <a:p>
            <a:pPr algn="l"/>
            <a:endParaRPr lang="en-US" dirty="0"/>
          </a:p>
          <a:p>
            <a:pPr algn="l"/>
            <a:endParaRPr lang="en-US" dirty="0" smtClean="0"/>
          </a:p>
          <a:p>
            <a:pPr algn="l"/>
            <a:endParaRPr lang="en-US" dirty="0"/>
          </a:p>
          <a:p>
            <a:pPr algn="l"/>
            <a:endParaRPr lang="en-US" dirty="0" smtClean="0"/>
          </a:p>
          <a:p>
            <a:pPr algn="l"/>
            <a:endParaRPr lang="en-US" dirty="0"/>
          </a:p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March 2013 DICOM International Conference &amp; Seminar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 dirty="0" smtClean="0"/>
              <a:t>Effective Strategy for verifying DICOM Conformance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FA7FC1-DF09-41B3-9C9D-D01804B572C4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DICOM Services</a:t>
            </a:r>
            <a:endParaRPr lang="en-IN" sz="3200" dirty="0"/>
          </a:p>
        </p:txBody>
      </p:sp>
      <p:sp>
        <p:nvSpPr>
          <p:cNvPr id="9" name="TextBox 8"/>
          <p:cNvSpPr txBox="1"/>
          <p:nvPr/>
        </p:nvSpPr>
        <p:spPr>
          <a:xfrm>
            <a:off x="4994455" y="1367597"/>
            <a:ext cx="4153185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b="1" dirty="0" smtClean="0">
              <a:solidFill>
                <a:srgbClr val="008080"/>
              </a:solidFill>
            </a:endParaRPr>
          </a:p>
          <a:p>
            <a:r>
              <a:rPr lang="en-US" sz="1600" b="1" dirty="0" smtClean="0">
                <a:solidFill>
                  <a:srgbClr val="008080"/>
                </a:solidFill>
              </a:rPr>
              <a:t>Approach:</a:t>
            </a:r>
          </a:p>
          <a:p>
            <a:pPr marL="285750" indent="-285750">
              <a:buFont typeface="Wingdings" pitchFamily="2" charset="2"/>
              <a:buChar char="v"/>
            </a:pPr>
            <a:endParaRPr lang="en-US" sz="1600" b="1" dirty="0" smtClean="0">
              <a:solidFill>
                <a:srgbClr val="008080"/>
              </a:solidFill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en-US" sz="1600" dirty="0" smtClean="0">
                <a:solidFill>
                  <a:srgbClr val="008080"/>
                </a:solidFill>
              </a:rPr>
              <a:t>Multi Modality &amp; Multivendor Data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US" sz="1600" dirty="0" smtClean="0">
                <a:solidFill>
                  <a:srgbClr val="008080"/>
                </a:solidFill>
              </a:rPr>
              <a:t>Data Variance  - VM and VR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US" sz="1600" dirty="0" smtClean="0">
                <a:solidFill>
                  <a:srgbClr val="008080"/>
                </a:solidFill>
              </a:rPr>
              <a:t>Image Consistency </a:t>
            </a:r>
          </a:p>
          <a:p>
            <a:r>
              <a:rPr lang="en-US" sz="1600" dirty="0" smtClean="0">
                <a:solidFill>
                  <a:srgbClr val="008080"/>
                </a:solidFill>
              </a:rPr>
              <a:t>    (Patient ID, Patient Name,Series,Images)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US" sz="1600" dirty="0" smtClean="0">
                <a:solidFill>
                  <a:srgbClr val="008080"/>
                </a:solidFill>
              </a:rPr>
              <a:t>Q/R : Mandatory &amp; Optional Keys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US" sz="1600" dirty="0" smtClean="0">
                <a:solidFill>
                  <a:srgbClr val="008080"/>
                </a:solidFill>
              </a:rPr>
              <a:t>Query Levels : Study &amp; Series</a:t>
            </a:r>
          </a:p>
          <a:p>
            <a:endParaRPr lang="en-US" sz="1600" dirty="0" smtClean="0">
              <a:solidFill>
                <a:srgbClr val="008080"/>
              </a:solidFill>
            </a:endParaRPr>
          </a:p>
          <a:p>
            <a:endParaRPr lang="en-US" sz="1600" dirty="0" smtClean="0">
              <a:solidFill>
                <a:srgbClr val="008080"/>
              </a:solidFill>
            </a:endParaRPr>
          </a:p>
          <a:p>
            <a:r>
              <a:rPr lang="en-US" sz="1600" b="1" dirty="0" smtClean="0">
                <a:solidFill>
                  <a:srgbClr val="008080"/>
                </a:solidFill>
              </a:rPr>
              <a:t>Benefits:</a:t>
            </a:r>
          </a:p>
          <a:p>
            <a:endParaRPr lang="en-US" sz="1600" b="1" dirty="0" smtClean="0">
              <a:solidFill>
                <a:srgbClr val="008080"/>
              </a:solidFill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en-US" sz="1600" dirty="0" smtClean="0">
                <a:solidFill>
                  <a:srgbClr val="008080"/>
                </a:solidFill>
              </a:rPr>
              <a:t>DICOM Connectivity Stack Quality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US" sz="1600" dirty="0" smtClean="0">
                <a:solidFill>
                  <a:srgbClr val="008080"/>
                </a:solidFill>
              </a:rPr>
              <a:t>Compliance to DICOM Services</a:t>
            </a:r>
          </a:p>
          <a:p>
            <a:r>
              <a:rPr lang="en-US" b="1" dirty="0" smtClean="0">
                <a:solidFill>
                  <a:srgbClr val="008080"/>
                </a:solidFill>
              </a:rPr>
              <a:t> </a:t>
            </a:r>
          </a:p>
          <a:p>
            <a:endParaRPr lang="en-US" dirty="0" smtClean="0"/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605308226"/>
              </p:ext>
            </p:extLst>
          </p:nvPr>
        </p:nvGraphicFramePr>
        <p:xfrm>
          <a:off x="309045" y="1505422"/>
          <a:ext cx="468541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00" y="3236975"/>
            <a:ext cx="16898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   </a:t>
            </a:r>
            <a:r>
              <a:rPr lang="en-US" sz="1600" b="1" dirty="0" smtClean="0">
                <a:solidFill>
                  <a:schemeClr val="bg1"/>
                </a:solidFill>
              </a:rPr>
              <a:t>STORAGE COMMITMENT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1814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March 2013 DICOM International Conference &amp; Seminar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 dirty="0" smtClean="0"/>
              <a:t>Effective Strategy for verifying DICOM Conformance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FA7FC1-DF09-41B3-9C9D-D01804B572C4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>
                <a:solidFill>
                  <a:schemeClr val="accent3"/>
                </a:solidFill>
              </a:rPr>
              <a:t>Transfer</a:t>
            </a:r>
            <a:r>
              <a:rPr lang="en-US" sz="3200" b="1" dirty="0" smtClean="0">
                <a:solidFill>
                  <a:schemeClr val="accent3"/>
                </a:solidFill>
              </a:rPr>
              <a:t> </a:t>
            </a:r>
            <a:r>
              <a:rPr lang="en-US" sz="3200" dirty="0" smtClean="0">
                <a:solidFill>
                  <a:schemeClr val="accent3"/>
                </a:solidFill>
              </a:rPr>
              <a:t>Syntax &amp; Data Conversion Verification</a:t>
            </a:r>
            <a:endParaRPr lang="en-US" sz="3200" dirty="0">
              <a:solidFill>
                <a:schemeClr val="accent3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95925" y="1222900"/>
            <a:ext cx="5148075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rgbClr val="008080"/>
              </a:solidFill>
            </a:endParaRPr>
          </a:p>
          <a:p>
            <a:r>
              <a:rPr lang="en-US" b="1" dirty="0" smtClean="0">
                <a:solidFill>
                  <a:srgbClr val="008080"/>
                </a:solidFill>
              </a:rPr>
              <a:t>Approach:</a:t>
            </a:r>
          </a:p>
          <a:p>
            <a:endParaRPr lang="en-US" b="1" dirty="0" smtClean="0">
              <a:solidFill>
                <a:srgbClr val="008080"/>
              </a:solidFill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en-US" b="1" dirty="0" smtClean="0">
                <a:solidFill>
                  <a:srgbClr val="008080"/>
                </a:solidFill>
              </a:rPr>
              <a:t> </a:t>
            </a:r>
            <a:r>
              <a:rPr lang="en-US" dirty="0" smtClean="0">
                <a:solidFill>
                  <a:srgbClr val="008080"/>
                </a:solidFill>
              </a:rPr>
              <a:t>Multi Modality &amp; Multi Vendor 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US" dirty="0" smtClean="0">
                <a:solidFill>
                  <a:srgbClr val="008080"/>
                </a:solidFill>
              </a:rPr>
              <a:t> Transfer Syntaxes Variants Workflow</a:t>
            </a:r>
          </a:p>
          <a:p>
            <a:endParaRPr lang="en-US" sz="1600" dirty="0" smtClean="0">
              <a:solidFill>
                <a:srgbClr val="008080"/>
              </a:solidFill>
              <a:sym typeface="Wingdings" pitchFamily="2" charset="2"/>
            </a:endParaRPr>
          </a:p>
          <a:p>
            <a:r>
              <a:rPr lang="en-US" sz="1600" dirty="0" smtClean="0">
                <a:solidFill>
                  <a:srgbClr val="008080"/>
                </a:solidFill>
                <a:sym typeface="Wingdings" pitchFamily="2" charset="2"/>
              </a:rPr>
              <a:t>Scanner ELEWSILE PACS ELEWS</a:t>
            </a:r>
          </a:p>
          <a:p>
            <a:r>
              <a:rPr lang="en-US" dirty="0" smtClean="0">
                <a:solidFill>
                  <a:srgbClr val="008080"/>
                </a:solidFill>
                <a:sym typeface="Wingdings" pitchFamily="2" charset="2"/>
              </a:rPr>
              <a:t> </a:t>
            </a:r>
            <a:endParaRPr lang="en-US" b="1" dirty="0" smtClean="0">
              <a:solidFill>
                <a:srgbClr val="008080"/>
              </a:solidFill>
            </a:endParaRPr>
          </a:p>
          <a:p>
            <a:r>
              <a:rPr lang="en-US" b="1" dirty="0" smtClean="0">
                <a:solidFill>
                  <a:srgbClr val="008080"/>
                </a:solidFill>
              </a:rPr>
              <a:t>Benefits:</a:t>
            </a:r>
          </a:p>
          <a:p>
            <a:endParaRPr lang="en-US" dirty="0" smtClean="0"/>
          </a:p>
          <a:p>
            <a:pPr marL="285750" indent="-285750">
              <a:buFont typeface="Wingdings" pitchFamily="2" charset="2"/>
              <a:buChar char="v"/>
            </a:pPr>
            <a:r>
              <a:rPr lang="en-US" dirty="0" smtClean="0">
                <a:solidFill>
                  <a:srgbClr val="008080"/>
                </a:solidFill>
              </a:rPr>
              <a:t>  Attribute Consistency  – DICOM 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US" dirty="0" smtClean="0">
                <a:solidFill>
                  <a:srgbClr val="008080"/>
                </a:solidFill>
              </a:rPr>
              <a:t>  Attribute </a:t>
            </a:r>
            <a:r>
              <a:rPr lang="en-US" dirty="0">
                <a:solidFill>
                  <a:srgbClr val="008080"/>
                </a:solidFill>
              </a:rPr>
              <a:t>Consistency  – </a:t>
            </a:r>
            <a:r>
              <a:rPr lang="en-US" dirty="0" smtClean="0">
                <a:solidFill>
                  <a:srgbClr val="008080"/>
                </a:solidFill>
              </a:rPr>
              <a:t>Private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US" dirty="0" smtClean="0">
                <a:solidFill>
                  <a:srgbClr val="008080"/>
                </a:solidFill>
              </a:rPr>
              <a:t>  Pixel Data consistency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US" dirty="0">
                <a:solidFill>
                  <a:srgbClr val="008080"/>
                </a:solidFill>
              </a:rPr>
              <a:t> </a:t>
            </a:r>
            <a:r>
              <a:rPr lang="en-US" dirty="0" smtClean="0">
                <a:solidFill>
                  <a:srgbClr val="008080"/>
                </a:solidFill>
              </a:rPr>
              <a:t> Compressed &amp; Uncompressed data </a:t>
            </a:r>
          </a:p>
          <a:p>
            <a:r>
              <a:rPr lang="en-US" dirty="0" smtClean="0">
                <a:solidFill>
                  <a:srgbClr val="008080"/>
                </a:solidFill>
              </a:rPr>
              <a:t>       movement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US" dirty="0">
                <a:solidFill>
                  <a:srgbClr val="008080"/>
                </a:solidFill>
              </a:rPr>
              <a:t> </a:t>
            </a:r>
            <a:r>
              <a:rPr lang="en-US" dirty="0" smtClean="0">
                <a:solidFill>
                  <a:srgbClr val="008080"/>
                </a:solidFill>
              </a:rPr>
              <a:t> Signed </a:t>
            </a:r>
            <a:r>
              <a:rPr lang="en-US" dirty="0">
                <a:solidFill>
                  <a:srgbClr val="008080"/>
                </a:solidFill>
              </a:rPr>
              <a:t>/ Unsigned Data</a:t>
            </a:r>
          </a:p>
          <a:p>
            <a:endParaRPr lang="en-US" dirty="0" smtClean="0">
              <a:solidFill>
                <a:srgbClr val="008080"/>
              </a:solidFill>
            </a:endParaRPr>
          </a:p>
          <a:p>
            <a:endParaRPr lang="en-US" dirty="0">
              <a:solidFill>
                <a:srgbClr val="008080"/>
              </a:solidFill>
            </a:endParaRPr>
          </a:p>
          <a:p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117019" y="1393534"/>
            <a:ext cx="387890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IN" dirty="0"/>
          </a:p>
        </p:txBody>
      </p:sp>
      <p:graphicFrame>
        <p:nvGraphicFramePr>
          <p:cNvPr id="12" name="Diagram 11"/>
          <p:cNvGraphicFramePr/>
          <p:nvPr>
            <p:extLst>
              <p:ext uri="{D42A27DB-BD31-4B8C-83A1-F6EECF244321}">
                <p14:modId xmlns:p14="http://schemas.microsoft.com/office/powerpoint/2010/main" val="314158584"/>
              </p:ext>
            </p:extLst>
          </p:nvPr>
        </p:nvGraphicFramePr>
        <p:xfrm>
          <a:off x="117019" y="1777585"/>
          <a:ext cx="3878905" cy="36107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710827" y="2273949"/>
            <a:ext cx="691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ELE</a:t>
            </a:r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1883650" y="4592733"/>
            <a:ext cx="691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</a:t>
            </a:r>
            <a:r>
              <a:rPr lang="en-US" dirty="0" smtClean="0"/>
              <a:t>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8940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March 2013 DICOM International Conference &amp; Seminar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 dirty="0" smtClean="0"/>
              <a:t>Effective Strategy for verifying DICOM Conformance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FA7FC1-DF09-41B3-9C9D-D01804B572C4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DICOM Data Model &amp; Harmonization</a:t>
            </a:r>
            <a:endParaRPr lang="en-US" sz="3200" dirty="0"/>
          </a:p>
        </p:txBody>
      </p:sp>
      <p:sp>
        <p:nvSpPr>
          <p:cNvPr id="7" name="TextBox 6"/>
          <p:cNvSpPr txBox="1"/>
          <p:nvPr/>
        </p:nvSpPr>
        <p:spPr>
          <a:xfrm>
            <a:off x="5263290" y="1239915"/>
            <a:ext cx="376369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8080"/>
                </a:solidFill>
              </a:rPr>
              <a:t>Approach:</a:t>
            </a:r>
          </a:p>
          <a:p>
            <a:endParaRPr lang="en-US" b="1" dirty="0" smtClean="0">
              <a:solidFill>
                <a:srgbClr val="008080"/>
              </a:solidFill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en-US" dirty="0" smtClean="0">
                <a:solidFill>
                  <a:srgbClr val="008080"/>
                </a:solidFill>
              </a:rPr>
              <a:t>Check values against </a:t>
            </a:r>
          </a:p>
          <a:p>
            <a:r>
              <a:rPr lang="en-US" dirty="0" smtClean="0">
                <a:solidFill>
                  <a:srgbClr val="008080"/>
                </a:solidFill>
              </a:rPr>
              <a:t>     DICOM  &amp; DCS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US" dirty="0" smtClean="0">
                <a:solidFill>
                  <a:srgbClr val="008080"/>
                </a:solidFill>
              </a:rPr>
              <a:t>Check VR,VM values against      guidelines</a:t>
            </a:r>
          </a:p>
          <a:p>
            <a:endParaRPr lang="en-US" dirty="0" smtClean="0">
              <a:solidFill>
                <a:srgbClr val="008080"/>
              </a:solidFill>
            </a:endParaRPr>
          </a:p>
          <a:p>
            <a:r>
              <a:rPr lang="en-US" b="1" dirty="0" smtClean="0">
                <a:solidFill>
                  <a:srgbClr val="008080"/>
                </a:solidFill>
              </a:rPr>
              <a:t>Benefits:</a:t>
            </a:r>
          </a:p>
          <a:p>
            <a:endParaRPr lang="en-US" b="1" dirty="0" smtClean="0">
              <a:solidFill>
                <a:srgbClr val="008080"/>
              </a:solidFill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en-US" dirty="0" smtClean="0">
                <a:solidFill>
                  <a:srgbClr val="008080"/>
                </a:solidFill>
              </a:rPr>
              <a:t>Compliant </a:t>
            </a:r>
            <a:r>
              <a:rPr lang="en-US" dirty="0">
                <a:solidFill>
                  <a:srgbClr val="008080"/>
                </a:solidFill>
              </a:rPr>
              <a:t>to DICOM </a:t>
            </a:r>
            <a:r>
              <a:rPr lang="en-US" dirty="0" smtClean="0">
                <a:solidFill>
                  <a:srgbClr val="008080"/>
                </a:solidFill>
              </a:rPr>
              <a:t>Data Dictionary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US" dirty="0" smtClean="0">
                <a:solidFill>
                  <a:srgbClr val="008080"/>
                </a:solidFill>
              </a:rPr>
              <a:t>Adhering to DCS guidelines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US" dirty="0" smtClean="0">
                <a:solidFill>
                  <a:srgbClr val="008080"/>
                </a:solidFill>
              </a:rPr>
              <a:t>Consistent values/ </a:t>
            </a:r>
            <a:r>
              <a:rPr lang="en-US" dirty="0">
                <a:solidFill>
                  <a:srgbClr val="008080"/>
                </a:solidFill>
              </a:rPr>
              <a:t>Harmonized view</a:t>
            </a:r>
            <a:r>
              <a:rPr lang="en-US" dirty="0" smtClean="0">
                <a:solidFill>
                  <a:srgbClr val="008080"/>
                </a:solidFill>
              </a:rPr>
              <a:t> across </a:t>
            </a:r>
            <a:r>
              <a:rPr lang="en-US" dirty="0">
                <a:solidFill>
                  <a:srgbClr val="008080"/>
                </a:solidFill>
              </a:rPr>
              <a:t>applications</a:t>
            </a:r>
          </a:p>
          <a:p>
            <a:endParaRPr lang="en-US" dirty="0" smtClean="0">
              <a:solidFill>
                <a:srgbClr val="008080"/>
              </a:solidFill>
            </a:endParaRPr>
          </a:p>
          <a:p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270641" y="1393535"/>
            <a:ext cx="399412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8080"/>
                </a:solidFill>
              </a:rPr>
              <a:t>Application generated data is compliant </a:t>
            </a:r>
            <a:r>
              <a:rPr lang="en-US" dirty="0" smtClean="0">
                <a:solidFill>
                  <a:srgbClr val="008080"/>
                </a:solidFill>
              </a:rPr>
              <a:t>to DICOM </a:t>
            </a:r>
            <a:r>
              <a:rPr lang="en-US" dirty="0">
                <a:solidFill>
                  <a:srgbClr val="008080"/>
                </a:solidFill>
              </a:rPr>
              <a:t>Standards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310" y="2320972"/>
            <a:ext cx="2095500" cy="11811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251" y="4261699"/>
            <a:ext cx="3400900" cy="1028844"/>
          </a:xfrm>
          <a:prstGeom prst="rect">
            <a:avLst/>
          </a:prstGeom>
        </p:spPr>
      </p:pic>
      <p:sp>
        <p:nvSpPr>
          <p:cNvPr id="9" name="Down Arrow 8"/>
          <p:cNvSpPr/>
          <p:nvPr/>
        </p:nvSpPr>
        <p:spPr>
          <a:xfrm>
            <a:off x="1768435" y="3621025"/>
            <a:ext cx="499266" cy="614480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1252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1892800"/>
            <a:ext cx="7772400" cy="637502"/>
          </a:xfrm>
        </p:spPr>
        <p:txBody>
          <a:bodyPr/>
          <a:lstStyle/>
          <a:p>
            <a:pPr algn="l"/>
            <a:endParaRPr lang="en-US" dirty="0" smtClean="0"/>
          </a:p>
          <a:p>
            <a:pPr algn="l"/>
            <a:endParaRPr lang="en-US" dirty="0"/>
          </a:p>
          <a:p>
            <a:pPr algn="l"/>
            <a:endParaRPr lang="en-US" dirty="0" smtClean="0"/>
          </a:p>
          <a:p>
            <a:pPr algn="l"/>
            <a:endParaRPr lang="en-US" dirty="0" smtClean="0"/>
          </a:p>
          <a:p>
            <a:pPr algn="l"/>
            <a:endParaRPr lang="en-US" dirty="0"/>
          </a:p>
          <a:p>
            <a:pPr algn="l"/>
            <a:endParaRPr lang="en-US" dirty="0" smtClean="0"/>
          </a:p>
          <a:p>
            <a:pPr algn="l"/>
            <a:endParaRPr lang="en-US" dirty="0"/>
          </a:p>
          <a:p>
            <a:pPr algn="l"/>
            <a:endParaRPr lang="en-US" dirty="0" smtClean="0"/>
          </a:p>
          <a:p>
            <a:pPr algn="l"/>
            <a:endParaRPr lang="en-US" dirty="0"/>
          </a:p>
          <a:p>
            <a:pPr algn="l"/>
            <a:endParaRPr lang="en-US" dirty="0" smtClean="0"/>
          </a:p>
          <a:p>
            <a:pPr algn="l"/>
            <a:endParaRPr lang="en-US" dirty="0"/>
          </a:p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March 2013 DICOM International Conference &amp; Seminar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 dirty="0" smtClean="0"/>
              <a:t>Effective Strategy for verifying DICOM Conformance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FA7FC1-DF09-41B3-9C9D-D01804B572C4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Hazard Scenarios</a:t>
            </a:r>
            <a:endParaRPr lang="en-US" sz="3200" dirty="0"/>
          </a:p>
        </p:txBody>
      </p:sp>
      <p:sp>
        <p:nvSpPr>
          <p:cNvPr id="7" name="TextBox 6"/>
          <p:cNvSpPr txBox="1"/>
          <p:nvPr/>
        </p:nvSpPr>
        <p:spPr>
          <a:xfrm>
            <a:off x="131955" y="1355130"/>
            <a:ext cx="50694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 smtClean="0">
              <a:solidFill>
                <a:srgbClr val="008080"/>
              </a:solidFill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en-US" dirty="0" smtClean="0">
                <a:solidFill>
                  <a:srgbClr val="008080"/>
                </a:solidFill>
              </a:rPr>
              <a:t>Patient safety aspects</a:t>
            </a:r>
          </a:p>
          <a:p>
            <a:endParaRPr lang="en-US" dirty="0" smtClean="0">
              <a:solidFill>
                <a:srgbClr val="008080"/>
              </a:solidFill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en-US" dirty="0" smtClean="0">
                <a:solidFill>
                  <a:srgbClr val="008080"/>
                </a:solidFill>
              </a:rPr>
              <a:t>Patient </a:t>
            </a:r>
            <a:r>
              <a:rPr lang="en-US" dirty="0">
                <a:solidFill>
                  <a:srgbClr val="008080"/>
                </a:solidFill>
              </a:rPr>
              <a:t>m</a:t>
            </a:r>
            <a:r>
              <a:rPr lang="en-US" dirty="0" smtClean="0">
                <a:solidFill>
                  <a:srgbClr val="008080"/>
                </a:solidFill>
              </a:rPr>
              <a:t>ix-up </a:t>
            </a:r>
          </a:p>
          <a:p>
            <a:endParaRPr lang="en-US" dirty="0" smtClean="0">
              <a:solidFill>
                <a:srgbClr val="008080"/>
              </a:solidFill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en-US" dirty="0" smtClean="0">
                <a:solidFill>
                  <a:srgbClr val="008080"/>
                </a:solidFill>
              </a:rPr>
              <a:t>Image Generation mechanism</a:t>
            </a:r>
          </a:p>
          <a:p>
            <a:endParaRPr lang="en-US" dirty="0">
              <a:solidFill>
                <a:srgbClr val="008080"/>
              </a:solidFill>
            </a:endParaRPr>
          </a:p>
          <a:p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5186480" y="1355130"/>
            <a:ext cx="359685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8080"/>
                </a:solidFill>
              </a:rPr>
              <a:t>Approach</a:t>
            </a:r>
            <a:endParaRPr lang="en-US" b="1" dirty="0">
              <a:solidFill>
                <a:srgbClr val="008080"/>
              </a:solidFill>
            </a:endParaRPr>
          </a:p>
          <a:p>
            <a:pPr marL="285750" indent="-285750">
              <a:buFont typeface="Wingdings" pitchFamily="2" charset="2"/>
              <a:buChar char="v"/>
            </a:pPr>
            <a:endParaRPr lang="en-US" dirty="0" smtClean="0">
              <a:solidFill>
                <a:srgbClr val="008080"/>
              </a:solidFill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en-US" dirty="0" smtClean="0">
                <a:solidFill>
                  <a:srgbClr val="008080"/>
                </a:solidFill>
              </a:rPr>
              <a:t> Data (Pixel) consistency</a:t>
            </a:r>
          </a:p>
          <a:p>
            <a:pPr marL="285750" indent="-285750">
              <a:buFont typeface="Wingdings" pitchFamily="2" charset="2"/>
              <a:buChar char="v"/>
            </a:pPr>
            <a:endParaRPr lang="en-US" dirty="0" smtClean="0">
              <a:solidFill>
                <a:srgbClr val="008080"/>
              </a:solidFill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en-US" dirty="0" smtClean="0">
                <a:solidFill>
                  <a:srgbClr val="008080"/>
                </a:solidFill>
              </a:rPr>
              <a:t> Signed / Unsigned Data</a:t>
            </a:r>
          </a:p>
          <a:p>
            <a:endParaRPr lang="en-US" dirty="0" smtClean="0">
              <a:solidFill>
                <a:srgbClr val="008080"/>
              </a:solidFill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en-US" dirty="0" smtClean="0">
                <a:solidFill>
                  <a:srgbClr val="008080"/>
                </a:solidFill>
              </a:rPr>
              <a:t> Image Geometry  Checks</a:t>
            </a:r>
            <a:endParaRPr lang="en-US" dirty="0">
              <a:solidFill>
                <a:srgbClr val="008080"/>
              </a:solidFill>
            </a:endParaRPr>
          </a:p>
          <a:p>
            <a:endParaRPr lang="en-US" dirty="0">
              <a:solidFill>
                <a:srgbClr val="008080"/>
              </a:solidFill>
            </a:endParaRPr>
          </a:p>
          <a:p>
            <a:r>
              <a:rPr lang="en-US" b="1" dirty="0">
                <a:solidFill>
                  <a:srgbClr val="008080"/>
                </a:solidFill>
              </a:rPr>
              <a:t>Benefits:</a:t>
            </a:r>
          </a:p>
          <a:p>
            <a:pPr marL="285750" indent="-285750">
              <a:buFont typeface="Wingdings" pitchFamily="2" charset="2"/>
              <a:buChar char="v"/>
            </a:pPr>
            <a:endParaRPr lang="en-US" b="1" dirty="0">
              <a:solidFill>
                <a:srgbClr val="008080"/>
              </a:solidFill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en-US" dirty="0" smtClean="0">
                <a:solidFill>
                  <a:srgbClr val="008080"/>
                </a:solidFill>
              </a:rPr>
              <a:t>Pixel data consistency</a:t>
            </a:r>
          </a:p>
          <a:p>
            <a:pPr marL="285750" indent="-285750">
              <a:buFont typeface="Wingdings" pitchFamily="2" charset="2"/>
              <a:buChar char="v"/>
            </a:pPr>
            <a:endParaRPr lang="en-US" dirty="0" smtClean="0">
              <a:solidFill>
                <a:srgbClr val="008080"/>
              </a:solidFill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en-US" dirty="0" smtClean="0">
                <a:solidFill>
                  <a:srgbClr val="008080"/>
                </a:solidFill>
              </a:rPr>
              <a:t>Improves </a:t>
            </a:r>
            <a:r>
              <a:rPr lang="en-US" dirty="0">
                <a:solidFill>
                  <a:srgbClr val="008080"/>
                </a:solidFill>
              </a:rPr>
              <a:t>the Patient Safety </a:t>
            </a:r>
          </a:p>
          <a:p>
            <a:endParaRPr lang="en-US" dirty="0" smtClean="0">
              <a:solidFill>
                <a:srgbClr val="008080"/>
              </a:solidFill>
            </a:endParaRPr>
          </a:p>
          <a:p>
            <a:endParaRPr lang="en-US" dirty="0">
              <a:solidFill>
                <a:srgbClr val="008080"/>
              </a:solidFill>
            </a:endParaRPr>
          </a:p>
          <a:p>
            <a:endParaRPr lang="en-US" dirty="0" smtClean="0">
              <a:solidFill>
                <a:srgbClr val="008080"/>
              </a:solidFill>
            </a:endParaRPr>
          </a:p>
          <a:p>
            <a:endParaRPr lang="en-US" b="1" dirty="0" smtClean="0">
              <a:solidFill>
                <a:srgbClr val="008080"/>
              </a:solidFill>
            </a:endParaRPr>
          </a:p>
          <a:p>
            <a:endParaRPr lang="en-IN" b="1" dirty="0">
              <a:solidFill>
                <a:srgbClr val="00808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285" y="3337818"/>
            <a:ext cx="3456450" cy="309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930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March 2013 DICOM International Conference &amp; Seminar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 dirty="0" smtClean="0"/>
              <a:t>Effective Strategy for verifying DICOM Conformance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FA7FC1-DF09-41B3-9C9D-D01804B572C4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Media </a:t>
            </a:r>
            <a:r>
              <a:rPr lang="en-US" sz="3200" dirty="0" smtClean="0"/>
              <a:t>Interoperability</a:t>
            </a:r>
            <a:endParaRPr lang="en-US" sz="3200" dirty="0"/>
          </a:p>
        </p:txBody>
      </p:sp>
      <p:sp>
        <p:nvSpPr>
          <p:cNvPr id="7" name="TextBox 6"/>
          <p:cNvSpPr txBox="1"/>
          <p:nvPr/>
        </p:nvSpPr>
        <p:spPr>
          <a:xfrm>
            <a:off x="232234" y="1360982"/>
            <a:ext cx="518467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 smtClean="0">
              <a:solidFill>
                <a:srgbClr val="008080"/>
              </a:solidFill>
            </a:endParaRPr>
          </a:p>
          <a:p>
            <a:r>
              <a:rPr lang="en-US" dirty="0" smtClean="0">
                <a:solidFill>
                  <a:srgbClr val="008080"/>
                </a:solidFill>
              </a:rPr>
              <a:t>Media (CDs/DVDs) Creation/Reading- Standard</a:t>
            </a:r>
          </a:p>
          <a:p>
            <a:endParaRPr lang="en-US" dirty="0">
              <a:solidFill>
                <a:srgbClr val="008080"/>
              </a:solidFill>
            </a:endParaRPr>
          </a:p>
          <a:p>
            <a:endParaRPr lang="en-US" dirty="0" smtClean="0">
              <a:solidFill>
                <a:srgbClr val="008080"/>
              </a:solidFill>
            </a:endParaRPr>
          </a:p>
          <a:p>
            <a:endParaRPr lang="en-US" b="1" dirty="0">
              <a:solidFill>
                <a:srgbClr val="008080"/>
              </a:solidFill>
            </a:endParaRPr>
          </a:p>
          <a:p>
            <a:endParaRPr lang="en-US" dirty="0" smtClean="0"/>
          </a:p>
          <a:p>
            <a:r>
              <a:rPr lang="en-US" dirty="0" smtClean="0"/>
              <a:t> </a:t>
            </a:r>
            <a:endParaRPr lang="en-US" dirty="0">
              <a:solidFill>
                <a:srgbClr val="008080"/>
              </a:solidFill>
            </a:endParaRPr>
          </a:p>
          <a:p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5263290" y="1623965"/>
            <a:ext cx="368688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8080"/>
                </a:solidFill>
              </a:rPr>
              <a:t>Approach:</a:t>
            </a:r>
          </a:p>
          <a:p>
            <a:endParaRPr lang="en-US" b="1" dirty="0">
              <a:solidFill>
                <a:srgbClr val="008080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dirty="0" smtClean="0">
                <a:solidFill>
                  <a:srgbClr val="008080"/>
                </a:solidFill>
              </a:rPr>
              <a:t>Different Media Type &amp; Formats</a:t>
            </a:r>
          </a:p>
          <a:p>
            <a:endParaRPr lang="en-US" dirty="0">
              <a:solidFill>
                <a:srgbClr val="008080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dirty="0" smtClean="0">
                <a:solidFill>
                  <a:srgbClr val="008080"/>
                </a:solidFill>
              </a:rPr>
              <a:t>IHE </a:t>
            </a:r>
            <a:r>
              <a:rPr lang="en-US" dirty="0">
                <a:solidFill>
                  <a:srgbClr val="008080"/>
                </a:solidFill>
              </a:rPr>
              <a:t>PDI </a:t>
            </a:r>
            <a:r>
              <a:rPr lang="en-US" dirty="0" smtClean="0">
                <a:solidFill>
                  <a:srgbClr val="008080"/>
                </a:solidFill>
              </a:rPr>
              <a:t>profile tests</a:t>
            </a:r>
          </a:p>
          <a:p>
            <a:endParaRPr lang="en-US" dirty="0">
              <a:solidFill>
                <a:srgbClr val="008080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008080"/>
                </a:solidFill>
              </a:rPr>
              <a:t>Reading of different vendor </a:t>
            </a:r>
            <a:r>
              <a:rPr lang="en-US" dirty="0" smtClean="0">
                <a:solidFill>
                  <a:srgbClr val="008080"/>
                </a:solidFill>
              </a:rPr>
              <a:t>CDs/DVDs</a:t>
            </a:r>
            <a:endParaRPr lang="en-US" dirty="0">
              <a:solidFill>
                <a:srgbClr val="008080"/>
              </a:solidFill>
            </a:endParaRPr>
          </a:p>
          <a:p>
            <a:pPr marL="285750" indent="-285750">
              <a:buFontTx/>
              <a:buChar char="-"/>
            </a:pPr>
            <a:endParaRPr lang="en-US" b="1" dirty="0">
              <a:solidFill>
                <a:srgbClr val="008080"/>
              </a:solidFill>
            </a:endParaRPr>
          </a:p>
          <a:p>
            <a:r>
              <a:rPr lang="en-US" b="1" dirty="0">
                <a:solidFill>
                  <a:srgbClr val="008080"/>
                </a:solidFill>
              </a:rPr>
              <a:t>Benefits</a:t>
            </a:r>
            <a:r>
              <a:rPr lang="en-US" b="1" dirty="0" smtClean="0">
                <a:solidFill>
                  <a:srgbClr val="008080"/>
                </a:solidFill>
              </a:rPr>
              <a:t>:</a:t>
            </a:r>
          </a:p>
          <a:p>
            <a:endParaRPr lang="en-US" b="1" dirty="0" smtClean="0">
              <a:solidFill>
                <a:srgbClr val="008080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dirty="0" smtClean="0">
                <a:solidFill>
                  <a:srgbClr val="008080"/>
                </a:solidFill>
              </a:rPr>
              <a:t>Media creation/reading </a:t>
            </a:r>
            <a:r>
              <a:rPr lang="en-US" dirty="0">
                <a:solidFill>
                  <a:srgbClr val="008080"/>
                </a:solidFill>
              </a:rPr>
              <a:t>-</a:t>
            </a:r>
            <a:r>
              <a:rPr lang="en-US" dirty="0" smtClean="0">
                <a:solidFill>
                  <a:srgbClr val="008080"/>
                </a:solidFill>
              </a:rPr>
              <a:t> </a:t>
            </a:r>
            <a:r>
              <a:rPr lang="en-US" dirty="0">
                <a:solidFill>
                  <a:srgbClr val="008080"/>
                </a:solidFill>
              </a:rPr>
              <a:t>DICOM &amp;</a:t>
            </a:r>
            <a:r>
              <a:rPr lang="en-US" dirty="0" smtClean="0">
                <a:solidFill>
                  <a:srgbClr val="008080"/>
                </a:solidFill>
              </a:rPr>
              <a:t> </a:t>
            </a:r>
            <a:r>
              <a:rPr lang="en-US" dirty="0">
                <a:solidFill>
                  <a:srgbClr val="008080"/>
                </a:solidFill>
              </a:rPr>
              <a:t>IHE compliant</a:t>
            </a:r>
          </a:p>
          <a:p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705" y="2515144"/>
            <a:ext cx="3695700" cy="3302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109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1957696"/>
            <a:ext cx="7772400" cy="637502"/>
          </a:xfrm>
        </p:spPr>
        <p:txBody>
          <a:bodyPr/>
          <a:lstStyle/>
          <a:p>
            <a:pPr algn="l"/>
            <a:endParaRPr lang="en-US" dirty="0" smtClean="0"/>
          </a:p>
          <a:p>
            <a:pPr algn="l"/>
            <a:endParaRPr lang="en-US" dirty="0"/>
          </a:p>
          <a:p>
            <a:pPr algn="l"/>
            <a:endParaRPr lang="en-US" dirty="0" smtClean="0"/>
          </a:p>
          <a:p>
            <a:pPr algn="l"/>
            <a:endParaRPr lang="en-US" dirty="0" smtClean="0"/>
          </a:p>
          <a:p>
            <a:pPr algn="l"/>
            <a:endParaRPr lang="en-US" dirty="0"/>
          </a:p>
          <a:p>
            <a:pPr algn="l"/>
            <a:endParaRPr lang="en-US" dirty="0" smtClean="0"/>
          </a:p>
          <a:p>
            <a:pPr algn="l"/>
            <a:endParaRPr lang="en-US" dirty="0"/>
          </a:p>
          <a:p>
            <a:pPr algn="l"/>
            <a:endParaRPr lang="en-US" dirty="0" smtClean="0"/>
          </a:p>
          <a:p>
            <a:pPr algn="l"/>
            <a:endParaRPr lang="en-US" dirty="0"/>
          </a:p>
          <a:p>
            <a:pPr algn="l"/>
            <a:endParaRPr lang="en-US" dirty="0" smtClean="0"/>
          </a:p>
          <a:p>
            <a:pPr algn="l"/>
            <a:endParaRPr lang="en-US" dirty="0"/>
          </a:p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March 2013 DICOM International Conference &amp; Seminar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 dirty="0" smtClean="0"/>
              <a:t>Effective Strategy for verifying DICOM Conformance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FA7FC1-DF09-41B3-9C9D-D01804B572C4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Performance &amp; Stress</a:t>
            </a:r>
            <a:endParaRPr lang="en-IN" sz="3200" dirty="0"/>
          </a:p>
        </p:txBody>
      </p:sp>
      <p:sp>
        <p:nvSpPr>
          <p:cNvPr id="7" name="TextBox 6"/>
          <p:cNvSpPr txBox="1"/>
          <p:nvPr/>
        </p:nvSpPr>
        <p:spPr>
          <a:xfrm>
            <a:off x="78615" y="1316725"/>
            <a:ext cx="50694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endParaRPr lang="en-US" b="1" dirty="0" smtClean="0">
              <a:solidFill>
                <a:srgbClr val="008080"/>
              </a:solidFill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en-US" dirty="0" smtClean="0">
                <a:solidFill>
                  <a:srgbClr val="008080"/>
                </a:solidFill>
              </a:rPr>
              <a:t>Performance - Images Per Second (IPS) 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US" dirty="0" smtClean="0">
                <a:solidFill>
                  <a:srgbClr val="008080"/>
                </a:solidFill>
              </a:rPr>
              <a:t>Stress -  Size, # Studies, Associations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US" dirty="0" smtClean="0">
                <a:solidFill>
                  <a:srgbClr val="008080"/>
                </a:solidFill>
              </a:rPr>
              <a:t>Resource utilization (Memory &amp; Processor)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5301695" y="1700775"/>
            <a:ext cx="384230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8080"/>
                </a:solidFill>
              </a:rPr>
              <a:t>Approach:</a:t>
            </a:r>
          </a:p>
          <a:p>
            <a:endParaRPr lang="en-US" b="1" dirty="0">
              <a:solidFill>
                <a:srgbClr val="008080"/>
              </a:solidFill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en-US" dirty="0" smtClean="0">
                <a:solidFill>
                  <a:srgbClr val="008080"/>
                </a:solidFill>
              </a:rPr>
              <a:t>Images Per Second (IPS)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US" dirty="0" smtClean="0">
                <a:solidFill>
                  <a:srgbClr val="008080"/>
                </a:solidFill>
              </a:rPr>
              <a:t>Memory &amp; Processor Utilization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US" dirty="0" smtClean="0">
                <a:solidFill>
                  <a:srgbClr val="008080"/>
                </a:solidFill>
              </a:rPr>
              <a:t>Patient Size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US" dirty="0" smtClean="0">
                <a:solidFill>
                  <a:srgbClr val="008080"/>
                </a:solidFill>
              </a:rPr>
              <a:t># Association</a:t>
            </a:r>
          </a:p>
          <a:p>
            <a:pPr marL="285750" indent="-285750">
              <a:buFontTx/>
              <a:buChar char="-"/>
            </a:pPr>
            <a:endParaRPr lang="en-US" b="1" dirty="0">
              <a:solidFill>
                <a:srgbClr val="008080"/>
              </a:solidFill>
            </a:endParaRPr>
          </a:p>
          <a:p>
            <a:r>
              <a:rPr lang="en-US" b="1" dirty="0">
                <a:solidFill>
                  <a:srgbClr val="008080"/>
                </a:solidFill>
              </a:rPr>
              <a:t>Benefits</a:t>
            </a:r>
            <a:r>
              <a:rPr lang="en-US" b="1" dirty="0" smtClean="0">
                <a:solidFill>
                  <a:srgbClr val="008080"/>
                </a:solidFill>
              </a:rPr>
              <a:t>:</a:t>
            </a:r>
          </a:p>
          <a:p>
            <a:endParaRPr lang="en-US" b="1" dirty="0">
              <a:solidFill>
                <a:srgbClr val="008080"/>
              </a:solidFill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en-US" dirty="0">
                <a:solidFill>
                  <a:srgbClr val="008080"/>
                </a:solidFill>
              </a:rPr>
              <a:t>Compare </a:t>
            </a:r>
            <a:r>
              <a:rPr lang="en-US" dirty="0" smtClean="0">
                <a:solidFill>
                  <a:srgbClr val="008080"/>
                </a:solidFill>
              </a:rPr>
              <a:t>Current Vs Released</a:t>
            </a:r>
            <a:endParaRPr lang="en-US" dirty="0">
              <a:solidFill>
                <a:srgbClr val="008080"/>
              </a:solidFill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en-US" dirty="0">
                <a:solidFill>
                  <a:srgbClr val="008080"/>
                </a:solidFill>
              </a:rPr>
              <a:t>Benchmarking </a:t>
            </a:r>
            <a:endParaRPr lang="en-US" dirty="0" smtClean="0">
              <a:solidFill>
                <a:srgbClr val="008080"/>
              </a:solidFill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en-US" dirty="0" smtClean="0">
                <a:solidFill>
                  <a:srgbClr val="008080"/>
                </a:solidFill>
              </a:rPr>
              <a:t>Stability &amp; Reliability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IN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500" y="3044051"/>
            <a:ext cx="3124200" cy="27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860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1892800"/>
            <a:ext cx="7772400" cy="637502"/>
          </a:xfrm>
        </p:spPr>
        <p:txBody>
          <a:bodyPr/>
          <a:lstStyle/>
          <a:p>
            <a:pPr algn="l"/>
            <a:endParaRPr lang="en-US" dirty="0" smtClean="0"/>
          </a:p>
          <a:p>
            <a:pPr algn="l"/>
            <a:endParaRPr lang="en-US" dirty="0"/>
          </a:p>
          <a:p>
            <a:pPr algn="l"/>
            <a:endParaRPr lang="en-US" dirty="0" smtClean="0"/>
          </a:p>
          <a:p>
            <a:pPr algn="l"/>
            <a:endParaRPr lang="en-US" dirty="0" smtClean="0"/>
          </a:p>
          <a:p>
            <a:pPr algn="l"/>
            <a:endParaRPr lang="en-US" dirty="0"/>
          </a:p>
          <a:p>
            <a:pPr algn="l"/>
            <a:endParaRPr lang="en-US" dirty="0" smtClean="0"/>
          </a:p>
          <a:p>
            <a:pPr algn="l"/>
            <a:endParaRPr lang="en-US" dirty="0"/>
          </a:p>
          <a:p>
            <a:pPr algn="l"/>
            <a:endParaRPr lang="en-US" dirty="0" smtClean="0"/>
          </a:p>
          <a:p>
            <a:pPr algn="l"/>
            <a:endParaRPr lang="en-US" dirty="0"/>
          </a:p>
          <a:p>
            <a:pPr algn="l"/>
            <a:endParaRPr lang="en-US" dirty="0" smtClean="0"/>
          </a:p>
          <a:p>
            <a:pPr algn="l"/>
            <a:endParaRPr lang="en-US" dirty="0"/>
          </a:p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March 2013 DICOM International Conference &amp; Seminar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 dirty="0" smtClean="0"/>
              <a:t>Effective Strategy for verifying DICOM Conformance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FA7FC1-DF09-41B3-9C9D-D01804B572C4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Summary</a:t>
            </a:r>
            <a:endParaRPr lang="en-IN" sz="3200" dirty="0"/>
          </a:p>
        </p:txBody>
      </p:sp>
      <p:pic>
        <p:nvPicPr>
          <p:cNvPr id="1026" name="Picture 3" descr="image00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690" y="1547155"/>
            <a:ext cx="7834620" cy="481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17821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-9895" y="1700775"/>
            <a:ext cx="7772400" cy="230431"/>
          </a:xfrm>
        </p:spPr>
        <p:txBody>
          <a:bodyPr/>
          <a:lstStyle/>
          <a:p>
            <a:pPr algn="l"/>
            <a:endParaRPr lang="en-US" dirty="0" smtClean="0"/>
          </a:p>
          <a:p>
            <a:pPr algn="l"/>
            <a:endParaRPr lang="en-US" dirty="0"/>
          </a:p>
          <a:p>
            <a:pPr algn="l"/>
            <a:endParaRPr lang="en-US" dirty="0" smtClean="0"/>
          </a:p>
          <a:p>
            <a:pPr algn="l"/>
            <a:endParaRPr lang="en-US" dirty="0"/>
          </a:p>
          <a:p>
            <a:pPr algn="l"/>
            <a:endParaRPr lang="en-US" dirty="0" smtClean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March 2013 DICOM International Conference &amp; Seminar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 dirty="0" smtClean="0"/>
              <a:t>Effective Strategy for verifying DICOM Conformance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FA7FC1-DF09-41B3-9C9D-D01804B572C4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 Conclusion</a:t>
            </a:r>
            <a:endParaRPr lang="en-IN" sz="3200" dirty="0"/>
          </a:p>
        </p:txBody>
      </p:sp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3643735757"/>
              </p:ext>
            </p:extLst>
          </p:nvPr>
        </p:nvGraphicFramePr>
        <p:xfrm>
          <a:off x="1620012" y="1786972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303163" y="3442956"/>
            <a:ext cx="115214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/>
              <a:t>Harmonization</a:t>
            </a:r>
          </a:p>
          <a:p>
            <a:r>
              <a:rPr lang="en-US" sz="1100" dirty="0"/>
              <a:t> </a:t>
            </a:r>
            <a:r>
              <a:rPr lang="en-US" sz="1100" dirty="0" smtClean="0"/>
              <a:t>      Tests</a:t>
            </a:r>
          </a:p>
          <a:p>
            <a:r>
              <a:rPr lang="en-US" sz="1100" dirty="0"/>
              <a:t> </a:t>
            </a:r>
            <a:r>
              <a:rPr lang="en-US" sz="1100" dirty="0" smtClean="0"/>
              <a:t>      etc..</a:t>
            </a:r>
            <a:endParaRPr lang="en-IN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3578640" y="2023452"/>
            <a:ext cx="22658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Transfer Syntax Tests</a:t>
            </a:r>
            <a:endParaRPr lang="en-IN" sz="14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0280" y="5387653"/>
            <a:ext cx="1876672" cy="115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870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References</a:t>
            </a:r>
            <a:endParaRPr lang="en-US" sz="3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5250" y="6501400"/>
            <a:ext cx="3478220" cy="3175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March 2013 DICOM International Conference &amp; Seminar 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11875" y="6501400"/>
            <a:ext cx="4723815" cy="317500"/>
          </a:xfrm>
        </p:spPr>
        <p:txBody>
          <a:bodyPr/>
          <a:lstStyle/>
          <a:p>
            <a:pPr>
              <a:defRPr/>
            </a:pPr>
            <a:r>
              <a:rPr lang="en-IN" dirty="0" smtClean="0"/>
              <a:t>Effective Strategy for verifying DICOM Conformance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70696F-EECE-4C70-B5BC-2F2BE52D202A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pic>
        <p:nvPicPr>
          <p:cNvPr id="8" name="Picture 4" descr="DICOM LO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3328" y="2279155"/>
            <a:ext cx="256222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0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33328" y="3275262"/>
            <a:ext cx="2840037" cy="604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Rectangle 16"/>
          <p:cNvSpPr>
            <a:spLocks noChangeArrowheads="1"/>
          </p:cNvSpPr>
          <p:nvPr/>
        </p:nvSpPr>
        <p:spPr bwMode="auto">
          <a:xfrm>
            <a:off x="3326183" y="3505928"/>
            <a:ext cx="3879850" cy="614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2200" b="1" u="sng" dirty="0">
                <a:solidFill>
                  <a:srgbClr val="0000FF"/>
                </a:solidFill>
                <a:latin typeface="MS Reference Sans Serif" pitchFamily="34" charset="0"/>
              </a:rPr>
              <a:t>http://www.IHE.net/</a:t>
            </a:r>
          </a:p>
        </p:txBody>
      </p:sp>
      <p:sp>
        <p:nvSpPr>
          <p:cNvPr id="16" name="Rectangle 18"/>
          <p:cNvSpPr>
            <a:spLocks noChangeArrowheads="1"/>
          </p:cNvSpPr>
          <p:nvPr/>
        </p:nvSpPr>
        <p:spPr bwMode="auto">
          <a:xfrm>
            <a:off x="3328800" y="2660900"/>
            <a:ext cx="3879850" cy="614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2200" b="1" u="sng" dirty="0">
                <a:solidFill>
                  <a:srgbClr val="0000FF"/>
                </a:solidFill>
                <a:latin typeface="MS Reference Sans Serif" pitchFamily="34" charset="0"/>
              </a:rPr>
              <a:t>http</a:t>
            </a:r>
            <a:r>
              <a:rPr lang="en-US" sz="2200" b="1" u="sng" dirty="0" smtClean="0">
                <a:solidFill>
                  <a:srgbClr val="0000FF"/>
                </a:solidFill>
                <a:latin typeface="MS Reference Sans Serif" pitchFamily="34" charset="0"/>
              </a:rPr>
              <a:t>://dicom.nema.org</a:t>
            </a:r>
            <a:r>
              <a:rPr lang="en-US" sz="2200" b="1" u="sng" dirty="0">
                <a:solidFill>
                  <a:srgbClr val="0000FF"/>
                </a:solidFill>
                <a:latin typeface="MS Reference Sans Serif" pitchFamily="34" charset="0"/>
              </a:rPr>
              <a:t>/</a:t>
            </a:r>
          </a:p>
        </p:txBody>
      </p:sp>
      <p:sp>
        <p:nvSpPr>
          <p:cNvPr id="2" name="Rectangle 1"/>
          <p:cNvSpPr/>
          <p:nvPr/>
        </p:nvSpPr>
        <p:spPr>
          <a:xfrm>
            <a:off x="501070" y="4258606"/>
            <a:ext cx="8180267" cy="6740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IN" sz="2200" b="1" u="sng" dirty="0" smtClean="0">
                <a:solidFill>
                  <a:schemeClr val="accent6">
                    <a:lumMod val="75000"/>
                  </a:schemeClr>
                </a:solidFill>
                <a:latin typeface="MS Reference Sans Serif" pitchFamily="34" charset="0"/>
                <a:hlinkClick r:id="rId5"/>
              </a:rPr>
              <a:t>http://en.wikipedia.org/wiki/Conceptual_interoperability</a:t>
            </a:r>
            <a:endParaRPr lang="en-IN" sz="2200" b="1" u="sng" dirty="0">
              <a:solidFill>
                <a:schemeClr val="accent6">
                  <a:lumMod val="75000"/>
                </a:schemeClr>
              </a:solidFill>
              <a:latin typeface="MS Reference Sans Serif" pitchFamily="34" charset="0"/>
            </a:endParaRPr>
          </a:p>
          <a:p>
            <a:endParaRPr lang="en-IN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Author Contacts</a:t>
            </a:r>
            <a:endParaRPr lang="en-US" sz="3200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>
                <a:hlinkClick r:id="rId2"/>
              </a:rPr>
              <a:t>Venkateswara.goud@philips.com</a:t>
            </a:r>
            <a:endParaRPr lang="en-IN" dirty="0"/>
          </a:p>
          <a:p>
            <a:r>
              <a:rPr lang="en-US" u="sng" dirty="0">
                <a:hlinkClick r:id="rId3"/>
              </a:rPr>
              <a:t>Chitrai.selvam@philips.com</a:t>
            </a:r>
            <a:endParaRPr lang="en-IN" dirty="0"/>
          </a:p>
          <a:p>
            <a:r>
              <a:rPr lang="en-US" u="sng" dirty="0" smtClean="0">
                <a:hlinkClick r:id="rId4"/>
              </a:rPr>
              <a:t>Kishan.Harwalkar@philips.com</a:t>
            </a:r>
            <a:endParaRPr lang="en-US" u="sng" dirty="0" smtClean="0"/>
          </a:p>
          <a:p>
            <a:endParaRPr lang="en-US" u="sng" dirty="0"/>
          </a:p>
          <a:p>
            <a:r>
              <a:rPr lang="en-US" dirty="0" smtClean="0"/>
              <a:t>Philips Innovation Campus,Bangalore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March 2013 DICOM International Conference &amp; Seminar 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Effective Strategy for verifying DICOM Conformance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0696F-EECE-4C70-B5BC-2F2BE52D202A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3" name="Rectangle 15"/>
          <p:cNvSpPr>
            <a:spLocks noChangeArrowheads="1"/>
          </p:cNvSpPr>
          <p:nvPr/>
        </p:nvSpPr>
        <p:spPr bwMode="auto">
          <a:xfrm>
            <a:off x="3227388" y="2698750"/>
            <a:ext cx="3879850" cy="614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lnSpc>
                <a:spcPct val="90000"/>
              </a:lnSpc>
              <a:spcBef>
                <a:spcPct val="20000"/>
              </a:spcBef>
            </a:pPr>
            <a:endParaRPr lang="en-US" sz="2200" b="1" u="sng" dirty="0">
              <a:solidFill>
                <a:srgbClr val="0000FF"/>
              </a:solidFill>
              <a:latin typeface="MS Reference Sans Serif" pitchFamily="34" charset="0"/>
            </a:endParaRPr>
          </a:p>
        </p:txBody>
      </p:sp>
      <p:sp>
        <p:nvSpPr>
          <p:cNvPr id="14" name="Rectangle 16"/>
          <p:cNvSpPr>
            <a:spLocks noChangeArrowheads="1"/>
          </p:cNvSpPr>
          <p:nvPr/>
        </p:nvSpPr>
        <p:spPr bwMode="auto">
          <a:xfrm>
            <a:off x="424259" y="1666875"/>
            <a:ext cx="6567255" cy="32599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lnSpc>
                <a:spcPct val="90000"/>
              </a:lnSpc>
              <a:spcBef>
                <a:spcPct val="20000"/>
              </a:spcBef>
            </a:pPr>
            <a:endParaRPr lang="en-US" sz="2200" b="1" u="sng" dirty="0">
              <a:solidFill>
                <a:srgbClr val="0000FF"/>
              </a:solidFill>
              <a:latin typeface="MS Reference Sans Serif" pitchFamily="34" charset="0"/>
            </a:endParaRPr>
          </a:p>
        </p:txBody>
      </p:sp>
      <p:sp>
        <p:nvSpPr>
          <p:cNvPr id="15" name="Text Box 17"/>
          <p:cNvSpPr txBox="1">
            <a:spLocks noChangeArrowheads="1"/>
          </p:cNvSpPr>
          <p:nvPr/>
        </p:nvSpPr>
        <p:spPr bwMode="auto">
          <a:xfrm>
            <a:off x="1230765" y="5157225"/>
            <a:ext cx="53276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800" b="1" i="1" dirty="0">
                <a:solidFill>
                  <a:srgbClr val="008080"/>
                </a:solidFill>
              </a:rPr>
              <a:t>Thank you for your attention  !</a:t>
            </a:r>
          </a:p>
        </p:txBody>
      </p:sp>
      <p:sp>
        <p:nvSpPr>
          <p:cNvPr id="16" name="Rectangle 18"/>
          <p:cNvSpPr>
            <a:spLocks noChangeArrowheads="1"/>
          </p:cNvSpPr>
          <p:nvPr/>
        </p:nvSpPr>
        <p:spPr bwMode="auto">
          <a:xfrm>
            <a:off x="3227388" y="1662113"/>
            <a:ext cx="3879850" cy="614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lnSpc>
                <a:spcPct val="90000"/>
              </a:lnSpc>
              <a:spcBef>
                <a:spcPct val="20000"/>
              </a:spcBef>
            </a:pPr>
            <a:endParaRPr lang="en-US" sz="2200" b="1" u="sng" dirty="0">
              <a:solidFill>
                <a:srgbClr val="0000FF"/>
              </a:solidFill>
              <a:latin typeface="MS Reference Sans Serif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7246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4826</TotalTime>
  <Words>594</Words>
  <Application>Microsoft Office PowerPoint</Application>
  <PresentationFormat>On-screen Show (4:3)</PresentationFormat>
  <Paragraphs>288</Paragraphs>
  <Slides>15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Default Design</vt:lpstr>
      <vt:lpstr>  Effective Strategy for verifying DICOM Conformance</vt:lpstr>
      <vt:lpstr>Effective DICOM Verification Strategy</vt:lpstr>
      <vt:lpstr>Introduction</vt:lpstr>
      <vt:lpstr>Challenges </vt:lpstr>
      <vt:lpstr>Verification Strategy in Nutshell</vt:lpstr>
      <vt:lpstr>DICOM Services</vt:lpstr>
      <vt:lpstr>Transfer Syntax &amp; Data Conversion Verification</vt:lpstr>
      <vt:lpstr>DICOM Data Model &amp; Harmonization</vt:lpstr>
      <vt:lpstr>Hazard Scenarios</vt:lpstr>
      <vt:lpstr>Media Interoperability</vt:lpstr>
      <vt:lpstr>Performance &amp; Stress</vt:lpstr>
      <vt:lpstr>Summary</vt:lpstr>
      <vt:lpstr> Conclusion</vt:lpstr>
      <vt:lpstr>References</vt:lpstr>
      <vt:lpstr>Author Contacts</vt:lpstr>
    </vt:vector>
  </TitlesOfParts>
  <Company>anon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lucius</dc:creator>
  <cp:lastModifiedBy>Goud, Venkateswara</cp:lastModifiedBy>
  <cp:revision>465</cp:revision>
  <cp:lastPrinted>2013-03-13T12:54:36Z</cp:lastPrinted>
  <dcterms:created xsi:type="dcterms:W3CDTF">2008-01-03T19:09:51Z</dcterms:created>
  <dcterms:modified xsi:type="dcterms:W3CDTF">2013-03-13T16:27:11Z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</Properties>
</file>