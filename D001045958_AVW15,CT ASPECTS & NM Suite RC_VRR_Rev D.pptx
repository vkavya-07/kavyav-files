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5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4"/>
  </p:notesMasterIdLst>
  <p:sldIdLst>
    <p:sldId id="388" r:id="rId6"/>
    <p:sldId id="390" r:id="rId7"/>
    <p:sldId id="391" r:id="rId8"/>
    <p:sldId id="477" r:id="rId9"/>
    <p:sldId id="570" r:id="rId10"/>
    <p:sldId id="568" r:id="rId11"/>
    <p:sldId id="571" r:id="rId12"/>
    <p:sldId id="394" r:id="rId13"/>
    <p:sldId id="573" r:id="rId14"/>
    <p:sldId id="494" r:id="rId15"/>
    <p:sldId id="565" r:id="rId16"/>
    <p:sldId id="541" r:id="rId17"/>
    <p:sldId id="567" r:id="rId18"/>
    <p:sldId id="563" r:id="rId19"/>
    <p:sldId id="550" r:id="rId20"/>
    <p:sldId id="442" r:id="rId21"/>
    <p:sldId id="392" r:id="rId22"/>
    <p:sldId id="435" r:id="rId2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B985128-83CB-2152-34FF-4D6AF19EC9E8}" name="Kumar, Aashish" initials="KA" userId="S::Aashish.Kumar@philips.com::e6e7aaac-c599-4ac7-8882-b1dce99fb55b" providerId="AD"/>
  <p188:author id="{D7629231-3D67-D557-DBAA-C488814F9D9C}" name="H, Santhosh" initials="HS" userId="S::santhoshkumar.h@philips.com::47504107-947b-4107-92a5-6f8e5612f9c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ilips" initials="P" lastIdx="1" clrIdx="0">
    <p:extLst>
      <p:ext uri="{19B8F6BF-5375-455C-9EA6-DF929625EA0E}">
        <p15:presenceInfo xmlns:p15="http://schemas.microsoft.com/office/powerpoint/2012/main" userId="Philips" providerId="None"/>
      </p:ext>
    </p:extLst>
  </p:cmAuthor>
  <p:cmAuthor id="2" name="Kumar, Aashish" initials="KA" lastIdx="26" clrIdx="1">
    <p:extLst>
      <p:ext uri="{19B8F6BF-5375-455C-9EA6-DF929625EA0E}">
        <p15:presenceInfo xmlns:p15="http://schemas.microsoft.com/office/powerpoint/2012/main" userId="S-1-5-21-2052111302-790525478-839522115-9878515" providerId="AD"/>
      </p:ext>
    </p:extLst>
  </p:cmAuthor>
  <p:cmAuthor id="3" name="Kaiprath, Sandhya" initials="KS" lastIdx="1" clrIdx="2">
    <p:extLst>
      <p:ext uri="{19B8F6BF-5375-455C-9EA6-DF929625EA0E}">
        <p15:presenceInfo xmlns:p15="http://schemas.microsoft.com/office/powerpoint/2012/main" userId="S-1-5-21-2052111302-790525478-839522115-100849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ACF22E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164" autoAdjust="0"/>
    <p:restoredTop sz="94660"/>
  </p:normalViewPr>
  <p:slideViewPr>
    <p:cSldViewPr snapToGrid="0">
      <p:cViewPr varScale="1">
        <p:scale>
          <a:sx n="90" d="100"/>
          <a:sy n="90" d="100"/>
        </p:scale>
        <p:origin x="85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7398D0-528F-4FD4-8DF7-C53F6B72A8FF}" type="doc">
      <dgm:prSet loTypeId="urn:microsoft.com/office/officeart/2005/8/layout/equation2" loCatId="relationship" qsTypeId="urn:microsoft.com/office/officeart/2005/8/quickstyle/simple4" qsCatId="simple" csTypeId="urn:microsoft.com/office/officeart/2005/8/colors/colorful1" csCatId="colorful" phldr="1"/>
      <dgm:spPr/>
    </dgm:pt>
    <dgm:pt modelId="{A0EB154E-7522-4DCE-ADBC-5CB851E76100}">
      <dgm:prSet phldrT="[Text]"/>
      <dgm:spPr>
        <a:solidFill>
          <a:schemeClr val="accent3"/>
        </a:solidFill>
      </dgm:spPr>
      <dgm:t>
        <a:bodyPr/>
        <a:lstStyle/>
        <a:p>
          <a:r>
            <a:rPr lang="en-US" b="1" u="sng" dirty="0"/>
            <a:t>Closed / Removed</a:t>
          </a:r>
        </a:p>
        <a:p>
          <a:r>
            <a:rPr lang="en-US" dirty="0">
              <a:cs typeface="Calibri"/>
            </a:rPr>
            <a:t>1149</a:t>
          </a:r>
        </a:p>
      </dgm:t>
    </dgm:pt>
    <dgm:pt modelId="{8DA5C6B9-114A-477F-8E01-2B731CB3DB3F}" type="parTrans" cxnId="{8096249D-8448-45B0-AAEB-A862A8F6E5C8}">
      <dgm:prSet/>
      <dgm:spPr/>
      <dgm:t>
        <a:bodyPr/>
        <a:lstStyle/>
        <a:p>
          <a:endParaRPr lang="en-US"/>
        </a:p>
      </dgm:t>
    </dgm:pt>
    <dgm:pt modelId="{ABCDFEF6-E0A4-474C-B40F-5DE9E249CC82}" type="sibTrans" cxnId="{8096249D-8448-45B0-AAEB-A862A8F6E5C8}">
      <dgm:prSet/>
      <dgm:spPr>
        <a:solidFill>
          <a:schemeClr val="tx1"/>
        </a:solidFill>
      </dgm:spPr>
      <dgm:t>
        <a:bodyPr/>
        <a:lstStyle/>
        <a:p>
          <a:endParaRPr lang="en-US" dirty="0"/>
        </a:p>
      </dgm:t>
    </dgm:pt>
    <dgm:pt modelId="{ACE48483-F7D1-42D3-8DBE-86DF6C83859B}">
      <dgm:prSet phldrT="[Text]"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r>
            <a:rPr lang="en-US" b="1" u="sng" dirty="0"/>
            <a:t>Open</a:t>
          </a:r>
        </a:p>
        <a:p>
          <a:r>
            <a:rPr lang="en-US" dirty="0">
              <a:cs typeface="Calibri"/>
            </a:rPr>
            <a:t>102</a:t>
          </a:r>
        </a:p>
      </dgm:t>
    </dgm:pt>
    <dgm:pt modelId="{7DC38A77-0D1E-4E01-B404-5EA273A8A8EB}" type="parTrans" cxnId="{7A13EFE2-93BC-434F-BE0D-6DBEF7C59DDA}">
      <dgm:prSet/>
      <dgm:spPr/>
      <dgm:t>
        <a:bodyPr/>
        <a:lstStyle/>
        <a:p>
          <a:endParaRPr lang="en-US"/>
        </a:p>
      </dgm:t>
    </dgm:pt>
    <dgm:pt modelId="{E2E0ADA7-E01E-426B-B200-1B02423ABCF5}" type="sibTrans" cxnId="{7A13EFE2-93BC-434F-BE0D-6DBEF7C59DDA}">
      <dgm:prSet/>
      <dgm:spPr>
        <a:solidFill>
          <a:schemeClr val="tx1"/>
        </a:solidFill>
      </dgm:spPr>
      <dgm:t>
        <a:bodyPr/>
        <a:lstStyle/>
        <a:p>
          <a:endParaRPr lang="en-US" dirty="0"/>
        </a:p>
      </dgm:t>
    </dgm:pt>
    <dgm:pt modelId="{A313EC42-0282-4919-A7F5-56C03AAF0F19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2500" b="1" u="sng" dirty="0"/>
            <a:t>Found</a:t>
          </a:r>
        </a:p>
        <a:p>
          <a:r>
            <a:rPr lang="en-US" sz="2500" dirty="0">
              <a:cs typeface="Calibri"/>
            </a:rPr>
            <a:t>1249</a:t>
          </a:r>
        </a:p>
      </dgm:t>
    </dgm:pt>
    <dgm:pt modelId="{2C2D657F-B6F2-466A-9026-59C42D5B67A7}" type="parTrans" cxnId="{08A69903-3893-4E59-97F0-60A5EB4F133E}">
      <dgm:prSet/>
      <dgm:spPr/>
      <dgm:t>
        <a:bodyPr/>
        <a:lstStyle/>
        <a:p>
          <a:endParaRPr lang="en-US"/>
        </a:p>
      </dgm:t>
    </dgm:pt>
    <dgm:pt modelId="{ED9C267C-1865-4C93-9355-19B1CDE37E4A}" type="sibTrans" cxnId="{08A69903-3893-4E59-97F0-60A5EB4F133E}">
      <dgm:prSet/>
      <dgm:spPr/>
      <dgm:t>
        <a:bodyPr/>
        <a:lstStyle/>
        <a:p>
          <a:endParaRPr lang="en-US"/>
        </a:p>
      </dgm:t>
    </dgm:pt>
    <dgm:pt modelId="{4AEA286D-B664-4B26-9BE7-C0E75807A9EE}" type="pres">
      <dgm:prSet presAssocID="{5C7398D0-528F-4FD4-8DF7-C53F6B72A8FF}" presName="Name0" presStyleCnt="0">
        <dgm:presLayoutVars>
          <dgm:dir/>
          <dgm:resizeHandles val="exact"/>
        </dgm:presLayoutVars>
      </dgm:prSet>
      <dgm:spPr/>
    </dgm:pt>
    <dgm:pt modelId="{D8B1B148-DD5F-484F-B9A2-E34ACAFAFC5F}" type="pres">
      <dgm:prSet presAssocID="{5C7398D0-528F-4FD4-8DF7-C53F6B72A8FF}" presName="vNodes" presStyleCnt="0"/>
      <dgm:spPr/>
    </dgm:pt>
    <dgm:pt modelId="{5604E4D4-C63D-4649-84E7-C35BFE5F65A8}" type="pres">
      <dgm:prSet presAssocID="{A0EB154E-7522-4DCE-ADBC-5CB851E76100}" presName="node" presStyleLbl="node1" presStyleIdx="0" presStyleCnt="3">
        <dgm:presLayoutVars>
          <dgm:bulletEnabled val="1"/>
        </dgm:presLayoutVars>
      </dgm:prSet>
      <dgm:spPr/>
    </dgm:pt>
    <dgm:pt modelId="{1D83C45F-7402-4770-BD4F-1B9906B1B76E}" type="pres">
      <dgm:prSet presAssocID="{ABCDFEF6-E0A4-474C-B40F-5DE9E249CC82}" presName="spacerT" presStyleCnt="0"/>
      <dgm:spPr/>
    </dgm:pt>
    <dgm:pt modelId="{888F9B52-3D66-4675-8950-18FA60E09E36}" type="pres">
      <dgm:prSet presAssocID="{ABCDFEF6-E0A4-474C-B40F-5DE9E249CC82}" presName="sibTrans" presStyleLbl="sibTrans2D1" presStyleIdx="0" presStyleCnt="2"/>
      <dgm:spPr/>
    </dgm:pt>
    <dgm:pt modelId="{E2B376E6-BD03-498F-A84F-D2437FC83B4B}" type="pres">
      <dgm:prSet presAssocID="{ABCDFEF6-E0A4-474C-B40F-5DE9E249CC82}" presName="spacerB" presStyleCnt="0"/>
      <dgm:spPr/>
    </dgm:pt>
    <dgm:pt modelId="{FC4B9FDA-0546-47FA-8301-47EAAB48A05C}" type="pres">
      <dgm:prSet presAssocID="{ACE48483-F7D1-42D3-8DBE-86DF6C83859B}" presName="node" presStyleLbl="node1" presStyleIdx="1" presStyleCnt="3">
        <dgm:presLayoutVars>
          <dgm:bulletEnabled val="1"/>
        </dgm:presLayoutVars>
      </dgm:prSet>
      <dgm:spPr/>
    </dgm:pt>
    <dgm:pt modelId="{3B0BD5CA-81BA-4248-B3B5-9658DDE36B3F}" type="pres">
      <dgm:prSet presAssocID="{5C7398D0-528F-4FD4-8DF7-C53F6B72A8FF}" presName="sibTransLast" presStyleLbl="sibTrans2D1" presStyleIdx="1" presStyleCnt="2"/>
      <dgm:spPr/>
    </dgm:pt>
    <dgm:pt modelId="{F81E91DD-1839-4035-845F-467D58F11C36}" type="pres">
      <dgm:prSet presAssocID="{5C7398D0-528F-4FD4-8DF7-C53F6B72A8FF}" presName="connectorText" presStyleLbl="sibTrans2D1" presStyleIdx="1" presStyleCnt="2"/>
      <dgm:spPr/>
    </dgm:pt>
    <dgm:pt modelId="{A9926CD0-531F-4033-B89E-9BA80EDEC4D8}" type="pres">
      <dgm:prSet presAssocID="{5C7398D0-528F-4FD4-8DF7-C53F6B72A8FF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08A69903-3893-4E59-97F0-60A5EB4F133E}" srcId="{5C7398D0-528F-4FD4-8DF7-C53F6B72A8FF}" destId="{A313EC42-0282-4919-A7F5-56C03AAF0F19}" srcOrd="2" destOrd="0" parTransId="{2C2D657F-B6F2-466A-9026-59C42D5B67A7}" sibTransId="{ED9C267C-1865-4C93-9355-19B1CDE37E4A}"/>
    <dgm:cxn modelId="{2FB41A22-31A6-4A95-946A-45C90C44EF6A}" type="presOf" srcId="{A0EB154E-7522-4DCE-ADBC-5CB851E76100}" destId="{5604E4D4-C63D-4649-84E7-C35BFE5F65A8}" srcOrd="0" destOrd="0" presId="urn:microsoft.com/office/officeart/2005/8/layout/equation2"/>
    <dgm:cxn modelId="{D23CF62A-0CFB-4EEF-998D-5B146C8AFC79}" type="presOf" srcId="{E2E0ADA7-E01E-426B-B200-1B02423ABCF5}" destId="{F81E91DD-1839-4035-845F-467D58F11C36}" srcOrd="1" destOrd="0" presId="urn:microsoft.com/office/officeart/2005/8/layout/equation2"/>
    <dgm:cxn modelId="{DEF4A65B-2B46-4FA0-9969-72F429264107}" type="presOf" srcId="{A313EC42-0282-4919-A7F5-56C03AAF0F19}" destId="{A9926CD0-531F-4033-B89E-9BA80EDEC4D8}" srcOrd="0" destOrd="0" presId="urn:microsoft.com/office/officeart/2005/8/layout/equation2"/>
    <dgm:cxn modelId="{4BCD5B51-3BA3-43D0-8121-99BAFA721604}" type="presOf" srcId="{E2E0ADA7-E01E-426B-B200-1B02423ABCF5}" destId="{3B0BD5CA-81BA-4248-B3B5-9658DDE36B3F}" srcOrd="0" destOrd="0" presId="urn:microsoft.com/office/officeart/2005/8/layout/equation2"/>
    <dgm:cxn modelId="{8096249D-8448-45B0-AAEB-A862A8F6E5C8}" srcId="{5C7398D0-528F-4FD4-8DF7-C53F6B72A8FF}" destId="{A0EB154E-7522-4DCE-ADBC-5CB851E76100}" srcOrd="0" destOrd="0" parTransId="{8DA5C6B9-114A-477F-8E01-2B731CB3DB3F}" sibTransId="{ABCDFEF6-E0A4-474C-B40F-5DE9E249CC82}"/>
    <dgm:cxn modelId="{0B97EEB0-4C03-4DBA-AB55-9EF2B11ADD77}" type="presOf" srcId="{5C7398D0-528F-4FD4-8DF7-C53F6B72A8FF}" destId="{4AEA286D-B664-4B26-9BE7-C0E75807A9EE}" srcOrd="0" destOrd="0" presId="urn:microsoft.com/office/officeart/2005/8/layout/equation2"/>
    <dgm:cxn modelId="{5E43A0BF-41CB-4F62-AADA-9120B73BE2A4}" type="presOf" srcId="{ACE48483-F7D1-42D3-8DBE-86DF6C83859B}" destId="{FC4B9FDA-0546-47FA-8301-47EAAB48A05C}" srcOrd="0" destOrd="0" presId="urn:microsoft.com/office/officeart/2005/8/layout/equation2"/>
    <dgm:cxn modelId="{7A13EFE2-93BC-434F-BE0D-6DBEF7C59DDA}" srcId="{5C7398D0-528F-4FD4-8DF7-C53F6B72A8FF}" destId="{ACE48483-F7D1-42D3-8DBE-86DF6C83859B}" srcOrd="1" destOrd="0" parTransId="{7DC38A77-0D1E-4E01-B404-5EA273A8A8EB}" sibTransId="{E2E0ADA7-E01E-426B-B200-1B02423ABCF5}"/>
    <dgm:cxn modelId="{B92AABE8-ACD4-4EFB-B87C-B6F23811BDA9}" type="presOf" srcId="{ABCDFEF6-E0A4-474C-B40F-5DE9E249CC82}" destId="{888F9B52-3D66-4675-8950-18FA60E09E36}" srcOrd="0" destOrd="0" presId="urn:microsoft.com/office/officeart/2005/8/layout/equation2"/>
    <dgm:cxn modelId="{5D4BB461-B972-425C-9139-B06E7809A2F2}" type="presParOf" srcId="{4AEA286D-B664-4B26-9BE7-C0E75807A9EE}" destId="{D8B1B148-DD5F-484F-B9A2-E34ACAFAFC5F}" srcOrd="0" destOrd="0" presId="urn:microsoft.com/office/officeart/2005/8/layout/equation2"/>
    <dgm:cxn modelId="{6C9ABCC6-A5E5-435C-AA76-9E337CA51387}" type="presParOf" srcId="{D8B1B148-DD5F-484F-B9A2-E34ACAFAFC5F}" destId="{5604E4D4-C63D-4649-84E7-C35BFE5F65A8}" srcOrd="0" destOrd="0" presId="urn:microsoft.com/office/officeart/2005/8/layout/equation2"/>
    <dgm:cxn modelId="{4971905E-3C61-405D-ACF0-519899476A9D}" type="presParOf" srcId="{D8B1B148-DD5F-484F-B9A2-E34ACAFAFC5F}" destId="{1D83C45F-7402-4770-BD4F-1B9906B1B76E}" srcOrd="1" destOrd="0" presId="urn:microsoft.com/office/officeart/2005/8/layout/equation2"/>
    <dgm:cxn modelId="{8441EBA1-15D3-492E-882C-6906D59ACCB1}" type="presParOf" srcId="{D8B1B148-DD5F-484F-B9A2-E34ACAFAFC5F}" destId="{888F9B52-3D66-4675-8950-18FA60E09E36}" srcOrd="2" destOrd="0" presId="urn:microsoft.com/office/officeart/2005/8/layout/equation2"/>
    <dgm:cxn modelId="{041B6D14-801A-484D-9C2A-16F635F7454F}" type="presParOf" srcId="{D8B1B148-DD5F-484F-B9A2-E34ACAFAFC5F}" destId="{E2B376E6-BD03-498F-A84F-D2437FC83B4B}" srcOrd="3" destOrd="0" presId="urn:microsoft.com/office/officeart/2005/8/layout/equation2"/>
    <dgm:cxn modelId="{02B643A9-203F-4664-8911-A8A65EBD7BC0}" type="presParOf" srcId="{D8B1B148-DD5F-484F-B9A2-E34ACAFAFC5F}" destId="{FC4B9FDA-0546-47FA-8301-47EAAB48A05C}" srcOrd="4" destOrd="0" presId="urn:microsoft.com/office/officeart/2005/8/layout/equation2"/>
    <dgm:cxn modelId="{FB705864-1AD4-43BE-BE73-70B330FF7A72}" type="presParOf" srcId="{4AEA286D-B664-4B26-9BE7-C0E75807A9EE}" destId="{3B0BD5CA-81BA-4248-B3B5-9658DDE36B3F}" srcOrd="1" destOrd="0" presId="urn:microsoft.com/office/officeart/2005/8/layout/equation2"/>
    <dgm:cxn modelId="{7AD77C8F-B423-4B74-9694-9637D8848C78}" type="presParOf" srcId="{3B0BD5CA-81BA-4248-B3B5-9658DDE36B3F}" destId="{F81E91DD-1839-4035-845F-467D58F11C36}" srcOrd="0" destOrd="0" presId="urn:microsoft.com/office/officeart/2005/8/layout/equation2"/>
    <dgm:cxn modelId="{EAD62774-1FC1-44AE-82FB-AFFF37A32213}" type="presParOf" srcId="{4AEA286D-B664-4B26-9BE7-C0E75807A9EE}" destId="{A9926CD0-531F-4033-B89E-9BA80EDEC4D8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7398D0-528F-4FD4-8DF7-C53F6B72A8FF}" type="doc">
      <dgm:prSet loTypeId="urn:microsoft.com/office/officeart/2005/8/layout/equation2" loCatId="relationship" qsTypeId="urn:microsoft.com/office/officeart/2005/8/quickstyle/simple4" qsCatId="simple" csTypeId="urn:microsoft.com/office/officeart/2005/8/colors/colorful1" csCatId="colorful" phldr="1"/>
      <dgm:spPr/>
    </dgm:pt>
    <dgm:pt modelId="{A0EB154E-7522-4DCE-ADBC-5CB851E76100}">
      <dgm:prSet phldrT="[Text]"/>
      <dgm:spPr>
        <a:solidFill>
          <a:schemeClr val="accent3"/>
        </a:solidFill>
      </dgm:spPr>
      <dgm:t>
        <a:bodyPr/>
        <a:lstStyle/>
        <a:p>
          <a:r>
            <a:rPr lang="en-US" b="1" u="sng" dirty="0"/>
            <a:t>Closed / Removed</a:t>
          </a:r>
          <a:br>
            <a:rPr lang="en-US" b="1" u="sng" dirty="0"/>
          </a:br>
          <a:r>
            <a:rPr lang="en-US" b="1" u="sng" dirty="0"/>
            <a:t>185</a:t>
          </a:r>
          <a:endParaRPr lang="en-US" b="0" u="none" dirty="0"/>
        </a:p>
      </dgm:t>
    </dgm:pt>
    <dgm:pt modelId="{8DA5C6B9-114A-477F-8E01-2B731CB3DB3F}" type="parTrans" cxnId="{8096249D-8448-45B0-AAEB-A862A8F6E5C8}">
      <dgm:prSet/>
      <dgm:spPr/>
      <dgm:t>
        <a:bodyPr/>
        <a:lstStyle/>
        <a:p>
          <a:endParaRPr lang="en-US"/>
        </a:p>
      </dgm:t>
    </dgm:pt>
    <dgm:pt modelId="{ABCDFEF6-E0A4-474C-B40F-5DE9E249CC82}" type="sibTrans" cxnId="{8096249D-8448-45B0-AAEB-A862A8F6E5C8}">
      <dgm:prSet/>
      <dgm:spPr>
        <a:solidFill>
          <a:schemeClr val="tx1"/>
        </a:solidFill>
      </dgm:spPr>
      <dgm:t>
        <a:bodyPr/>
        <a:lstStyle/>
        <a:p>
          <a:endParaRPr lang="en-US" dirty="0"/>
        </a:p>
      </dgm:t>
    </dgm:pt>
    <dgm:pt modelId="{ACE48483-F7D1-42D3-8DBE-86DF6C83859B}">
      <dgm:prSet phldrT="[Text]"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r>
            <a:rPr lang="en-US" b="1" u="sng" dirty="0"/>
            <a:t>Open</a:t>
          </a:r>
        </a:p>
        <a:p>
          <a:r>
            <a:rPr lang="en-US" dirty="0">
              <a:cs typeface="Calibri"/>
            </a:rPr>
            <a:t>37</a:t>
          </a:r>
        </a:p>
      </dgm:t>
    </dgm:pt>
    <dgm:pt modelId="{7DC38A77-0D1E-4E01-B404-5EA273A8A8EB}" type="parTrans" cxnId="{7A13EFE2-93BC-434F-BE0D-6DBEF7C59DDA}">
      <dgm:prSet/>
      <dgm:spPr/>
      <dgm:t>
        <a:bodyPr/>
        <a:lstStyle/>
        <a:p>
          <a:endParaRPr lang="en-US"/>
        </a:p>
      </dgm:t>
    </dgm:pt>
    <dgm:pt modelId="{E2E0ADA7-E01E-426B-B200-1B02423ABCF5}" type="sibTrans" cxnId="{7A13EFE2-93BC-434F-BE0D-6DBEF7C59DDA}">
      <dgm:prSet/>
      <dgm:spPr>
        <a:solidFill>
          <a:schemeClr val="tx1"/>
        </a:solidFill>
      </dgm:spPr>
      <dgm:t>
        <a:bodyPr/>
        <a:lstStyle/>
        <a:p>
          <a:endParaRPr lang="en-US" dirty="0"/>
        </a:p>
      </dgm:t>
    </dgm:pt>
    <dgm:pt modelId="{A313EC42-0282-4919-A7F5-56C03AAF0F19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2500" b="1" u="sng" dirty="0"/>
            <a:t>Found</a:t>
          </a:r>
        </a:p>
        <a:p>
          <a:r>
            <a:rPr lang="en-US" sz="2500" dirty="0">
              <a:cs typeface="Calibri"/>
            </a:rPr>
            <a:t>223</a:t>
          </a:r>
        </a:p>
      </dgm:t>
    </dgm:pt>
    <dgm:pt modelId="{2C2D657F-B6F2-466A-9026-59C42D5B67A7}" type="parTrans" cxnId="{08A69903-3893-4E59-97F0-60A5EB4F133E}">
      <dgm:prSet/>
      <dgm:spPr/>
      <dgm:t>
        <a:bodyPr/>
        <a:lstStyle/>
        <a:p>
          <a:endParaRPr lang="en-US"/>
        </a:p>
      </dgm:t>
    </dgm:pt>
    <dgm:pt modelId="{ED9C267C-1865-4C93-9355-19B1CDE37E4A}" type="sibTrans" cxnId="{08A69903-3893-4E59-97F0-60A5EB4F133E}">
      <dgm:prSet/>
      <dgm:spPr/>
      <dgm:t>
        <a:bodyPr/>
        <a:lstStyle/>
        <a:p>
          <a:endParaRPr lang="en-US"/>
        </a:p>
      </dgm:t>
    </dgm:pt>
    <dgm:pt modelId="{4AEA286D-B664-4B26-9BE7-C0E75807A9EE}" type="pres">
      <dgm:prSet presAssocID="{5C7398D0-528F-4FD4-8DF7-C53F6B72A8FF}" presName="Name0" presStyleCnt="0">
        <dgm:presLayoutVars>
          <dgm:dir/>
          <dgm:resizeHandles val="exact"/>
        </dgm:presLayoutVars>
      </dgm:prSet>
      <dgm:spPr/>
    </dgm:pt>
    <dgm:pt modelId="{D8B1B148-DD5F-484F-B9A2-E34ACAFAFC5F}" type="pres">
      <dgm:prSet presAssocID="{5C7398D0-528F-4FD4-8DF7-C53F6B72A8FF}" presName="vNodes" presStyleCnt="0"/>
      <dgm:spPr/>
    </dgm:pt>
    <dgm:pt modelId="{5604E4D4-C63D-4649-84E7-C35BFE5F65A8}" type="pres">
      <dgm:prSet presAssocID="{A0EB154E-7522-4DCE-ADBC-5CB851E76100}" presName="node" presStyleLbl="node1" presStyleIdx="0" presStyleCnt="3">
        <dgm:presLayoutVars>
          <dgm:bulletEnabled val="1"/>
        </dgm:presLayoutVars>
      </dgm:prSet>
      <dgm:spPr/>
    </dgm:pt>
    <dgm:pt modelId="{1D83C45F-7402-4770-BD4F-1B9906B1B76E}" type="pres">
      <dgm:prSet presAssocID="{ABCDFEF6-E0A4-474C-B40F-5DE9E249CC82}" presName="spacerT" presStyleCnt="0"/>
      <dgm:spPr/>
    </dgm:pt>
    <dgm:pt modelId="{888F9B52-3D66-4675-8950-18FA60E09E36}" type="pres">
      <dgm:prSet presAssocID="{ABCDFEF6-E0A4-474C-B40F-5DE9E249CC82}" presName="sibTrans" presStyleLbl="sibTrans2D1" presStyleIdx="0" presStyleCnt="2"/>
      <dgm:spPr/>
    </dgm:pt>
    <dgm:pt modelId="{E2B376E6-BD03-498F-A84F-D2437FC83B4B}" type="pres">
      <dgm:prSet presAssocID="{ABCDFEF6-E0A4-474C-B40F-5DE9E249CC82}" presName="spacerB" presStyleCnt="0"/>
      <dgm:spPr/>
    </dgm:pt>
    <dgm:pt modelId="{FC4B9FDA-0546-47FA-8301-47EAAB48A05C}" type="pres">
      <dgm:prSet presAssocID="{ACE48483-F7D1-42D3-8DBE-86DF6C83859B}" presName="node" presStyleLbl="node1" presStyleIdx="1" presStyleCnt="3">
        <dgm:presLayoutVars>
          <dgm:bulletEnabled val="1"/>
        </dgm:presLayoutVars>
      </dgm:prSet>
      <dgm:spPr/>
    </dgm:pt>
    <dgm:pt modelId="{3B0BD5CA-81BA-4248-B3B5-9658DDE36B3F}" type="pres">
      <dgm:prSet presAssocID="{5C7398D0-528F-4FD4-8DF7-C53F6B72A8FF}" presName="sibTransLast" presStyleLbl="sibTrans2D1" presStyleIdx="1" presStyleCnt="2"/>
      <dgm:spPr/>
    </dgm:pt>
    <dgm:pt modelId="{F81E91DD-1839-4035-845F-467D58F11C36}" type="pres">
      <dgm:prSet presAssocID="{5C7398D0-528F-4FD4-8DF7-C53F6B72A8FF}" presName="connectorText" presStyleLbl="sibTrans2D1" presStyleIdx="1" presStyleCnt="2"/>
      <dgm:spPr/>
    </dgm:pt>
    <dgm:pt modelId="{A9926CD0-531F-4033-B89E-9BA80EDEC4D8}" type="pres">
      <dgm:prSet presAssocID="{5C7398D0-528F-4FD4-8DF7-C53F6B72A8FF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08A69903-3893-4E59-97F0-60A5EB4F133E}" srcId="{5C7398D0-528F-4FD4-8DF7-C53F6B72A8FF}" destId="{A313EC42-0282-4919-A7F5-56C03AAF0F19}" srcOrd="2" destOrd="0" parTransId="{2C2D657F-B6F2-466A-9026-59C42D5B67A7}" sibTransId="{ED9C267C-1865-4C93-9355-19B1CDE37E4A}"/>
    <dgm:cxn modelId="{2FB41A22-31A6-4A95-946A-45C90C44EF6A}" type="presOf" srcId="{A0EB154E-7522-4DCE-ADBC-5CB851E76100}" destId="{5604E4D4-C63D-4649-84E7-C35BFE5F65A8}" srcOrd="0" destOrd="0" presId="urn:microsoft.com/office/officeart/2005/8/layout/equation2"/>
    <dgm:cxn modelId="{D23CF62A-0CFB-4EEF-998D-5B146C8AFC79}" type="presOf" srcId="{E2E0ADA7-E01E-426B-B200-1B02423ABCF5}" destId="{F81E91DD-1839-4035-845F-467D58F11C36}" srcOrd="1" destOrd="0" presId="urn:microsoft.com/office/officeart/2005/8/layout/equation2"/>
    <dgm:cxn modelId="{DEF4A65B-2B46-4FA0-9969-72F429264107}" type="presOf" srcId="{A313EC42-0282-4919-A7F5-56C03AAF0F19}" destId="{A9926CD0-531F-4033-B89E-9BA80EDEC4D8}" srcOrd="0" destOrd="0" presId="urn:microsoft.com/office/officeart/2005/8/layout/equation2"/>
    <dgm:cxn modelId="{4BCD5B51-3BA3-43D0-8121-99BAFA721604}" type="presOf" srcId="{E2E0ADA7-E01E-426B-B200-1B02423ABCF5}" destId="{3B0BD5CA-81BA-4248-B3B5-9658DDE36B3F}" srcOrd="0" destOrd="0" presId="urn:microsoft.com/office/officeart/2005/8/layout/equation2"/>
    <dgm:cxn modelId="{8096249D-8448-45B0-AAEB-A862A8F6E5C8}" srcId="{5C7398D0-528F-4FD4-8DF7-C53F6B72A8FF}" destId="{A0EB154E-7522-4DCE-ADBC-5CB851E76100}" srcOrd="0" destOrd="0" parTransId="{8DA5C6B9-114A-477F-8E01-2B731CB3DB3F}" sibTransId="{ABCDFEF6-E0A4-474C-B40F-5DE9E249CC82}"/>
    <dgm:cxn modelId="{0B97EEB0-4C03-4DBA-AB55-9EF2B11ADD77}" type="presOf" srcId="{5C7398D0-528F-4FD4-8DF7-C53F6B72A8FF}" destId="{4AEA286D-B664-4B26-9BE7-C0E75807A9EE}" srcOrd="0" destOrd="0" presId="urn:microsoft.com/office/officeart/2005/8/layout/equation2"/>
    <dgm:cxn modelId="{5E43A0BF-41CB-4F62-AADA-9120B73BE2A4}" type="presOf" srcId="{ACE48483-F7D1-42D3-8DBE-86DF6C83859B}" destId="{FC4B9FDA-0546-47FA-8301-47EAAB48A05C}" srcOrd="0" destOrd="0" presId="urn:microsoft.com/office/officeart/2005/8/layout/equation2"/>
    <dgm:cxn modelId="{7A13EFE2-93BC-434F-BE0D-6DBEF7C59DDA}" srcId="{5C7398D0-528F-4FD4-8DF7-C53F6B72A8FF}" destId="{ACE48483-F7D1-42D3-8DBE-86DF6C83859B}" srcOrd="1" destOrd="0" parTransId="{7DC38A77-0D1E-4E01-B404-5EA273A8A8EB}" sibTransId="{E2E0ADA7-E01E-426B-B200-1B02423ABCF5}"/>
    <dgm:cxn modelId="{B92AABE8-ACD4-4EFB-B87C-B6F23811BDA9}" type="presOf" srcId="{ABCDFEF6-E0A4-474C-B40F-5DE9E249CC82}" destId="{888F9B52-3D66-4675-8950-18FA60E09E36}" srcOrd="0" destOrd="0" presId="urn:microsoft.com/office/officeart/2005/8/layout/equation2"/>
    <dgm:cxn modelId="{5D4BB461-B972-425C-9139-B06E7809A2F2}" type="presParOf" srcId="{4AEA286D-B664-4B26-9BE7-C0E75807A9EE}" destId="{D8B1B148-DD5F-484F-B9A2-E34ACAFAFC5F}" srcOrd="0" destOrd="0" presId="urn:microsoft.com/office/officeart/2005/8/layout/equation2"/>
    <dgm:cxn modelId="{6C9ABCC6-A5E5-435C-AA76-9E337CA51387}" type="presParOf" srcId="{D8B1B148-DD5F-484F-B9A2-E34ACAFAFC5F}" destId="{5604E4D4-C63D-4649-84E7-C35BFE5F65A8}" srcOrd="0" destOrd="0" presId="urn:microsoft.com/office/officeart/2005/8/layout/equation2"/>
    <dgm:cxn modelId="{4971905E-3C61-405D-ACF0-519899476A9D}" type="presParOf" srcId="{D8B1B148-DD5F-484F-B9A2-E34ACAFAFC5F}" destId="{1D83C45F-7402-4770-BD4F-1B9906B1B76E}" srcOrd="1" destOrd="0" presId="urn:microsoft.com/office/officeart/2005/8/layout/equation2"/>
    <dgm:cxn modelId="{8441EBA1-15D3-492E-882C-6906D59ACCB1}" type="presParOf" srcId="{D8B1B148-DD5F-484F-B9A2-E34ACAFAFC5F}" destId="{888F9B52-3D66-4675-8950-18FA60E09E36}" srcOrd="2" destOrd="0" presId="urn:microsoft.com/office/officeart/2005/8/layout/equation2"/>
    <dgm:cxn modelId="{041B6D14-801A-484D-9C2A-16F635F7454F}" type="presParOf" srcId="{D8B1B148-DD5F-484F-B9A2-E34ACAFAFC5F}" destId="{E2B376E6-BD03-498F-A84F-D2437FC83B4B}" srcOrd="3" destOrd="0" presId="urn:microsoft.com/office/officeart/2005/8/layout/equation2"/>
    <dgm:cxn modelId="{02B643A9-203F-4664-8911-A8A65EBD7BC0}" type="presParOf" srcId="{D8B1B148-DD5F-484F-B9A2-E34ACAFAFC5F}" destId="{FC4B9FDA-0546-47FA-8301-47EAAB48A05C}" srcOrd="4" destOrd="0" presId="urn:microsoft.com/office/officeart/2005/8/layout/equation2"/>
    <dgm:cxn modelId="{FB705864-1AD4-43BE-BE73-70B330FF7A72}" type="presParOf" srcId="{4AEA286D-B664-4B26-9BE7-C0E75807A9EE}" destId="{3B0BD5CA-81BA-4248-B3B5-9658DDE36B3F}" srcOrd="1" destOrd="0" presId="urn:microsoft.com/office/officeart/2005/8/layout/equation2"/>
    <dgm:cxn modelId="{7AD77C8F-B423-4B74-9694-9637D8848C78}" type="presParOf" srcId="{3B0BD5CA-81BA-4248-B3B5-9658DDE36B3F}" destId="{F81E91DD-1839-4035-845F-467D58F11C36}" srcOrd="0" destOrd="0" presId="urn:microsoft.com/office/officeart/2005/8/layout/equation2"/>
    <dgm:cxn modelId="{EAD62774-1FC1-44AE-82FB-AFFF37A32213}" type="presParOf" srcId="{4AEA286D-B664-4B26-9BE7-C0E75807A9EE}" destId="{A9926CD0-531F-4033-B89E-9BA80EDEC4D8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4E4D4-C63D-4649-84E7-C35BFE5F65A8}">
      <dsp:nvSpPr>
        <dsp:cNvPr id="0" name=""/>
        <dsp:cNvSpPr/>
      </dsp:nvSpPr>
      <dsp:spPr>
        <a:xfrm>
          <a:off x="290912" y="764"/>
          <a:ext cx="754247" cy="754247"/>
        </a:xfrm>
        <a:prstGeom prst="ellipse">
          <a:avLst/>
        </a:prstGeom>
        <a:solidFill>
          <a:schemeClr val="accent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Closed / Removed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cs typeface="Calibri"/>
            </a:rPr>
            <a:t>1149</a:t>
          </a:r>
        </a:p>
      </dsp:txBody>
      <dsp:txXfrm>
        <a:off x="401369" y="111221"/>
        <a:ext cx="533333" cy="533333"/>
      </dsp:txXfrm>
    </dsp:sp>
    <dsp:sp modelId="{888F9B52-3D66-4675-8950-18FA60E09E36}">
      <dsp:nvSpPr>
        <dsp:cNvPr id="0" name=""/>
        <dsp:cNvSpPr/>
      </dsp:nvSpPr>
      <dsp:spPr>
        <a:xfrm>
          <a:off x="449304" y="816256"/>
          <a:ext cx="437463" cy="437463"/>
        </a:xfrm>
        <a:prstGeom prst="mathPlus">
          <a:avLst/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507290" y="983542"/>
        <a:ext cx="321491" cy="102891"/>
      </dsp:txXfrm>
    </dsp:sp>
    <dsp:sp modelId="{FC4B9FDA-0546-47FA-8301-47EAAB48A05C}">
      <dsp:nvSpPr>
        <dsp:cNvPr id="0" name=""/>
        <dsp:cNvSpPr/>
      </dsp:nvSpPr>
      <dsp:spPr>
        <a:xfrm>
          <a:off x="290912" y="1314965"/>
          <a:ext cx="754247" cy="754247"/>
        </a:xfrm>
        <a:prstGeom prst="ellipse">
          <a:avLst/>
        </a:prstGeom>
        <a:solidFill>
          <a:schemeClr val="tx1">
            <a:lumMod val="85000"/>
            <a:lumOff val="1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Open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cs typeface="Calibri"/>
            </a:rPr>
            <a:t>102</a:t>
          </a:r>
        </a:p>
      </dsp:txBody>
      <dsp:txXfrm>
        <a:off x="401369" y="1425422"/>
        <a:ext cx="533333" cy="533333"/>
      </dsp:txXfrm>
    </dsp:sp>
    <dsp:sp modelId="{3B0BD5CA-81BA-4248-B3B5-9658DDE36B3F}">
      <dsp:nvSpPr>
        <dsp:cNvPr id="0" name=""/>
        <dsp:cNvSpPr/>
      </dsp:nvSpPr>
      <dsp:spPr>
        <a:xfrm>
          <a:off x="1158296" y="894698"/>
          <a:ext cx="239850" cy="280579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1158296" y="950814"/>
        <a:ext cx="167895" cy="168347"/>
      </dsp:txXfrm>
    </dsp:sp>
    <dsp:sp modelId="{A9926CD0-531F-4033-B89E-9BA80EDEC4D8}">
      <dsp:nvSpPr>
        <dsp:cNvPr id="0" name=""/>
        <dsp:cNvSpPr/>
      </dsp:nvSpPr>
      <dsp:spPr>
        <a:xfrm>
          <a:off x="1497708" y="280741"/>
          <a:ext cx="1508494" cy="1508494"/>
        </a:xfrm>
        <a:prstGeom prst="ellipse">
          <a:avLst/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/>
            <a:t>Found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cs typeface="Calibri"/>
            </a:rPr>
            <a:t>1249</a:t>
          </a:r>
        </a:p>
      </dsp:txBody>
      <dsp:txXfrm>
        <a:off x="1718622" y="501655"/>
        <a:ext cx="1066666" cy="1066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4E4D4-C63D-4649-84E7-C35BFE5F65A8}">
      <dsp:nvSpPr>
        <dsp:cNvPr id="0" name=""/>
        <dsp:cNvSpPr/>
      </dsp:nvSpPr>
      <dsp:spPr>
        <a:xfrm>
          <a:off x="290912" y="764"/>
          <a:ext cx="754247" cy="754247"/>
        </a:xfrm>
        <a:prstGeom prst="ellipse">
          <a:avLst/>
        </a:prstGeom>
        <a:solidFill>
          <a:schemeClr val="accent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Closed / Removed</a:t>
          </a:r>
          <a:br>
            <a:rPr lang="en-US" sz="1000" b="1" u="sng" kern="1200" dirty="0"/>
          </a:br>
          <a:r>
            <a:rPr lang="en-US" sz="1000" b="1" u="sng" kern="1200" dirty="0"/>
            <a:t>185</a:t>
          </a:r>
          <a:endParaRPr lang="en-US" sz="1000" b="0" u="none" kern="1200" dirty="0"/>
        </a:p>
      </dsp:txBody>
      <dsp:txXfrm>
        <a:off x="401369" y="111221"/>
        <a:ext cx="533333" cy="533333"/>
      </dsp:txXfrm>
    </dsp:sp>
    <dsp:sp modelId="{888F9B52-3D66-4675-8950-18FA60E09E36}">
      <dsp:nvSpPr>
        <dsp:cNvPr id="0" name=""/>
        <dsp:cNvSpPr/>
      </dsp:nvSpPr>
      <dsp:spPr>
        <a:xfrm>
          <a:off x="449304" y="816256"/>
          <a:ext cx="437463" cy="437463"/>
        </a:xfrm>
        <a:prstGeom prst="mathPlus">
          <a:avLst/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507290" y="983542"/>
        <a:ext cx="321491" cy="102891"/>
      </dsp:txXfrm>
    </dsp:sp>
    <dsp:sp modelId="{FC4B9FDA-0546-47FA-8301-47EAAB48A05C}">
      <dsp:nvSpPr>
        <dsp:cNvPr id="0" name=""/>
        <dsp:cNvSpPr/>
      </dsp:nvSpPr>
      <dsp:spPr>
        <a:xfrm>
          <a:off x="290912" y="1314965"/>
          <a:ext cx="754247" cy="754247"/>
        </a:xfrm>
        <a:prstGeom prst="ellipse">
          <a:avLst/>
        </a:prstGeom>
        <a:solidFill>
          <a:schemeClr val="tx1">
            <a:lumMod val="85000"/>
            <a:lumOff val="1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Open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cs typeface="Calibri"/>
            </a:rPr>
            <a:t>37</a:t>
          </a:r>
        </a:p>
      </dsp:txBody>
      <dsp:txXfrm>
        <a:off x="401369" y="1425422"/>
        <a:ext cx="533333" cy="533333"/>
      </dsp:txXfrm>
    </dsp:sp>
    <dsp:sp modelId="{3B0BD5CA-81BA-4248-B3B5-9658DDE36B3F}">
      <dsp:nvSpPr>
        <dsp:cNvPr id="0" name=""/>
        <dsp:cNvSpPr/>
      </dsp:nvSpPr>
      <dsp:spPr>
        <a:xfrm>
          <a:off x="1158296" y="894698"/>
          <a:ext cx="239850" cy="280579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1158296" y="950814"/>
        <a:ext cx="167895" cy="168347"/>
      </dsp:txXfrm>
    </dsp:sp>
    <dsp:sp modelId="{A9926CD0-531F-4033-B89E-9BA80EDEC4D8}">
      <dsp:nvSpPr>
        <dsp:cNvPr id="0" name=""/>
        <dsp:cNvSpPr/>
      </dsp:nvSpPr>
      <dsp:spPr>
        <a:xfrm>
          <a:off x="1497708" y="280741"/>
          <a:ext cx="1508494" cy="1508494"/>
        </a:xfrm>
        <a:prstGeom prst="ellipse">
          <a:avLst/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/>
            <a:t>Found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cs typeface="Calibri"/>
            </a:rPr>
            <a:t>223</a:t>
          </a:r>
        </a:p>
      </dsp:txBody>
      <dsp:txXfrm>
        <a:off x="1718622" y="501655"/>
        <a:ext cx="1066666" cy="1066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05842-00A2-4D4A-B62D-CC6EA46B856F}" type="datetimeFigureOut">
              <a:rPr lang="en-US" smtClean="0"/>
              <a:t>6/27/2023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45290-6AE7-4CAD-93AE-3A972501A1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5290-6AE7-4CAD-93AE-3A972501A12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747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5290-6AE7-4CAD-93AE-3A972501A12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29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>
                <a:effectLst/>
              </a:rPr>
              <a:t>All open score 2 defects should have rationale to justify </a:t>
            </a:r>
          </a:p>
          <a:p>
            <a:pPr algn="l"/>
            <a:r>
              <a:rPr lang="en-US" b="0">
                <a:solidFill>
                  <a:srgbClr val="C00000"/>
                </a:solidFill>
                <a:effectLst/>
              </a:rPr>
              <a:t>‘Why is it OK to release </a:t>
            </a:r>
            <a:r>
              <a:rPr lang="en-US" b="0" err="1">
                <a:solidFill>
                  <a:srgbClr val="C00000"/>
                </a:solidFill>
                <a:effectLst/>
              </a:rPr>
              <a:t>RfVD</a:t>
            </a:r>
            <a:r>
              <a:rPr lang="en-US" b="0">
                <a:solidFill>
                  <a:srgbClr val="C00000"/>
                </a:solidFill>
                <a:effectLst/>
              </a:rPr>
              <a:t> with this defect’?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5290-6AE7-4CAD-93AE-3A972501A12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72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5290-6AE7-4CAD-93AE-3A972501A12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156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5290-6AE7-4CAD-93AE-3A972501A12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304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10"/>
          <p:cNvSpPr/>
          <p:nvPr userDrawn="1">
            <p:custDataLst>
              <p:tags r:id="rId1"/>
            </p:custDataLst>
          </p:nvPr>
        </p:nvSpPr>
        <p:spPr bwMode="auto">
          <a:xfrm>
            <a:off x="233680" y="233680"/>
            <a:ext cx="8684843" cy="5636316"/>
          </a:xfrm>
          <a:custGeom>
            <a:avLst/>
            <a:gdLst>
              <a:gd name="connsiteX0" fmla="*/ 0 w 8684821"/>
              <a:gd name="connsiteY0" fmla="*/ 0 h 5636316"/>
              <a:gd name="connsiteX1" fmla="*/ 8684821 w 8684821"/>
              <a:gd name="connsiteY1" fmla="*/ 0 h 5636316"/>
              <a:gd name="connsiteX2" fmla="*/ 8684821 w 8684821"/>
              <a:gd name="connsiteY2" fmla="*/ 5636316 h 5636316"/>
              <a:gd name="connsiteX3" fmla="*/ 0 w 8684821"/>
              <a:gd name="connsiteY3" fmla="*/ 5636316 h 5636316"/>
              <a:gd name="connsiteX4" fmla="*/ 0 w 8684821"/>
              <a:gd name="connsiteY4" fmla="*/ 0 h 5636316"/>
              <a:gd name="connsiteX0" fmla="*/ 8684821 w 8684821"/>
              <a:gd name="connsiteY0" fmla="*/ 0 h 5636316"/>
              <a:gd name="connsiteX1" fmla="*/ 8684821 w 8684821"/>
              <a:gd name="connsiteY1" fmla="*/ 5636316 h 5636316"/>
              <a:gd name="connsiteX2" fmla="*/ 0 w 8684821"/>
              <a:gd name="connsiteY2" fmla="*/ 5636316 h 5636316"/>
              <a:gd name="connsiteX3" fmla="*/ 0 w 8684821"/>
              <a:gd name="connsiteY3" fmla="*/ 0 h 5636316"/>
              <a:gd name="connsiteX0" fmla="*/ 8684821 w 8684821"/>
              <a:gd name="connsiteY0" fmla="*/ 5636316 h 5636316"/>
              <a:gd name="connsiteX1" fmla="*/ 0 w 8684821"/>
              <a:gd name="connsiteY1" fmla="*/ 5636316 h 5636316"/>
              <a:gd name="connsiteX2" fmla="*/ 0 w 8684821"/>
              <a:gd name="connsiteY2" fmla="*/ 0 h 5636316"/>
              <a:gd name="connsiteX0" fmla="*/ 0 w 0"/>
              <a:gd name="connsiteY0" fmla="*/ 5636316 h 5636316"/>
              <a:gd name="connsiteX1" fmla="*/ 0 w 0"/>
              <a:gd name="connsiteY1" fmla="*/ 0 h 5636316"/>
              <a:gd name="connsiteX0" fmla="*/ 0 w 8684821"/>
              <a:gd name="connsiteY0" fmla="*/ 5636316 h 5636316"/>
              <a:gd name="connsiteX1" fmla="*/ 0 w 8684821"/>
              <a:gd name="connsiteY1" fmla="*/ 0 h 5636316"/>
              <a:gd name="connsiteX2" fmla="*/ 8684821 w 8684821"/>
              <a:gd name="connsiteY2" fmla="*/ 0 h 5636316"/>
              <a:gd name="connsiteX0" fmla="*/ 0 w 8684821"/>
              <a:gd name="connsiteY0" fmla="*/ 5636316 h 5636316"/>
              <a:gd name="connsiteX1" fmla="*/ 0 w 8684821"/>
              <a:gd name="connsiteY1" fmla="*/ 0 h 5636316"/>
              <a:gd name="connsiteX2" fmla="*/ 8684821 w 8684821"/>
              <a:gd name="connsiteY2" fmla="*/ 0 h 5636316"/>
              <a:gd name="connsiteX3" fmla="*/ 8684821 w 8684821"/>
              <a:gd name="connsiteY3" fmla="*/ 4412595 h 5636316"/>
              <a:gd name="connsiteX0" fmla="*/ 0 w 8684843"/>
              <a:gd name="connsiteY0" fmla="*/ 5636316 h 5636316"/>
              <a:gd name="connsiteX1" fmla="*/ 0 w 8684843"/>
              <a:gd name="connsiteY1" fmla="*/ 0 h 5636316"/>
              <a:gd name="connsiteX2" fmla="*/ 8684821 w 8684843"/>
              <a:gd name="connsiteY2" fmla="*/ 0 h 5636316"/>
              <a:gd name="connsiteX3" fmla="*/ 8684821 w 8684843"/>
              <a:gd name="connsiteY3" fmla="*/ 4412595 h 5636316"/>
              <a:gd name="connsiteX4" fmla="*/ 7086785 w 8684843"/>
              <a:gd name="connsiteY4" fmla="*/ 5636316 h 5636316"/>
              <a:gd name="connsiteX0" fmla="*/ 0 w 8684843"/>
              <a:gd name="connsiteY0" fmla="*/ 5636316 h 5636316"/>
              <a:gd name="connsiteX1" fmla="*/ 0 w 8684843"/>
              <a:gd name="connsiteY1" fmla="*/ 0 h 5636316"/>
              <a:gd name="connsiteX2" fmla="*/ 8684821 w 8684843"/>
              <a:gd name="connsiteY2" fmla="*/ 0 h 5636316"/>
              <a:gd name="connsiteX3" fmla="*/ 8684821 w 8684843"/>
              <a:gd name="connsiteY3" fmla="*/ 4412595 h 5636316"/>
              <a:gd name="connsiteX4" fmla="*/ 7086785 w 8684843"/>
              <a:gd name="connsiteY4" fmla="*/ 5636316 h 5636316"/>
              <a:gd name="connsiteX5" fmla="*/ 0 w 8684843"/>
              <a:gd name="connsiteY5" fmla="*/ 5636316 h 5636316"/>
              <a:gd name="connsiteX0" fmla="*/ 0 w 8684843"/>
              <a:gd name="connsiteY0" fmla="*/ 5636316 h 5636316"/>
              <a:gd name="connsiteX1" fmla="*/ 0 w 8684843"/>
              <a:gd name="connsiteY1" fmla="*/ 0 h 5636316"/>
              <a:gd name="connsiteX2" fmla="*/ 8684821 w 8684843"/>
              <a:gd name="connsiteY2" fmla="*/ 0 h 5636316"/>
              <a:gd name="connsiteX3" fmla="*/ 8684821 w 8684843"/>
              <a:gd name="connsiteY3" fmla="*/ 4412595 h 5636316"/>
              <a:gd name="connsiteX4" fmla="*/ 7086785 w 8684843"/>
              <a:gd name="connsiteY4" fmla="*/ 5636316 h 5636316"/>
              <a:gd name="connsiteX5" fmla="*/ 0 w 8684843"/>
              <a:gd name="connsiteY5" fmla="*/ 5636316 h 5636316"/>
              <a:gd name="connsiteX6" fmla="*/ 0 w 8684843"/>
              <a:gd name="connsiteY6" fmla="*/ 0 h 563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84843" h="5636316">
                <a:moveTo>
                  <a:pt x="0" y="5636316"/>
                </a:moveTo>
                <a:lnTo>
                  <a:pt x="0" y="0"/>
                </a:lnTo>
                <a:lnTo>
                  <a:pt x="8684821" y="0"/>
                </a:lnTo>
                <a:lnTo>
                  <a:pt x="8684821" y="4412595"/>
                </a:lnTo>
                <a:cubicBezTo>
                  <a:pt x="8684821" y="4412595"/>
                  <a:pt x="8710016" y="5571530"/>
                  <a:pt x="7086785" y="5636316"/>
                </a:cubicBezTo>
                <a:lnTo>
                  <a:pt x="0" y="563631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3478"/>
              </a:gs>
              <a:gs pos="100000">
                <a:srgbClr val="0089C4"/>
              </a:gs>
            </a:gsLst>
            <a:lin ang="21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4" y="2052000"/>
            <a:ext cx="7488000" cy="16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de-DE"/>
              <a:t>Click to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pic>
        <p:nvPicPr>
          <p:cNvPr id="8" name="Picture 7"/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095" y="6329934"/>
            <a:ext cx="1601978" cy="294640"/>
          </a:xfrm>
          <a:prstGeom prst="rect">
            <a:avLst/>
          </a:prstGeom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107504" y="6237312"/>
            <a:ext cx="5760640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828000" y="4608000"/>
            <a:ext cx="432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_</a:t>
            </a:r>
            <a:r>
              <a:rPr lang="de-DE" err="1"/>
              <a:t>Author</a:t>
            </a:r>
            <a:endParaRPr lang="de-DE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28000" y="4878000"/>
            <a:ext cx="432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_Sector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8000" y="5148000"/>
            <a:ext cx="4320000" cy="2520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_</a:t>
            </a:r>
            <a:r>
              <a:rPr lang="en-US" sz="1600">
                <a:solidFill>
                  <a:srgbClr val="FFFFFF"/>
                </a:solidFill>
                <a:latin typeface="+mn-lt"/>
              </a:rPr>
              <a:t>November 01, 2013</a:t>
            </a:r>
          </a:p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10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065" y="6425946"/>
            <a:ext cx="1080008" cy="198628"/>
          </a:xfrm>
          <a:prstGeom prst="rect">
            <a:avLst/>
          </a:prstGeom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3308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 userDrawn="1">
            <p:custDataLst>
              <p:tags r:id="rId1"/>
            </p:custDataLst>
          </p:nvPr>
        </p:nvSpPr>
        <p:spPr bwMode="auto">
          <a:xfrm>
            <a:off x="0" y="0"/>
            <a:ext cx="9144001" cy="6858001"/>
          </a:xfrm>
          <a:custGeom>
            <a:avLst/>
            <a:gdLst/>
            <a:ahLst/>
            <a:cxnLst/>
            <a:rect l="0" t="0" r="0" b="0"/>
            <a:pathLst>
              <a:path w="9144001" h="6858001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9144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003478"/>
              </a:gs>
              <a:gs pos="100000">
                <a:srgbClr val="0089C4"/>
              </a:gs>
            </a:gsLst>
            <a:lin ang="21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pic>
        <p:nvPicPr>
          <p:cNvPr id="5" name="Picture 4"/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462" y="2628011"/>
            <a:ext cx="1243076" cy="1601991"/>
          </a:xfrm>
          <a:prstGeom prst="rect">
            <a:avLst/>
          </a:prstGeom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16000"/>
            <a:ext cx="9144000" cy="666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822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828002" y="6502400"/>
            <a:ext cx="4536478" cy="139700"/>
          </a:xfrm>
          <a:prstGeom prst="rect">
            <a:avLst/>
          </a:prstGeom>
          <a:noFill/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lvl="2"/>
            <a:r>
              <a:rPr lang="en-US" sz="900" dirty="0">
                <a:solidFill>
                  <a:srgbClr val="000000"/>
                </a:solidFill>
                <a:latin typeface="Calibri"/>
              </a:rPr>
              <a:t>			Confidential</a:t>
            </a:r>
          </a:p>
        </p:txBody>
      </p:sp>
      <p:sp>
        <p:nvSpPr>
          <p:cNvPr id="3" name="TextBox 6"/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34950" y="6464300"/>
            <a:ext cx="508000" cy="184150"/>
          </a:xfrm>
          <a:prstGeom prst="rect">
            <a:avLst/>
          </a:prstGeom>
          <a:noFill/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fld id="{AFB868B0-0EA7-468E-A823-2874C090DC2E}" type="slidenum">
              <a:rPr lang="de-DE" sz="1200" smtClean="0">
                <a:solidFill>
                  <a:schemeClr val="tx1"/>
                </a:solidFill>
              </a:rPr>
              <a:pPr/>
              <a:t>‹#›</a:t>
            </a:fld>
            <a:endParaRPr lang="en-US" sz="1200" dirty="0">
              <a:solidFill>
                <a:schemeClr val="tx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51" r:id="rId2"/>
    <p:sldLayoutId id="214748365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9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>
          <a:xfrm>
            <a:off x="822568" y="1772816"/>
            <a:ext cx="7994261" cy="752270"/>
          </a:xfrm>
        </p:spPr>
        <p:txBody>
          <a:bodyPr/>
          <a:lstStyle/>
          <a:p>
            <a:r>
              <a:rPr lang="en-US" b="1" dirty="0"/>
              <a:t>AVW15, CT ASPECTS &amp; NM Suite RC Release – </a:t>
            </a:r>
          </a:p>
          <a:p>
            <a:r>
              <a:rPr lang="en-US" dirty="0"/>
              <a:t>Verification  Results Review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827999" y="4869160"/>
            <a:ext cx="3260423" cy="678786"/>
          </a:xfrm>
        </p:spPr>
        <p:txBody>
          <a:bodyPr lIns="0" tIns="0" rIns="0" bIns="0" anchor="t"/>
          <a:lstStyle/>
          <a:p>
            <a:r>
              <a:rPr lang="en-US" dirty="0"/>
              <a:t>Review Meeting Date: 26-June-2023</a:t>
            </a:r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822568" y="5208553"/>
            <a:ext cx="2663880" cy="335642"/>
          </a:xfrm>
        </p:spPr>
        <p:txBody>
          <a:bodyPr/>
          <a:lstStyle/>
          <a:p>
            <a:r>
              <a:rPr lang="en-US" b="1" dirty="0"/>
              <a:t>ISP Verification Team</a:t>
            </a:r>
          </a:p>
        </p:txBody>
      </p:sp>
    </p:spTree>
    <p:extLst>
      <p:ext uri="{BB962C8B-B14F-4D97-AF65-F5344CB8AC3E}">
        <p14:creationId xmlns:p14="http://schemas.microsoft.com/office/powerpoint/2010/main" val="2748011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61928" y="684748"/>
            <a:ext cx="8458544" cy="5582239"/>
            <a:chOff x="2001114" y="3819360"/>
            <a:chExt cx="2305005" cy="2074766"/>
          </a:xfrm>
          <a:solidFill>
            <a:schemeClr val="bg1"/>
          </a:solidFill>
          <a:scene3d>
            <a:camera prst="orthographicFront"/>
            <a:lightRig rig="flat" dir="t"/>
          </a:scene3d>
        </p:grpSpPr>
        <p:sp>
          <p:nvSpPr>
            <p:cNvPr id="7" name="Rectangle 6"/>
            <p:cNvSpPr/>
            <p:nvPr/>
          </p:nvSpPr>
          <p:spPr>
            <a:xfrm>
              <a:off x="2001114" y="3922161"/>
              <a:ext cx="2305005" cy="1971965"/>
            </a:xfrm>
            <a:prstGeom prst="rect">
              <a:avLst/>
            </a:prstGeom>
            <a:grpFill/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2001114" y="3819360"/>
              <a:ext cx="2305005" cy="1849660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228600" lvl="0" indent="-2286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Review Purpose</a:t>
              </a:r>
            </a:p>
            <a:p>
              <a:pPr marL="228600" lvl="0" indent="-2286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Verification Scope</a:t>
              </a:r>
            </a:p>
            <a:p>
              <a:pPr marL="228600" lvl="0" indent="-2286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Verification Build Summary</a:t>
              </a:r>
            </a:p>
            <a:p>
              <a:pPr marL="228600" lvl="0" indent="-2286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Overall Verification Status</a:t>
              </a:r>
            </a:p>
            <a:p>
              <a:pPr marL="228600" lvl="0" indent="-2286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Overall Defects Status</a:t>
              </a:r>
            </a:p>
            <a:p>
              <a:pPr marL="228600" lvl="0" indent="-2286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Verification Defects Impact on Design Changes</a:t>
              </a:r>
            </a:p>
            <a:p>
              <a:pPr marL="228600" lvl="0" indent="-2286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Expert Test Scope &amp; Summary</a:t>
              </a:r>
            </a:p>
            <a:p>
              <a:pPr marL="228600" lvl="0" indent="-2286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 Documentation Status</a:t>
              </a:r>
            </a:p>
            <a:p>
              <a:pPr marL="228600" lvl="0" indent="-2286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Overall Verification Completion Status</a:t>
              </a:r>
            </a:p>
            <a:p>
              <a:pPr marL="228600" lvl="0" indent="-2286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 Summary</a:t>
              </a:r>
            </a:p>
            <a:p>
              <a:pPr marL="228600" lvl="0" indent="-228600">
                <a:lnSpc>
                  <a:spcPct val="150000"/>
                </a:lnSpc>
                <a:buFont typeface="+mj-lt"/>
                <a:buAutoNum type="arabicPeriod"/>
              </a:pPr>
              <a:endParaRPr lang="en-US" sz="1000" dirty="0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273454" y="167055"/>
            <a:ext cx="8547018" cy="39132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  <a:endParaRPr lang="en-US" sz="2000" kern="1200" dirty="0"/>
          </a:p>
        </p:txBody>
      </p:sp>
    </p:spTree>
    <p:extLst>
      <p:ext uri="{BB962C8B-B14F-4D97-AF65-F5344CB8AC3E}">
        <p14:creationId xmlns:p14="http://schemas.microsoft.com/office/powerpoint/2010/main" val="195941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73454" y="167055"/>
            <a:ext cx="8547018" cy="39132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Review Purpose</a:t>
            </a:r>
            <a:endParaRPr lang="en-US" sz="2000" kern="1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354220"/>
              </p:ext>
            </p:extLst>
          </p:nvPr>
        </p:nvGraphicFramePr>
        <p:xfrm>
          <a:off x="273454" y="1053304"/>
          <a:ext cx="8319941" cy="46690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3391">
                  <a:extLst>
                    <a:ext uri="{9D8B030D-6E8A-4147-A177-3AD203B41FA5}">
                      <a16:colId xmlns:a16="http://schemas.microsoft.com/office/drawing/2014/main" val="2792803692"/>
                    </a:ext>
                  </a:extLst>
                </a:gridCol>
                <a:gridCol w="1903501">
                  <a:extLst>
                    <a:ext uri="{9D8B030D-6E8A-4147-A177-3AD203B41FA5}">
                      <a16:colId xmlns:a16="http://schemas.microsoft.com/office/drawing/2014/main" val="1276235609"/>
                    </a:ext>
                  </a:extLst>
                </a:gridCol>
                <a:gridCol w="4159971">
                  <a:extLst>
                    <a:ext uri="{9D8B030D-6E8A-4147-A177-3AD203B41FA5}">
                      <a16:colId xmlns:a16="http://schemas.microsoft.com/office/drawing/2014/main" val="4224532692"/>
                    </a:ext>
                  </a:extLst>
                </a:gridCol>
                <a:gridCol w="1853078">
                  <a:extLst>
                    <a:ext uri="{9D8B030D-6E8A-4147-A177-3AD203B41FA5}">
                      <a16:colId xmlns:a16="http://schemas.microsoft.com/office/drawing/2014/main" val="130010098"/>
                    </a:ext>
                  </a:extLst>
                </a:gridCol>
              </a:tblGrid>
              <a:tr h="3811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#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What?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Description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By Whom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/>
                </a:tc>
                <a:extLst>
                  <a:ext uri="{0D108BD9-81ED-4DB2-BD59-A6C34878D82A}">
                    <a16:rowId xmlns:a16="http://schemas.microsoft.com/office/drawing/2014/main" val="68151846"/>
                  </a:ext>
                </a:extLst>
              </a:tr>
              <a:tr h="89599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Verification report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Consolidated report of the tests executed during  verification phase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Verification Leads/SMs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 anchor="ctr"/>
                </a:tc>
                <a:extLst>
                  <a:ext uri="{0D108BD9-81ED-4DB2-BD59-A6C34878D82A}">
                    <a16:rowId xmlns:a16="http://schemas.microsoft.com/office/drawing/2014/main" val="1894006611"/>
                  </a:ext>
                </a:extLst>
              </a:tr>
              <a:tr h="20144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Overall Verification Status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1400" dirty="0">
                          <a:effectLst/>
                        </a:rPr>
                        <a:t>Review on verification execution and status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1400" dirty="0">
                          <a:effectLst/>
                        </a:rPr>
                        <a:t>Defects found during verification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1400" dirty="0">
                          <a:effectLst/>
                        </a:rPr>
                        <a:t>Changes in requirements from  verification results, System design changes , detailed requirement changes, as per Verification design review material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Global Verification Lead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 anchor="ctr"/>
                </a:tc>
                <a:extLst>
                  <a:ext uri="{0D108BD9-81ED-4DB2-BD59-A6C34878D82A}">
                    <a16:rowId xmlns:a16="http://schemas.microsoft.com/office/drawing/2014/main" val="3091810554"/>
                  </a:ext>
                </a:extLst>
              </a:tr>
              <a:tr h="137741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Verification results impact on design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Defect fixes scoped in for verification did not had any  design change  &amp; did not result in any PRS, DRS, SDS, DDS updates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Verification Leads/SMs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528" marR="64528" marT="8962" marB="0" anchor="ctr"/>
                </a:tc>
                <a:extLst>
                  <a:ext uri="{0D108BD9-81ED-4DB2-BD59-A6C34878D82A}">
                    <a16:rowId xmlns:a16="http://schemas.microsoft.com/office/drawing/2014/main" val="4176684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2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9162" y="183585"/>
            <a:ext cx="8547018" cy="39132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AVW15 RC – Verification Scope</a:t>
            </a:r>
            <a:endParaRPr lang="en-US" sz="2000" kern="1200" dirty="0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18A78B69-38DB-64AA-12E4-6D1FA8997CAC}"/>
              </a:ext>
            </a:extLst>
          </p:cNvPr>
          <p:cNvSpPr txBox="1"/>
          <p:nvPr/>
        </p:nvSpPr>
        <p:spPr>
          <a:xfrm>
            <a:off x="397820" y="574908"/>
            <a:ext cx="3722283" cy="6508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Calibri"/>
                <a:ea typeface="Lato"/>
                <a:cs typeface="Calibri"/>
              </a:rPr>
              <a:t>MR Cardiac Suite: </a:t>
            </a:r>
            <a:endParaRPr lang="en-US" dirty="0">
              <a:ea typeface="Lato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latin typeface="Calibri"/>
                <a:ea typeface="Lato"/>
                <a:cs typeface="Calibri"/>
              </a:rPr>
              <a:t>Functional Test</a:t>
            </a:r>
            <a:endParaRPr lang="en-US" dirty="0">
              <a:latin typeface="Calibri"/>
              <a:ea typeface="Lato"/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latin typeface="Calibri"/>
                <a:ea typeface="Lato"/>
                <a:cs typeface="Calibri"/>
              </a:rPr>
              <a:t>RMM </a:t>
            </a:r>
            <a:endParaRPr lang="en-US" dirty="0">
              <a:latin typeface="Calibri"/>
              <a:ea typeface="Lato"/>
              <a:cs typeface="Calibri"/>
            </a:endParaRPr>
          </a:p>
          <a:p>
            <a:pPr marL="285750" indent="-285750">
              <a:buFont typeface="Wingdings"/>
              <a:buChar char="ü"/>
            </a:pPr>
            <a:endParaRPr lang="en-US" sz="1300" dirty="0">
              <a:latin typeface="Calibri"/>
              <a:ea typeface="Lato"/>
              <a:cs typeface="Calibri"/>
            </a:endParaRPr>
          </a:p>
          <a:p>
            <a:r>
              <a:rPr lang="en-US" b="1" dirty="0">
                <a:latin typeface="Calibri"/>
                <a:ea typeface="Lato"/>
                <a:cs typeface="Calibri"/>
              </a:rPr>
              <a:t>MR Applications: </a:t>
            </a: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latin typeface="Calibri"/>
                <a:ea typeface="Lato"/>
                <a:cs typeface="Calibri"/>
              </a:rPr>
              <a:t>Sanity and Regression Tests (including LOBI and NQ changes)</a:t>
            </a:r>
          </a:p>
          <a:p>
            <a:pPr marL="285750" indent="-285750">
              <a:buFont typeface="Wingdings"/>
              <a:buChar char="ü"/>
            </a:pPr>
            <a:endParaRPr lang="en-US" sz="1300" dirty="0">
              <a:latin typeface="Calibri"/>
              <a:ea typeface="Lato"/>
              <a:cs typeface="Calibri"/>
            </a:endParaRPr>
          </a:p>
          <a:p>
            <a:r>
              <a:rPr lang="en-US" b="1" dirty="0">
                <a:latin typeface="Calibri"/>
                <a:ea typeface="Lato"/>
                <a:cs typeface="Calibri"/>
              </a:rPr>
              <a:t>CT Applications: 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latin typeface="Calibri"/>
                <a:ea typeface="Lato"/>
                <a:cs typeface="Calibri"/>
              </a:rPr>
              <a:t>Regression Tests</a:t>
            </a:r>
            <a:endParaRPr lang="en-US" dirty="0">
              <a:latin typeface="Calibri"/>
              <a:ea typeface="Lato"/>
              <a:cs typeface="Calibri"/>
            </a:endParaRP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latin typeface="Calibri"/>
                <a:ea typeface="Lato"/>
                <a:cs typeface="Calibri"/>
              </a:rPr>
              <a:t>BP update regression </a:t>
            </a: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latin typeface="Calibri"/>
                <a:ea typeface="Lato"/>
                <a:cs typeface="Calibri"/>
              </a:rPr>
              <a:t>AVA vessels tool functional test </a:t>
            </a:r>
          </a:p>
          <a:p>
            <a:r>
              <a:rPr lang="en-US" b="1" dirty="0">
                <a:latin typeface="Calibri"/>
                <a:ea typeface="Lato"/>
                <a:cs typeface="Calibri"/>
              </a:rPr>
              <a:t>System Features HFA: </a:t>
            </a: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latin typeface="Calibri"/>
                <a:ea typeface="Lato"/>
                <a:cs typeface="Calibri"/>
              </a:rPr>
              <a:t>Labeling and Regression Tests</a:t>
            </a:r>
            <a:endParaRPr lang="en-US" dirty="0">
              <a:latin typeface="Calibri"/>
              <a:ea typeface="Lato"/>
              <a:cs typeface="Calibri"/>
            </a:endParaRPr>
          </a:p>
          <a:p>
            <a:pPr marL="285750" indent="-285750">
              <a:buFont typeface="Wingdings"/>
              <a:buChar char="ü"/>
            </a:pPr>
            <a:endParaRPr lang="en-US" sz="1300" dirty="0">
              <a:latin typeface="Calibri"/>
              <a:ea typeface="Lato"/>
              <a:cs typeface="Calibri"/>
            </a:endParaRPr>
          </a:p>
          <a:p>
            <a:r>
              <a:rPr lang="en-US" b="1" dirty="0">
                <a:latin typeface="Calibri"/>
                <a:ea typeface="Lato"/>
                <a:cs typeface="Calibri"/>
              </a:rPr>
              <a:t>CT Cardiac Applications: </a:t>
            </a:r>
          </a:p>
          <a:p>
            <a:pPr marL="285750" indent="-285750">
              <a:buFont typeface="Wingdings"/>
              <a:buChar char="ü"/>
            </a:pPr>
            <a:r>
              <a:rPr lang="en-IN" sz="1300" dirty="0">
                <a:latin typeface="Calibri"/>
                <a:ea typeface="Lato"/>
                <a:cs typeface="Calibri"/>
              </a:rPr>
              <a:t>CAD RADS 2.0 and Findings Management</a:t>
            </a:r>
            <a:endParaRPr lang="en-US" dirty="0">
              <a:latin typeface="Calibri"/>
              <a:ea typeface="Lato"/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en-IN" sz="1300" dirty="0">
                <a:latin typeface="Calibri"/>
                <a:ea typeface="Lato"/>
                <a:cs typeface="Calibri"/>
              </a:rPr>
              <a:t>CCA RFCs</a:t>
            </a:r>
            <a:endParaRPr lang="en-US" dirty="0">
              <a:latin typeface="Calibri"/>
              <a:ea typeface="Lato"/>
              <a:cs typeface="Calibri"/>
            </a:endParaRPr>
          </a:p>
          <a:p>
            <a:pPr marL="285750" indent="-285750">
              <a:buFont typeface="Wingdings"/>
              <a:buChar char="ü"/>
            </a:pPr>
            <a:endParaRPr lang="en-IN" sz="1300" dirty="0">
              <a:latin typeface="Calibri"/>
              <a:ea typeface="Lato"/>
              <a:cs typeface="Calibri"/>
            </a:endParaRPr>
          </a:p>
          <a:p>
            <a:r>
              <a:rPr lang="en-US" b="1" dirty="0">
                <a:latin typeface="Calibri"/>
                <a:ea typeface="Lato"/>
                <a:cs typeface="Calibri"/>
              </a:rPr>
              <a:t>CT Spectral Applications: </a:t>
            </a: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latin typeface="Calibri"/>
                <a:ea typeface="Lato"/>
                <a:cs typeface="Calibri"/>
              </a:rPr>
              <a:t>RMM </a:t>
            </a:r>
            <a:r>
              <a:rPr lang="en-US" sz="1300" dirty="0">
                <a:ea typeface="+mn-lt"/>
                <a:cs typeface="+mn-lt"/>
              </a:rPr>
              <a:t>(impact based)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300" dirty="0">
                <a:latin typeface="Calibri"/>
                <a:ea typeface="Lato"/>
                <a:cs typeface="Calibri"/>
              </a:rPr>
              <a:t>and Regression </a:t>
            </a:r>
            <a:endParaRPr lang="en-US" dirty="0">
              <a:latin typeface="Calibri"/>
              <a:ea typeface="Lato"/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 err="1">
                <a:latin typeface="Calibri"/>
                <a:ea typeface="Lato"/>
                <a:cs typeface="Calibri"/>
              </a:rPr>
              <a:t>sCTV</a:t>
            </a:r>
            <a:r>
              <a:rPr lang="en-US" sz="1300" dirty="0">
                <a:latin typeface="Calibri"/>
                <a:ea typeface="Lato"/>
                <a:cs typeface="Calibri"/>
              </a:rPr>
              <a:t> and </a:t>
            </a:r>
            <a:r>
              <a:rPr lang="en-US" sz="1300" dirty="0" err="1">
                <a:latin typeface="Calibri"/>
                <a:ea typeface="Lato"/>
                <a:cs typeface="Calibri"/>
              </a:rPr>
              <a:t>sMGOP</a:t>
            </a:r>
            <a:r>
              <a:rPr lang="en-US" sz="1300" dirty="0">
                <a:latin typeface="Calibri"/>
                <a:ea typeface="Lato"/>
                <a:cs typeface="Calibri"/>
              </a:rPr>
              <a:t> new requirement Functionality Test </a:t>
            </a:r>
            <a:endParaRPr lang="en-US" dirty="0">
              <a:latin typeface="Calibri"/>
              <a:ea typeface="Lato"/>
              <a:cs typeface="Calibri"/>
            </a:endParaRPr>
          </a:p>
          <a:p>
            <a:pPr marL="285750" indent="-285750">
              <a:buFont typeface="Wingdings"/>
              <a:buChar char="ü"/>
            </a:pPr>
            <a:endParaRPr lang="en-US" sz="1300" dirty="0">
              <a:latin typeface="Calibri"/>
              <a:ea typeface="Lato" panose="020F0502020204030203" pitchFamily="34" charset="0"/>
              <a:cs typeface="Calibri"/>
            </a:endParaRPr>
          </a:p>
          <a:p>
            <a:r>
              <a:rPr lang="en-US" b="1" dirty="0">
                <a:latin typeface="Calibri"/>
                <a:ea typeface="Lato"/>
                <a:cs typeface="Calibri"/>
              </a:rPr>
              <a:t>CT Viewing: </a:t>
            </a:r>
            <a:endParaRPr lang="en-US" dirty="0">
              <a:latin typeface="Calibri"/>
              <a:ea typeface="Lato"/>
              <a:cs typeface="Calibri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latin typeface="Calibri"/>
                <a:ea typeface="Lato"/>
                <a:cs typeface="Calibri"/>
              </a:rPr>
              <a:t>Regression test, Sanity and Upgrades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latin typeface="Calibri"/>
                <a:ea typeface="Lato"/>
                <a:cs typeface="Calibri"/>
              </a:rPr>
              <a:t>CT Viewing - regression test</a:t>
            </a:r>
          </a:p>
          <a:p>
            <a:endParaRPr lang="en-US" sz="1300" b="1" i="1" dirty="0">
              <a:latin typeface="Lato"/>
              <a:ea typeface="Lato"/>
              <a:cs typeface="Lato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C6C987E1-8F95-1AC4-3511-91B468B18C19}"/>
              </a:ext>
            </a:extLst>
          </p:cNvPr>
          <p:cNvSpPr txBox="1"/>
          <p:nvPr/>
        </p:nvSpPr>
        <p:spPr>
          <a:xfrm>
            <a:off x="4593156" y="671691"/>
            <a:ext cx="4076901" cy="59246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Calibri"/>
                <a:ea typeface="Lato"/>
                <a:cs typeface="Calibri"/>
              </a:rPr>
              <a:t>NM</a:t>
            </a:r>
            <a:r>
              <a:rPr lang="en-US" b="1" dirty="0"/>
              <a:t> Applications: </a:t>
            </a:r>
            <a:endParaRPr lang="en-US" sz="1300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NM Suite Sanity Testing</a:t>
            </a:r>
            <a:endParaRPr lang="en-US" dirty="0"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NM 3rd Party Apps Sanity &amp; Regression(</a:t>
            </a:r>
            <a:r>
              <a:rPr lang="en-US" sz="1300" dirty="0" err="1">
                <a:ea typeface="+mn-lt"/>
                <a:cs typeface="+mn-lt"/>
              </a:rPr>
              <a:t>Autoquant</a:t>
            </a:r>
            <a:r>
              <a:rPr lang="en-US" sz="1300" dirty="0">
                <a:ea typeface="+mn-lt"/>
                <a:cs typeface="+mn-lt"/>
              </a:rPr>
              <a:t> 2017.22)</a:t>
            </a:r>
          </a:p>
          <a:p>
            <a:pPr marL="285750" indent="-285750">
              <a:buFont typeface="Wingdings"/>
              <a:buChar char="ü"/>
            </a:pPr>
            <a:r>
              <a:rPr lang="en-US" sz="1300" dirty="0" err="1">
                <a:ea typeface="+mn-lt"/>
                <a:cs typeface="+mn-lt"/>
              </a:rPr>
              <a:t>MiradaXD</a:t>
            </a:r>
            <a:r>
              <a:rPr lang="en-US" sz="1300" dirty="0">
                <a:ea typeface="+mn-lt"/>
                <a:cs typeface="+mn-lt"/>
              </a:rPr>
              <a:t> Integration Sanity &amp; Regression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 err="1">
                <a:ea typeface="+mn-lt"/>
                <a:cs typeface="+mn-lt"/>
              </a:rPr>
              <a:t>Knowledgescape</a:t>
            </a:r>
            <a:r>
              <a:rPr lang="en-US" sz="1300" dirty="0">
                <a:ea typeface="+mn-lt"/>
                <a:cs typeface="+mn-lt"/>
              </a:rPr>
              <a:t> Sanity &amp; Regression</a:t>
            </a:r>
            <a:endParaRPr lang="en-US" dirty="0">
              <a:cs typeface="Calibri"/>
            </a:endParaRPr>
          </a:p>
          <a:p>
            <a:pPr marL="285750" indent="-285750">
              <a:buFont typeface="Wingdings"/>
              <a:buChar char="ü"/>
            </a:pPr>
            <a:endParaRPr lang="en-US" sz="1300" dirty="0">
              <a:cs typeface="Calibri"/>
            </a:endParaRPr>
          </a:p>
          <a:p>
            <a:r>
              <a:rPr lang="en-US" b="1" dirty="0"/>
              <a:t>CT, MR, NM Legacy Applications: </a:t>
            </a:r>
            <a:endParaRPr lang="en-US" dirty="0"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MR RMM (impact based)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CT, NM(including Corridor4DM 2023)</a:t>
            </a: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MRC and MR Regression Tests</a:t>
            </a:r>
          </a:p>
          <a:p>
            <a:pPr marL="285750" indent="-285750">
              <a:buFont typeface="Wingdings"/>
              <a:buChar char="ü"/>
            </a:pPr>
            <a:endParaRPr lang="en-US" sz="1300" dirty="0"/>
          </a:p>
          <a:p>
            <a:r>
              <a:rPr lang="en-US" b="1" dirty="0"/>
              <a:t>Installation, Upgrades &amp; Security: </a:t>
            </a:r>
            <a:endParaRPr lang="en-US" dirty="0"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Installation, upgrades and Security Regression Tests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PIAB with both C and D drive </a:t>
            </a:r>
            <a:r>
              <a:rPr lang="en-US" sz="1300" dirty="0">
                <a:cs typeface="Calibri"/>
              </a:rPr>
              <a:t>SSD</a:t>
            </a: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Enable Encryption option on PMT</a:t>
            </a:r>
          </a:p>
          <a:p>
            <a:pPr marL="285750" indent="-285750">
              <a:buFont typeface="Wingdings"/>
              <a:buChar char="ü"/>
            </a:pPr>
            <a:endParaRPr lang="en-US" sz="1300" dirty="0"/>
          </a:p>
          <a:p>
            <a:r>
              <a:rPr lang="en-US" b="1" dirty="0"/>
              <a:t>System Features BLR: </a:t>
            </a:r>
            <a:endParaRPr lang="en-US" dirty="0"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PMT client auto upgrade Functional tests</a:t>
            </a:r>
            <a:endParaRPr lang="en-US" dirty="0"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Regression Tests</a:t>
            </a:r>
            <a:endParaRPr lang="en-US" dirty="0">
              <a:cs typeface="Calibri"/>
            </a:endParaRPr>
          </a:p>
          <a:p>
            <a:pPr marL="285750" indent="-285750">
              <a:buFont typeface="Wingdings"/>
              <a:buChar char="ü"/>
            </a:pPr>
            <a:endParaRPr lang="en-US" sz="1300" dirty="0">
              <a:cs typeface="Calibri"/>
            </a:endParaRPr>
          </a:p>
          <a:p>
            <a:r>
              <a:rPr lang="en-US" b="1" dirty="0"/>
              <a:t>Serviceability: </a:t>
            </a:r>
            <a:endParaRPr lang="en-US" dirty="0"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IOT RTS1.0 </a:t>
            </a:r>
            <a:r>
              <a:rPr lang="en-US" sz="1400" dirty="0">
                <a:ea typeface="+mn-lt"/>
                <a:cs typeface="+mn-lt"/>
              </a:rPr>
              <a:t>Functional tests</a:t>
            </a:r>
          </a:p>
          <a:p>
            <a:pPr marL="285750" indent="-285750">
              <a:buFont typeface="Wingdings"/>
              <a:buChar char="ü"/>
            </a:pPr>
            <a:r>
              <a:rPr lang="en-US" sz="1400" dirty="0"/>
              <a:t>PSC9.0.1-148 </a:t>
            </a:r>
            <a:r>
              <a:rPr lang="en-US" sz="1400" dirty="0">
                <a:ea typeface="+mn-lt"/>
                <a:cs typeface="+mn-lt"/>
              </a:rPr>
              <a:t>Regression Tests</a:t>
            </a:r>
          </a:p>
          <a:p>
            <a:pPr marL="285750" indent="-285750">
              <a:buFont typeface="Wingdings"/>
              <a:buChar char="ü"/>
            </a:pPr>
            <a:r>
              <a:rPr lang="en-US" sz="1300" dirty="0" err="1">
                <a:ea typeface="+mn-lt"/>
                <a:cs typeface="+mn-lt"/>
              </a:rPr>
              <a:t>Axeda</a:t>
            </a:r>
            <a:r>
              <a:rPr lang="en-US" sz="1300" dirty="0">
                <a:ea typeface="+mn-lt"/>
                <a:cs typeface="+mn-lt"/>
              </a:rPr>
              <a:t> Split package and SPLUNK </a:t>
            </a:r>
            <a:r>
              <a:rPr lang="en-US" sz="1400" dirty="0">
                <a:ea typeface="+mn-lt"/>
                <a:cs typeface="+mn-lt"/>
              </a:rPr>
              <a:t>Regression Tests</a:t>
            </a:r>
          </a:p>
          <a:p>
            <a:pPr marL="285750" indent="-285750">
              <a:buFont typeface="Wingdings"/>
              <a:buChar char="ü"/>
            </a:pPr>
            <a:r>
              <a:rPr lang="en-US" sz="1300" dirty="0">
                <a:ea typeface="+mn-lt"/>
                <a:cs typeface="+mn-lt"/>
              </a:rPr>
              <a:t>Regression Tests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ü"/>
            </a:pPr>
            <a:endParaRPr lang="en-US" sz="13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517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9162" y="183585"/>
            <a:ext cx="8547018" cy="39132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AVW15 RC – Verification Scope</a:t>
            </a:r>
            <a:endParaRPr lang="en-US" sz="2000" kern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811DAA-4E84-BFB1-78A0-8489BFBA4F5B}"/>
              </a:ext>
            </a:extLst>
          </p:cNvPr>
          <p:cNvSpPr/>
          <p:nvPr/>
        </p:nvSpPr>
        <p:spPr>
          <a:xfrm>
            <a:off x="4169403" y="3943623"/>
            <a:ext cx="22073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of Variances (if any)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3AB2C670-E750-0D9D-C005-CC12D4B6078C}"/>
              </a:ext>
            </a:extLst>
          </p:cNvPr>
          <p:cNvSpPr/>
          <p:nvPr/>
        </p:nvSpPr>
        <p:spPr>
          <a:xfrm>
            <a:off x="552798" y="4229843"/>
            <a:ext cx="3277876" cy="3913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dirty="0">
                <a:ea typeface="+mn-lt"/>
                <a:cs typeface="+mn-lt"/>
              </a:rPr>
              <a:t>None.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B9934893-74B1-5BEC-07DD-DF51D3B5F023}"/>
              </a:ext>
            </a:extLst>
          </p:cNvPr>
          <p:cNvSpPr/>
          <p:nvPr/>
        </p:nvSpPr>
        <p:spPr>
          <a:xfrm>
            <a:off x="4259181" y="4251400"/>
            <a:ext cx="3673642" cy="5051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1C06B0B1-B5A1-CDD1-2310-CB1DE627D730}"/>
              </a:ext>
            </a:extLst>
          </p:cNvPr>
          <p:cNvSpPr/>
          <p:nvPr/>
        </p:nvSpPr>
        <p:spPr>
          <a:xfrm>
            <a:off x="2249562" y="4947555"/>
            <a:ext cx="3599775" cy="14263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l" rtl="0" fontAlgn="base"/>
            <a:r>
              <a:rPr lang="en-US" sz="1800" b="1" i="1" u="none" strike="noStrike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Deployments: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​</a:t>
            </a:r>
            <a:endParaRPr lang="en-US" sz="1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AVW Demo Laptop </a:t>
            </a:r>
            <a:endParaRPr lang="en-US" sz="105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AVW Server HW Configuration 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​</a:t>
            </a:r>
            <a:endParaRPr lang="en-US" sz="105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AVW Workstation 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​</a:t>
            </a:r>
            <a:endParaRPr lang="en-US" sz="105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AVW Enterprise  </a:t>
            </a:r>
            <a:endParaRPr lang="en-US" sz="105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467C0741-542C-5B8D-491C-5D5F58B76FF1}"/>
              </a:ext>
            </a:extLst>
          </p:cNvPr>
          <p:cNvSpPr txBox="1"/>
          <p:nvPr/>
        </p:nvSpPr>
        <p:spPr>
          <a:xfrm>
            <a:off x="199162" y="729163"/>
            <a:ext cx="3985149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00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b="1" dirty="0"/>
              <a:t>Non-Functional Tests: </a:t>
            </a:r>
            <a:endParaRPr lang="en-US" dirty="0"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en-US" sz="1800" dirty="0">
                <a:ea typeface="+mn-lt"/>
                <a:cs typeface="+mn-lt"/>
              </a:rPr>
              <a:t>Performance Tests of Applications</a:t>
            </a:r>
          </a:p>
          <a:p>
            <a:pPr marL="285750" indent="-285750">
              <a:buFont typeface="Wingdings"/>
              <a:buChar char="ü"/>
            </a:pPr>
            <a:r>
              <a:rPr lang="en-US" dirty="0">
                <a:ea typeface="+mn-lt"/>
                <a:cs typeface="+mn-lt"/>
              </a:rPr>
              <a:t>Reliability Test </a:t>
            </a:r>
          </a:p>
          <a:p>
            <a:pPr marL="285750" indent="-285750">
              <a:buFont typeface="Wingdings"/>
              <a:buChar char="ü"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AVW Sanity: </a:t>
            </a:r>
            <a:r>
              <a:rPr lang="en-US" dirty="0">
                <a:ea typeface="+mn-lt"/>
                <a:cs typeface="+mn-lt"/>
              </a:rPr>
              <a:t>Gen3 and A2 GPU</a:t>
            </a:r>
            <a:endParaRPr lang="en-US" dirty="0"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3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AA094-2CC6-CF50-9ECF-186F8696DB4B}"/>
              </a:ext>
            </a:extLst>
          </p:cNvPr>
          <p:cNvSpPr/>
          <p:nvPr/>
        </p:nvSpPr>
        <p:spPr>
          <a:xfrm>
            <a:off x="600571" y="4096023"/>
            <a:ext cx="14587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Variances (if any)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B66DD0-6D82-C47C-4DCE-9FC911F7B7EC}"/>
              </a:ext>
            </a:extLst>
          </p:cNvPr>
          <p:cNvSpPr/>
          <p:nvPr/>
        </p:nvSpPr>
        <p:spPr>
          <a:xfrm>
            <a:off x="4042394" y="951210"/>
            <a:ext cx="4703785" cy="176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Compatibility Tests</a:t>
            </a:r>
          </a:p>
          <a:p>
            <a:endParaRPr lang="en-US" sz="1400" b="1" dirty="0">
              <a:latin typeface="Arial" panose="020B0604020202020204" pitchFamily="34" charset="0"/>
            </a:endParaRPr>
          </a:p>
          <a:p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endParaRPr 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608CC0F-ABB9-DEB8-2A09-CB7AA6824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585930"/>
              </p:ext>
            </p:extLst>
          </p:nvPr>
        </p:nvGraphicFramePr>
        <p:xfrm>
          <a:off x="4042395" y="1343292"/>
          <a:ext cx="4969782" cy="2154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2005">
                  <a:extLst>
                    <a:ext uri="{9D8B030D-6E8A-4147-A177-3AD203B41FA5}">
                      <a16:colId xmlns:a16="http://schemas.microsoft.com/office/drawing/2014/main" val="63241031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371215880"/>
                    </a:ext>
                  </a:extLst>
                </a:gridCol>
                <a:gridCol w="3553377">
                  <a:extLst>
                    <a:ext uri="{9D8B030D-6E8A-4147-A177-3AD203B41FA5}">
                      <a16:colId xmlns:a16="http://schemas.microsoft.com/office/drawing/2014/main" val="2396010791"/>
                    </a:ext>
                  </a:extLst>
                </a:gridCol>
              </a:tblGrid>
              <a:tr h="1649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#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Modality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AVW15 RC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4521231"/>
                  </a:ext>
                </a:extLst>
              </a:tr>
              <a:tr h="446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CT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CT Incisive patch (couch height fix)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Incisive 1.1 HB, V4.5.1.742 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0320462"/>
                  </a:ext>
                </a:extLst>
              </a:tr>
              <a:tr h="3317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CT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CT Incisive for Dual Energy verification per marketing request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6217976"/>
                  </a:ext>
                </a:extLst>
              </a:tr>
              <a:tr h="3317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CT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CT Thor (if the preliminary </a:t>
                      </a:r>
                      <a:r>
                        <a:rPr lang="en-US" sz="1000" dirty="0" err="1">
                          <a:effectLst/>
                        </a:rPr>
                        <a:t>datacases</a:t>
                      </a:r>
                      <a:r>
                        <a:rPr lang="en-US" sz="1000" dirty="0">
                          <a:effectLst/>
                        </a:rPr>
                        <a:t> are available on time)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007465"/>
                  </a:ext>
                </a:extLst>
              </a:tr>
              <a:tr h="1649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ISCV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V7.0 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9693299"/>
                  </a:ext>
                </a:extLst>
              </a:tr>
              <a:tr h="1649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IBE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B.19 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195965"/>
                  </a:ext>
                </a:extLst>
              </a:tr>
              <a:tr h="1649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iGT (IXR)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Allura 8.x.100 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3474578"/>
                  </a:ext>
                </a:extLst>
              </a:tr>
              <a:tr h="2192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US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More legacy cameras if the data is available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9383555"/>
                  </a:ext>
                </a:extLst>
              </a:tr>
              <a:tr h="1649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Pinnacle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IOCC verification only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3270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217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9162" y="183585"/>
            <a:ext cx="8547018" cy="39132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 ASPECTS – Verification Scope</a:t>
            </a:r>
            <a:endParaRPr lang="en-US" sz="2000" kern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2500455" y="1008100"/>
            <a:ext cx="3599775" cy="72202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628650" algn="l"/>
                <a:tab pos="742950" algn="l"/>
              </a:tabLst>
            </a:pPr>
            <a:r>
              <a:rPr lang="en-US" sz="1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CT ASPECTS</a:t>
            </a:r>
            <a:endParaRPr lang="en-US" sz="1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28650" lvl="1" indent="-17145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628650" algn="l"/>
                <a:tab pos="742950" algn="l"/>
              </a:tabLst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Sanity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BCAB1C-CB44-5BF9-048B-F210DC4A7EDF}"/>
              </a:ext>
            </a:extLst>
          </p:cNvPr>
          <p:cNvSpPr/>
          <p:nvPr/>
        </p:nvSpPr>
        <p:spPr>
          <a:xfrm>
            <a:off x="567950" y="2049785"/>
            <a:ext cx="14587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Variances (if any)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811DAA-4E84-BFB1-78A0-8489BFBA4F5B}"/>
              </a:ext>
            </a:extLst>
          </p:cNvPr>
          <p:cNvSpPr/>
          <p:nvPr/>
        </p:nvSpPr>
        <p:spPr>
          <a:xfrm>
            <a:off x="4352354" y="2049784"/>
            <a:ext cx="22073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of Variances (if any)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3AB2C670-E750-0D9D-C005-CC12D4B6078C}"/>
              </a:ext>
            </a:extLst>
          </p:cNvPr>
          <p:cNvSpPr/>
          <p:nvPr/>
        </p:nvSpPr>
        <p:spPr>
          <a:xfrm>
            <a:off x="567950" y="2357562"/>
            <a:ext cx="3277876" cy="3913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B9934893-74B1-5BEC-07DD-DF51D3B5F023}"/>
              </a:ext>
            </a:extLst>
          </p:cNvPr>
          <p:cNvSpPr/>
          <p:nvPr/>
        </p:nvSpPr>
        <p:spPr>
          <a:xfrm>
            <a:off x="4420130" y="2360507"/>
            <a:ext cx="3673642" cy="38837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Not Applicable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BD79D50E-13FE-B89B-99E3-035FD0B2AC38}"/>
              </a:ext>
            </a:extLst>
          </p:cNvPr>
          <p:cNvSpPr/>
          <p:nvPr/>
        </p:nvSpPr>
        <p:spPr>
          <a:xfrm>
            <a:off x="2500455" y="3015451"/>
            <a:ext cx="3599775" cy="7220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Deployments Verified</a:t>
            </a:r>
          </a:p>
          <a:p>
            <a:pPr lvl="0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HX Configuration (Client Server)</a:t>
            </a:r>
          </a:p>
        </p:txBody>
      </p:sp>
    </p:spTree>
    <p:extLst>
      <p:ext uri="{BB962C8B-B14F-4D97-AF65-F5344CB8AC3E}">
        <p14:creationId xmlns:p14="http://schemas.microsoft.com/office/powerpoint/2010/main" val="3463560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9162" y="183585"/>
            <a:ext cx="8547018" cy="39132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NM Suite – Verification Scope</a:t>
            </a:r>
            <a:endParaRPr lang="en-US" sz="2000" kern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2500455" y="1008099"/>
            <a:ext cx="3599775" cy="10853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628650" algn="l"/>
                <a:tab pos="742950" algn="l"/>
              </a:tabLst>
            </a:pPr>
            <a:r>
              <a:rPr lang="en-US" sz="1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NM Suite</a:t>
            </a:r>
          </a:p>
          <a:p>
            <a:pPr marL="171450" indent="-17145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628650" algn="l"/>
                <a:tab pos="742950" algn="l"/>
              </a:tabLst>
            </a:pPr>
            <a:r>
              <a:rPr lang="en-US" sz="1100" dirty="0">
                <a:ea typeface="+mn-lt"/>
                <a:cs typeface="+mn-lt"/>
              </a:rPr>
              <a:t>Sanity for NM Planar Suite, NM </a:t>
            </a:r>
            <a:r>
              <a:rPr lang="en-US" sz="1100" dirty="0" err="1">
                <a:ea typeface="+mn-lt"/>
                <a:cs typeface="+mn-lt"/>
              </a:rPr>
              <a:t>JETPack</a:t>
            </a:r>
            <a:r>
              <a:rPr lang="en-US" sz="1100" dirty="0">
                <a:ea typeface="+mn-lt"/>
                <a:cs typeface="+mn-lt"/>
              </a:rPr>
              <a:t> and NM QA QC Tools</a:t>
            </a:r>
            <a:endParaRPr lang="en-US" sz="1100" dirty="0">
              <a:cs typeface="Calibri"/>
            </a:endParaRP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628650" algn="l"/>
                <a:tab pos="742950" algn="l"/>
              </a:tabLst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ü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BCAB1C-CB44-5BF9-048B-F210DC4A7EDF}"/>
              </a:ext>
            </a:extLst>
          </p:cNvPr>
          <p:cNvSpPr/>
          <p:nvPr/>
        </p:nvSpPr>
        <p:spPr>
          <a:xfrm>
            <a:off x="567950" y="2224130"/>
            <a:ext cx="14587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Variances (if any)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811DAA-4E84-BFB1-78A0-8489BFBA4F5B}"/>
              </a:ext>
            </a:extLst>
          </p:cNvPr>
          <p:cNvSpPr/>
          <p:nvPr/>
        </p:nvSpPr>
        <p:spPr>
          <a:xfrm>
            <a:off x="4384439" y="2257249"/>
            <a:ext cx="22073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of Variances (if any)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3AB2C670-E750-0D9D-C005-CC12D4B6078C}"/>
              </a:ext>
            </a:extLst>
          </p:cNvPr>
          <p:cNvSpPr/>
          <p:nvPr/>
        </p:nvSpPr>
        <p:spPr>
          <a:xfrm>
            <a:off x="567950" y="2576830"/>
            <a:ext cx="3277876" cy="3913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B9934893-74B1-5BEC-07DD-DF51D3B5F023}"/>
              </a:ext>
            </a:extLst>
          </p:cNvPr>
          <p:cNvSpPr/>
          <p:nvPr/>
        </p:nvSpPr>
        <p:spPr>
          <a:xfrm>
            <a:off x="4461108" y="2576830"/>
            <a:ext cx="3673642" cy="38837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Not Applicable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BD79D50E-13FE-B89B-99E3-035FD0B2AC38}"/>
              </a:ext>
            </a:extLst>
          </p:cNvPr>
          <p:cNvSpPr/>
          <p:nvPr/>
        </p:nvSpPr>
        <p:spPr>
          <a:xfrm>
            <a:off x="2500455" y="3205000"/>
            <a:ext cx="3599775" cy="9946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Deployments Verified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HX Configuration (Client Server)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PIAB</a:t>
            </a:r>
          </a:p>
        </p:txBody>
      </p:sp>
    </p:spTree>
    <p:extLst>
      <p:ext uri="{BB962C8B-B14F-4D97-AF65-F5344CB8AC3E}">
        <p14:creationId xmlns:p14="http://schemas.microsoft.com/office/powerpoint/2010/main" val="330624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826072"/>
            <a:ext cx="4137452" cy="34009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Client/Server and PIAB Builds: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ISP.Server_15.1.0.11708.iso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Sver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ISO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ISP.Server_15.0.3.11738.iso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ISP.Server_15.0.3.11754.iso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ISP.Server_15.0.3.11779.iso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ISP.Server_15.0.3.11792.iso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ISP.Server_15.0.3.11821.iso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ISP.Server_15.0.3.11834.iso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ISP.Server_15.0.3.11877.iso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ISP.Server_15.0.4.11103.iso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ISP.Server_15.0.4.11117.iso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ISP.Server_15.0.4.11137.iso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ISP.Server_15.0.4.11145.iso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ISP.Server_15.0.4.11148.iso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ISP.Server_15.0.4.11170.iso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ISP.Server_15.0.4.11176.iso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ISP.Server_15.0.4.11180.iso </a:t>
            </a:r>
            <a:r>
              <a:rPr lang="en-US" sz="1050" dirty="0">
                <a:solidFill>
                  <a:srgbClr val="11100F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EV ISO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6051" y="38041"/>
            <a:ext cx="8075084" cy="39132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AVW15, CT ASPECTS &amp; NM Suite – Builds Released for Verification</a:t>
            </a:r>
            <a:endParaRPr lang="en-US" sz="2000" kern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3024554" y="1406103"/>
            <a:ext cx="3150560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1"/>
            <a:r>
              <a:rPr lang="pt-BR" sz="120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C5C018-1DBB-47DA-A089-E8FB96F3A991}"/>
              </a:ext>
            </a:extLst>
          </p:cNvPr>
          <p:cNvSpPr/>
          <p:nvPr/>
        </p:nvSpPr>
        <p:spPr>
          <a:xfrm>
            <a:off x="2192717" y="392398"/>
            <a:ext cx="34541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Lato"/>
                <a:ea typeface="Lato" panose="020F0502020204030203" pitchFamily="34" charset="0"/>
                <a:cs typeface="Lato" panose="020F0502020204030203" pitchFamily="34" charset="0"/>
              </a:rPr>
              <a:t>ISO Released for Verification: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BBF008-A35A-F060-9A06-CEFBA1EE41FA}"/>
              </a:ext>
            </a:extLst>
          </p:cNvPr>
          <p:cNvSpPr txBox="1"/>
          <p:nvPr/>
        </p:nvSpPr>
        <p:spPr>
          <a:xfrm>
            <a:off x="5093280" y="761730"/>
            <a:ext cx="4137452" cy="341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Enterprise Builds: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ISP.Concerto_15.1.0.12708.iso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ISP.Concerto_15.0.3.12738.iso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ISP.Concerto_15.0.3.12754.iso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ISP.Concerto_15.0.3.12779.iso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ISP.Concerto_15.0.3.12792.iso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ISP.Concerto_15.0.3.12821.iso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ISP.Concerto_15.0.3.12834.iso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ISP.Concerto_15.0.3.12877.iso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ISP.Concerto_15.0.4.12103.iso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ISP.Concerto_15.0.4.12117.iso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ISP.Concerto_15.0.4.12137.iso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ISP.Concerto_15.0.4.12145.iso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ISP.Concerto_15.0.4.12148.iso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ISP.Concerto_15.0.4.12170.iso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ISP.Concerto_15.0.4.12176.iso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ISP.Concerto_15.0.4.12180.iso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it-I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250BCC-35B1-81B9-0878-0ECE6A404C3D}"/>
              </a:ext>
            </a:extLst>
          </p:cNvPr>
          <p:cNvSpPr txBox="1"/>
          <p:nvPr/>
        </p:nvSpPr>
        <p:spPr>
          <a:xfrm>
            <a:off x="4952986" y="4365666"/>
            <a:ext cx="4137451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Demo Laptop (HP) Builds: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IntelliSpace_Portal_Demo_Laptop_OVA_V15.0.4.11170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IntelliSpace_Portal_Demo_Laptop_OVA_V15.1.0.11703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IntelliSpace_Portal_Demo_Laptop_OVA_V15.0.4.11180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CCF41E-ED75-3049-D77C-52E44F4F27FD}"/>
              </a:ext>
            </a:extLst>
          </p:cNvPr>
          <p:cNvSpPr txBox="1"/>
          <p:nvPr/>
        </p:nvSpPr>
        <p:spPr>
          <a:xfrm>
            <a:off x="303695" y="4450304"/>
            <a:ext cx="4268305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Demo Data: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AVW_Demo_Data_FSE_V15.0.0.17100.iso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AVW_Demo_Data_V15.0.4.17000.iso</a:t>
            </a:r>
          </a:p>
        </p:txBody>
      </p:sp>
    </p:spTree>
    <p:extLst>
      <p:ext uri="{BB962C8B-B14F-4D97-AF65-F5344CB8AC3E}">
        <p14:creationId xmlns:p14="http://schemas.microsoft.com/office/powerpoint/2010/main" val="1963162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6051" y="38041"/>
            <a:ext cx="8075084" cy="39132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AVW15, CT ASPECTS &amp; NM Suite – Builds Released for Verification</a:t>
            </a:r>
            <a:endParaRPr lang="en-US" sz="2000" kern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3024554" y="1406103"/>
            <a:ext cx="3150560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1"/>
            <a:r>
              <a:rPr lang="pt-BR" sz="120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C5C018-1DBB-47DA-A089-E8FB96F3A991}"/>
              </a:ext>
            </a:extLst>
          </p:cNvPr>
          <p:cNvSpPr/>
          <p:nvPr/>
        </p:nvSpPr>
        <p:spPr>
          <a:xfrm>
            <a:off x="2192717" y="392398"/>
            <a:ext cx="34541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Lato"/>
                <a:ea typeface="Lato" panose="020F0502020204030203" pitchFamily="34" charset="0"/>
                <a:cs typeface="Lato" panose="020F0502020204030203" pitchFamily="34" charset="0"/>
              </a:rPr>
              <a:t>ISO Released for Verification: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036891-1181-4E99-8892-20B1A51B9E4D}"/>
              </a:ext>
            </a:extLst>
          </p:cNvPr>
          <p:cNvSpPr/>
          <p:nvPr/>
        </p:nvSpPr>
        <p:spPr>
          <a:xfrm>
            <a:off x="225691" y="5256235"/>
            <a:ext cx="8161540" cy="39132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AVW15 RC</a:t>
            </a: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Final Builds Released for Verification</a:t>
            </a:r>
            <a:endParaRPr lang="en-US" sz="2000" kern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FA244B-DDBC-4846-8A27-8965732A7F72}"/>
              </a:ext>
            </a:extLst>
          </p:cNvPr>
          <p:cNvSpPr txBox="1"/>
          <p:nvPr/>
        </p:nvSpPr>
        <p:spPr>
          <a:xfrm>
            <a:off x="225691" y="5897327"/>
            <a:ext cx="8161540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/>
              <a:t>Refer Section 9.5 (Final Builds (Media) Released for Verification) of Design Verification Report (D000996308_Rev F).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2821-A3B5-1C29-31C6-2CC52CC715BF}"/>
              </a:ext>
            </a:extLst>
          </p:cNvPr>
          <p:cNvSpPr txBox="1"/>
          <p:nvPr/>
        </p:nvSpPr>
        <p:spPr>
          <a:xfrm>
            <a:off x="510290" y="761730"/>
            <a:ext cx="5843327" cy="11387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Media Menu Builds: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AVW15(ISP13)  IntelliSpace_Portal_Media_Menu_V15.0.4.11103.iso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AVW15(ISP13)  IntelliSpace_Portal_Media_Menu_V15.0.4.11176.iso 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AVW15(ISP13)  IntelliSpace_Portal_Media_Menu_V15.0.4.11180.iso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C48ABB-0FD3-0D69-9637-E53153539746}"/>
              </a:ext>
            </a:extLst>
          </p:cNvPr>
          <p:cNvSpPr txBox="1"/>
          <p:nvPr/>
        </p:nvSpPr>
        <p:spPr>
          <a:xfrm>
            <a:off x="361406" y="2061319"/>
            <a:ext cx="4268305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Unified Media: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IntelliSpace_Portal_Unified_Media_IX_V15.0.4.11180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IntelliSpace_Portal_Unified_Media_V15.0.4.11180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64CD5-FD6A-EF02-9E4D-AB2AA5FDDD1A}"/>
              </a:ext>
            </a:extLst>
          </p:cNvPr>
          <p:cNvSpPr txBox="1"/>
          <p:nvPr/>
        </p:nvSpPr>
        <p:spPr>
          <a:xfrm>
            <a:off x="331787" y="3204836"/>
            <a:ext cx="79493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RSD packages: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ISP.Server_15.0.4.11180.part01.zip to ISP.Server_15.0.4.11180.part15.zip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IntelliSpace_Portal_Media_Menu_V15.0.4.11180.part01.zip to IntelliSpace_Portal_Media_Menu_V15.0.4.11180.part15.zip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27542D-C9BD-EC76-AD5C-E140BCCCBC99}"/>
              </a:ext>
            </a:extLst>
          </p:cNvPr>
          <p:cNvSpPr txBox="1"/>
          <p:nvPr/>
        </p:nvSpPr>
        <p:spPr>
          <a:xfrm>
            <a:off x="510290" y="4150797"/>
            <a:ext cx="4268305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KnowledgeScape 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KnowledgeScape_1Click_15.0.4.41882.iso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110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4C7BE7-4396-43C1-BD2B-D6B2456C58C8}" type="slidenum">
              <a:rPr lang="en-US" dirty="0" smtClean="0"/>
              <a:pPr/>
              <a:t>10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12441" y="116805"/>
            <a:ext cx="7898344" cy="391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AVW15, CT ASPECTS &amp; NM Suite RC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Release – Overall Test Execution Summary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649132" y="4077358"/>
            <a:ext cx="5113867" cy="2058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/>
              <a:t>Note: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00" dirty="0"/>
              <a:t>No failures found in safety tests.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00" dirty="0"/>
              <a:t>Failed tests – defects on failed tests were reviewed and either</a:t>
            </a:r>
            <a:br>
              <a:rPr lang="en-US" sz="1100" dirty="0"/>
            </a:br>
            <a:r>
              <a:rPr lang="en-US" sz="1100" dirty="0"/>
              <a:t>fixed and verified or postponed to a different verification phase – according to defect management procedure.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00" dirty="0"/>
              <a:t>Not executed tests are considered as Not Applicable in Execution Progress graph and not considered in Overall Execution graph. (Refer verification report)</a:t>
            </a:r>
          </a:p>
          <a:p>
            <a:pPr>
              <a:lnSpc>
                <a:spcPct val="150000"/>
              </a:lnSpc>
            </a:pP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D26E62-AAF7-D254-683D-F3A5D09FC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60" y="758937"/>
            <a:ext cx="8001000" cy="3009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76470B-0FC2-9EF3-FC40-D87E4CEFE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47" y="3768837"/>
            <a:ext cx="3372686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25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449740"/>
              </p:ext>
            </p:extLst>
          </p:nvPr>
        </p:nvGraphicFramePr>
        <p:xfrm>
          <a:off x="98800" y="976867"/>
          <a:ext cx="8544360" cy="3670252"/>
        </p:xfrm>
        <a:graphic>
          <a:graphicData uri="http://schemas.openxmlformats.org/drawingml/2006/table">
            <a:tbl>
              <a:tblPr/>
              <a:tblGrid>
                <a:gridCol w="439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1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696">
                  <a:extLst>
                    <a:ext uri="{9D8B030D-6E8A-4147-A177-3AD203B41FA5}">
                      <a16:colId xmlns:a16="http://schemas.microsoft.com/office/drawing/2014/main" val="4051800506"/>
                    </a:ext>
                  </a:extLst>
                </a:gridCol>
                <a:gridCol w="978568">
                  <a:extLst>
                    <a:ext uri="{9D8B030D-6E8A-4147-A177-3AD203B41FA5}">
                      <a16:colId xmlns:a16="http://schemas.microsoft.com/office/drawing/2014/main" val="2475530852"/>
                    </a:ext>
                  </a:extLst>
                </a:gridCol>
                <a:gridCol w="862739">
                  <a:extLst>
                    <a:ext uri="{9D8B030D-6E8A-4147-A177-3AD203B41FA5}">
                      <a16:colId xmlns:a16="http://schemas.microsoft.com/office/drawing/2014/main" val="545211794"/>
                    </a:ext>
                  </a:extLst>
                </a:gridCol>
              </a:tblGrid>
              <a:tr h="3387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#</a:t>
                      </a:r>
                    </a:p>
                  </a:txBody>
                  <a:tcPr marL="4811" marR="4811" marT="48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Checkpoints</a:t>
                      </a:r>
                    </a:p>
                  </a:txBody>
                  <a:tcPr marL="4811" marR="4811" marT="48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AVW15</a:t>
                      </a:r>
                    </a:p>
                  </a:txBody>
                  <a:tcPr marL="4811" marR="4811" marT="48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 ASPECTS</a:t>
                      </a:r>
                      <a:endParaRPr lang="en-US" sz="11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811" marR="4811" marT="48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NM Suite</a:t>
                      </a:r>
                      <a:endParaRPr lang="en-US" sz="11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811" marR="4811" marT="48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6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4811" marR="4811" marT="48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fontAlgn="ctr"/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defects found during verification for the release scope have been scored and accepted. 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Exception: Defects submitted during the last two weeks prior to the milestone should be set as hazard yes/no (scoring is required only for Hazard = Yes).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Yes</a:t>
                      </a: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7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4811" marR="4811" marT="48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rank 2 defects for the release scope must be resolved and closed by end of verification.</a:t>
                      </a:r>
                    </a:p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Exception: </a:t>
                      </a:r>
                    </a:p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a. Rank 2 defects replicated from other projects.</a:t>
                      </a:r>
                    </a:p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b. Rank 2 defects which need a fix outside the organization (example: US, </a:t>
                      </a:r>
                      <a:r>
                        <a:rPr lang="en-US" sz="800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MR..etc</a:t>
                      </a: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c. Rank 2 defects logged from outside R&amp;D.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Yes</a:t>
                      </a: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5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4811" marR="4811" marT="48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hazard / safety test cases executed for the milestone are in passed state.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Yes</a:t>
                      </a: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811" marR="4811" marT="48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Rank 1 defects and Sev-3 are resolved and closed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lang="en-US" sz="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811" marR="4811" marT="48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the resolved defects for the release scope are closed.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lang="en-US" sz="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1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4811" marR="4811" marT="48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Sanity test is completed and passed on the Final Verification build during, end of verification.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lang="en-US" sz="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4811" marR="4811" marT="48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tests including the Expert tests have been performed as per the Verification plan.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lang="en-US" sz="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0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4811" marR="4811" marT="48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the documents needed for the end of verification (including Verification Reports, Traceability matrix, RMM Update with Test Evidence and Engineering Release Notes) are reviewed and approved.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Yes</a:t>
                      </a: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+mn-cs"/>
                        </a:rPr>
                        <a:t>Yes</a:t>
                      </a: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567894"/>
                  </a:ext>
                </a:extLst>
              </a:tr>
              <a:tr h="3103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4811" marR="4811" marT="48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Summary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Go</a:t>
                      </a: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Go</a:t>
                      </a: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Go</a:t>
                      </a:r>
                    </a:p>
                  </a:txBody>
                  <a:tcPr marL="5080" marR="5080" marT="5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98800" y="295266"/>
            <a:ext cx="8547018" cy="391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7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AVW15, CT ASPECTS &amp; NM Suite RC </a:t>
            </a:r>
            <a:r>
              <a:rPr lang="en-US" sz="1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Release - Verification </a:t>
            </a:r>
            <a:r>
              <a:rPr lang="en-US" sz="17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Completion Status (Applications)</a:t>
            </a:r>
            <a:endParaRPr lang="en-US" sz="1700" kern="12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9157547" y="783756"/>
            <a:ext cx="977337" cy="806449"/>
            <a:chOff x="7681188" y="5462736"/>
            <a:chExt cx="1447803" cy="1272870"/>
          </a:xfrm>
        </p:grpSpPr>
        <p:sp>
          <p:nvSpPr>
            <p:cNvPr id="16" name="Oval 15"/>
            <p:cNvSpPr/>
            <p:nvPr>
              <p:custDataLst>
                <p:tags r:id="rId1"/>
              </p:custDataLst>
            </p:nvPr>
          </p:nvSpPr>
          <p:spPr bwMode="auto">
            <a:xfrm>
              <a:off x="7681188" y="5538934"/>
              <a:ext cx="228601" cy="228601"/>
            </a:xfrm>
            <a:prstGeom prst="ellipse">
              <a:avLst/>
            </a:prstGeom>
            <a:solidFill>
              <a:srgbClr val="5DBA00"/>
            </a:soli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sz="1400" kern="0">
                <a:solidFill>
                  <a:srgbClr val="FFFFFF"/>
                </a:solidFill>
                <a:latin typeface="Calibri" panose="020F0502020204030204"/>
                <a:cs typeface="Arial" pitchFamily="34" charset="0"/>
              </a:endParaRPr>
            </a:p>
          </p:txBody>
        </p:sp>
        <p:sp>
          <p:nvSpPr>
            <p:cNvPr id="17" name="Oval 16"/>
            <p:cNvSpPr/>
            <p:nvPr>
              <p:custDataLst>
                <p:tags r:id="rId2"/>
              </p:custDataLst>
            </p:nvPr>
          </p:nvSpPr>
          <p:spPr bwMode="auto">
            <a:xfrm>
              <a:off x="7681191" y="6453336"/>
              <a:ext cx="228600" cy="228600"/>
            </a:xfrm>
            <a:prstGeom prst="ellipse">
              <a:avLst/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sz="1400" kern="0">
                <a:solidFill>
                  <a:srgbClr val="FFFFFF"/>
                </a:solidFill>
                <a:latin typeface="Calibri" panose="020F0502020204030204"/>
                <a:cs typeface="Arial" pitchFamily="34" charset="0"/>
              </a:endParaRPr>
            </a:p>
          </p:txBody>
        </p:sp>
        <p:sp>
          <p:nvSpPr>
            <p:cNvPr id="18" name="Oval 17"/>
            <p:cNvSpPr/>
            <p:nvPr>
              <p:custDataLst>
                <p:tags r:id="rId3"/>
              </p:custDataLst>
            </p:nvPr>
          </p:nvSpPr>
          <p:spPr bwMode="auto">
            <a:xfrm>
              <a:off x="7681191" y="5843736"/>
              <a:ext cx="228600" cy="228600"/>
            </a:xfrm>
            <a:prstGeom prst="ellipse">
              <a:avLst/>
            </a:prstGeom>
            <a:solidFill>
              <a:srgbClr val="B6DD6F"/>
            </a:soli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sz="1400" kern="0">
                <a:solidFill>
                  <a:srgbClr val="FFFFFF"/>
                </a:solidFill>
                <a:latin typeface="Calibri" panose="020F0502020204030204"/>
                <a:cs typeface="Arial" pitchFamily="34" charset="0"/>
              </a:endParaRPr>
            </a:p>
          </p:txBody>
        </p:sp>
        <p:sp>
          <p:nvSpPr>
            <p:cNvPr id="19" name="TextBox 18"/>
            <p:cNvSpPr txBox="1"/>
            <p:nvPr>
              <p:custDataLst>
                <p:tags r:id="rId4"/>
              </p:custDataLst>
            </p:nvPr>
          </p:nvSpPr>
          <p:spPr>
            <a:xfrm>
              <a:off x="7909791" y="5462736"/>
              <a:ext cx="762000" cy="358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sz="1100" kern="0">
                  <a:solidFill>
                    <a:srgbClr val="000000"/>
                  </a:solidFill>
                  <a:latin typeface="Calibri" panose="020F0502020204030204"/>
                  <a:cs typeface="Arial" pitchFamily="34" charset="0"/>
                </a:rPr>
                <a:t>Done</a:t>
              </a:r>
            </a:p>
          </p:txBody>
        </p:sp>
        <p:sp>
          <p:nvSpPr>
            <p:cNvPr id="20" name="TextBox 19"/>
            <p:cNvSpPr txBox="1"/>
            <p:nvPr>
              <p:custDataLst>
                <p:tags r:id="rId5"/>
              </p:custDataLst>
            </p:nvPr>
          </p:nvSpPr>
          <p:spPr>
            <a:xfrm>
              <a:off x="7909791" y="5767536"/>
              <a:ext cx="1219200" cy="358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sz="1100" kern="0" dirty="0">
                  <a:solidFill>
                    <a:srgbClr val="000000"/>
                  </a:solidFill>
                  <a:latin typeface="Calibri" panose="020F0502020204030204"/>
                  <a:cs typeface="Arial" pitchFamily="34" charset="0"/>
                </a:rPr>
                <a:t>On-Track</a:t>
              </a:r>
            </a:p>
          </p:txBody>
        </p:sp>
        <p:sp>
          <p:nvSpPr>
            <p:cNvPr id="21" name="TextBox 20"/>
            <p:cNvSpPr txBox="1"/>
            <p:nvPr>
              <p:custDataLst>
                <p:tags r:id="rId6"/>
              </p:custDataLst>
            </p:nvPr>
          </p:nvSpPr>
          <p:spPr>
            <a:xfrm>
              <a:off x="7909791" y="6377136"/>
              <a:ext cx="762000" cy="358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sz="1100" kern="0" dirty="0">
                  <a:solidFill>
                    <a:srgbClr val="000000"/>
                  </a:solidFill>
                  <a:latin typeface="Calibri" panose="020F0502020204030204"/>
                  <a:cs typeface="Arial" pitchFamily="34" charset="0"/>
                </a:rPr>
                <a:t>Gap</a:t>
              </a:r>
            </a:p>
          </p:txBody>
        </p:sp>
        <p:sp>
          <p:nvSpPr>
            <p:cNvPr id="22" name="Oval 21"/>
            <p:cNvSpPr/>
            <p:nvPr>
              <p:custDataLst>
                <p:tags r:id="rId7"/>
              </p:custDataLst>
            </p:nvPr>
          </p:nvSpPr>
          <p:spPr bwMode="auto">
            <a:xfrm>
              <a:off x="7681191" y="614853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sz="1400" kern="0">
                <a:solidFill>
                  <a:srgbClr val="FFFFFF"/>
                </a:solidFill>
                <a:latin typeface="Calibri" panose="020F0502020204030204"/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>
              <p:custDataLst>
                <p:tags r:id="rId8"/>
              </p:custDataLst>
            </p:nvPr>
          </p:nvSpPr>
          <p:spPr>
            <a:xfrm>
              <a:off x="7909791" y="6072335"/>
              <a:ext cx="1219200" cy="358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sz="1100" kern="0">
                  <a:solidFill>
                    <a:srgbClr val="000000"/>
                  </a:solidFill>
                  <a:latin typeface="Calibri" panose="020F0502020204030204"/>
                  <a:cs typeface="Arial" pitchFamily="34" charset="0"/>
                </a:rPr>
                <a:t>At Risk</a:t>
              </a:r>
            </a:p>
          </p:txBody>
        </p:sp>
        <p:sp>
          <p:nvSpPr>
            <p:cNvPr id="14" name="Oval 13"/>
            <p:cNvSpPr/>
            <p:nvPr>
              <p:custDataLst>
                <p:tags r:id="rId9"/>
              </p:custDataLst>
            </p:nvPr>
          </p:nvSpPr>
          <p:spPr bwMode="auto">
            <a:xfrm>
              <a:off x="7681189" y="6453335"/>
              <a:ext cx="228600" cy="228601"/>
            </a:xfrm>
            <a:prstGeom prst="ellipse">
              <a:avLst/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sz="1400" kern="0">
                <a:solidFill>
                  <a:srgbClr val="FFFFFF"/>
                </a:solidFill>
                <a:latin typeface="Calibri" panose="020F0502020204030204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1511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6120" y="496832"/>
            <a:ext cx="1289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Source: TFS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183" y="3210218"/>
            <a:ext cx="286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Enhancements</a:t>
            </a:r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495361242"/>
              </p:ext>
            </p:extLst>
          </p:nvPr>
        </p:nvGraphicFramePr>
        <p:xfrm>
          <a:off x="157178" y="1051599"/>
          <a:ext cx="3297115" cy="2069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55183" y="624403"/>
            <a:ext cx="3385162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 Defects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860" y="5838824"/>
            <a:ext cx="8795782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00" b="1" i="1" dirty="0">
                <a:latin typeface="Lato"/>
                <a:ea typeface="Lato" panose="020F0502020204030203" pitchFamily="34" charset="0"/>
                <a:cs typeface="Lato" panose="020F0502020204030203" pitchFamily="34" charset="0"/>
              </a:rPr>
              <a:t>All the open defects (102) have been analyzed &amp; moved to future milestones / releases.</a:t>
            </a:r>
          </a:p>
          <a:p>
            <a:r>
              <a:rPr lang="en-US" sz="1300" dirty="0">
                <a:latin typeface="Lato"/>
                <a:ea typeface="Lato" panose="020F0502020204030203" pitchFamily="34" charset="0"/>
                <a:cs typeface="Lato" panose="020F0502020204030203" pitchFamily="34" charset="0"/>
              </a:rPr>
              <a:t>Refer </a:t>
            </a:r>
            <a:r>
              <a:rPr lang="en-US" sz="1300" b="1" dirty="0">
                <a:latin typeface="Lato"/>
                <a:ea typeface="Lato" panose="020F0502020204030203" pitchFamily="34" charset="0"/>
                <a:cs typeface="Lato" panose="020F0502020204030203" pitchFamily="34" charset="0"/>
              </a:rPr>
              <a:t>"</a:t>
            </a:r>
            <a:r>
              <a:rPr lang="en-US" sz="1300" b="1" dirty="0">
                <a:ea typeface="+mn-lt"/>
                <a:cs typeface="+mn-lt"/>
              </a:rPr>
              <a:t> D001025480_AVW15, CT ASPECTS &amp; NM Suite </a:t>
            </a:r>
            <a:r>
              <a:rPr lang="en-US" sz="1300" b="1" dirty="0" err="1">
                <a:ea typeface="+mn-lt"/>
                <a:cs typeface="+mn-lt"/>
              </a:rPr>
              <a:t>RFC_Product</a:t>
            </a:r>
            <a:r>
              <a:rPr lang="en-US" sz="1300" b="1" dirty="0">
                <a:ea typeface="+mn-lt"/>
                <a:cs typeface="+mn-lt"/>
              </a:rPr>
              <a:t> Defect Status </a:t>
            </a:r>
            <a:r>
              <a:rPr lang="en-US" sz="1300" b="1" dirty="0" err="1">
                <a:ea typeface="+mn-lt"/>
                <a:cs typeface="+mn-lt"/>
              </a:rPr>
              <a:t>Report_Rev</a:t>
            </a:r>
            <a:r>
              <a:rPr lang="en-US" sz="1300" b="1" dirty="0">
                <a:ea typeface="+mn-lt"/>
                <a:cs typeface="+mn-lt"/>
              </a:rPr>
              <a:t> C (Section 3)" </a:t>
            </a:r>
            <a:r>
              <a:rPr lang="en-US" sz="1300" dirty="0">
                <a:ea typeface="+mn-lt"/>
                <a:cs typeface="+mn-lt"/>
              </a:rPr>
              <a:t>for more details.</a:t>
            </a:r>
            <a:endParaRPr lang="en-US" sz="1300" i="1" dirty="0">
              <a:latin typeface="Lato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7178" y="117696"/>
            <a:ext cx="8547018" cy="391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AVW15, CT ASPECTS &amp; NM Suite RC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Release – Overall Defect Status Summary</a:t>
            </a:r>
            <a:endParaRPr lang="en-US" sz="2000" dirty="0"/>
          </a:p>
        </p:txBody>
      </p:sp>
      <p:graphicFrame>
        <p:nvGraphicFramePr>
          <p:cNvPr id="19" name="Diagram 18"/>
          <p:cNvGraphicFramePr/>
          <p:nvPr>
            <p:extLst>
              <p:ext uri="{D42A27DB-BD31-4B8C-83A1-F6EECF244321}">
                <p14:modId xmlns:p14="http://schemas.microsoft.com/office/powerpoint/2010/main" val="156695543"/>
              </p:ext>
            </p:extLst>
          </p:nvPr>
        </p:nvGraphicFramePr>
        <p:xfrm>
          <a:off x="211860" y="3680205"/>
          <a:ext cx="3297115" cy="2069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3ACAFBFF-ED1F-4443-BCD1-979D26D30415}"/>
              </a:ext>
            </a:extLst>
          </p:cNvPr>
          <p:cNvSpPr txBox="1"/>
          <p:nvPr/>
        </p:nvSpPr>
        <p:spPr>
          <a:xfrm>
            <a:off x="3050892" y="5253891"/>
            <a:ext cx="6192251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b="1" dirty="0">
                <a:latin typeface="Ariel"/>
                <a:ea typeface="+mn-lt"/>
                <a:cs typeface="+mn-lt"/>
              </a:rPr>
              <a:t>Notes</a:t>
            </a:r>
            <a:r>
              <a:rPr lang="en-US" sz="1100" b="1" dirty="0">
                <a:latin typeface="Ariel"/>
                <a:ea typeface="+mn-lt"/>
                <a:cs typeface="+mn-lt"/>
              </a:rPr>
              <a:t>: </a:t>
            </a:r>
            <a:r>
              <a:rPr lang="en-US" sz="1100" dirty="0">
                <a:latin typeface="Ariel"/>
                <a:ea typeface="+mn-lt"/>
                <a:cs typeface="+mn-lt"/>
              </a:rPr>
              <a:t>1. Defect dump taken from TFS on 26-June-2023 @ 10:30 AM HFA time.</a:t>
            </a:r>
            <a:br>
              <a:rPr lang="en-US" sz="1100" dirty="0">
                <a:latin typeface="Ariel"/>
                <a:ea typeface="+mn-lt"/>
                <a:cs typeface="+mn-lt"/>
              </a:rPr>
            </a:br>
            <a:r>
              <a:rPr lang="en-US" sz="1100" dirty="0">
                <a:latin typeface="Ariel"/>
                <a:ea typeface="+mn-lt"/>
                <a:cs typeface="+mn-lt"/>
              </a:rPr>
              <a:t>2. Defect dump list the defects logged for AVW15, CT ASPECTS &amp; NM Suite RC Release</a:t>
            </a:r>
          </a:p>
          <a:p>
            <a:r>
              <a:rPr lang="en-US" sz="1100" dirty="0">
                <a:latin typeface="Ariel"/>
                <a:ea typeface="+mn-lt"/>
                <a:cs typeface="+mn-lt"/>
              </a:rPr>
              <a:t>3.Total open defects count is 102, out of which 2 defects were fixed and planned to be released </a:t>
            </a:r>
            <a:r>
              <a:rPr lang="en-US" sz="1100">
                <a:latin typeface="Ariel"/>
                <a:ea typeface="+mn-lt"/>
                <a:cs typeface="+mn-lt"/>
              </a:rPr>
              <a:t>in LR1.</a:t>
            </a:r>
            <a:endParaRPr lang="en-US" sz="1100" dirty="0">
              <a:latin typeface="Ariel"/>
              <a:ea typeface="+mn-lt"/>
              <a:cs typeface="+mn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8DC176-C6D8-5954-AA17-E6D5714B5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150782"/>
              </p:ext>
            </p:extLst>
          </p:nvPr>
        </p:nvGraphicFramePr>
        <p:xfrm>
          <a:off x="3594280" y="725022"/>
          <a:ext cx="4927600" cy="21859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141003939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7801428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225166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890759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289589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093491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68617160"/>
                    </a:ext>
                  </a:extLst>
                </a:gridCol>
              </a:tblGrid>
              <a:tr h="30603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Rank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Un Ranked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3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4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Total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67682920"/>
                  </a:ext>
                </a:extLst>
              </a:tr>
              <a:tr h="174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Accepted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47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53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2701067"/>
                  </a:ext>
                </a:extLst>
              </a:tr>
              <a:tr h="174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Closed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324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488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836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366016"/>
                  </a:ext>
                </a:extLst>
              </a:tr>
              <a:tr h="30603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Investigated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2178153"/>
                  </a:ext>
                </a:extLst>
              </a:tr>
              <a:tr h="174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New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0861735"/>
                  </a:ext>
                </a:extLst>
              </a:tr>
              <a:tr h="174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Planned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389549"/>
                  </a:ext>
                </a:extLst>
              </a:tr>
              <a:tr h="174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Removed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64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37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163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49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313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5923597"/>
                  </a:ext>
                </a:extLst>
              </a:tr>
              <a:tr h="174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Resolved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34945600"/>
                  </a:ext>
                </a:extLst>
              </a:tr>
              <a:tr h="174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Scored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07241324"/>
                  </a:ext>
                </a:extLst>
              </a:tr>
              <a:tr h="174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Total (All)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64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361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740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1249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5446338"/>
                  </a:ext>
                </a:extLst>
              </a:tr>
              <a:tr h="174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Total Open Defects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 dirty="0">
                          <a:effectLst/>
                        </a:rPr>
                        <a:t>102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948623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5F5B292-281C-255E-22F9-0BD34072E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176135"/>
              </p:ext>
            </p:extLst>
          </p:nvPr>
        </p:nvGraphicFramePr>
        <p:xfrm>
          <a:off x="3594280" y="2999625"/>
          <a:ext cx="4927600" cy="22000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97620134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2573095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5881294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972759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12851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064647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19761980"/>
                    </a:ext>
                  </a:extLst>
                </a:gridCol>
              </a:tblGrid>
              <a:tr h="3069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Rank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Un Ranked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4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Total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40309134"/>
                  </a:ext>
                </a:extLst>
              </a:tr>
              <a:tr h="17541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Accepted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7139592"/>
                  </a:ext>
                </a:extLst>
              </a:tr>
              <a:tr h="17541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Closed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93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737753"/>
                  </a:ext>
                </a:extLst>
              </a:tr>
              <a:tr h="17541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Investigated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8757965"/>
                  </a:ext>
                </a:extLst>
              </a:tr>
              <a:tr h="17541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New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 dirty="0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1484108"/>
                  </a:ext>
                </a:extLst>
              </a:tr>
              <a:tr h="17541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Planned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8895510"/>
                  </a:ext>
                </a:extLst>
              </a:tr>
              <a:tr h="17541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Removed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68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4377397"/>
                  </a:ext>
                </a:extLst>
              </a:tr>
              <a:tr h="17541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Resolved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14894163"/>
                  </a:ext>
                </a:extLst>
              </a:tr>
              <a:tr h="17541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Scored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5579328"/>
                  </a:ext>
                </a:extLst>
              </a:tr>
              <a:tr h="17541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>
                          <a:effectLst/>
                        </a:rPr>
                        <a:t>Total (All)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174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223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28971997"/>
                  </a:ext>
                </a:extLst>
              </a:tr>
              <a:tr h="30025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Total Open Enhancement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31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 dirty="0">
                          <a:effectLst/>
                        </a:rPr>
                        <a:t>37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9426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345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023365"/>
              </p:ext>
            </p:extLst>
          </p:nvPr>
        </p:nvGraphicFramePr>
        <p:xfrm>
          <a:off x="179512" y="792708"/>
          <a:ext cx="8574788" cy="47414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5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3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5201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Sl. No.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Application Name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Verification Lead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Did RC-. </a:t>
                      </a:r>
                      <a:r>
                        <a:rPr lang="en-US" sz="1100" dirty="0" err="1">
                          <a:effectLst/>
                        </a:rPr>
                        <a:t>Verf</a:t>
                      </a:r>
                      <a:r>
                        <a:rPr lang="en-US" sz="1100" dirty="0">
                          <a:effectLst/>
                        </a:rPr>
                        <a:t> defect result in design change (Y/N)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DHF # if design changes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# Open Score 1  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TFS Defects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# Open Score 2</a:t>
                      </a:r>
                      <a:r>
                        <a:rPr lang="en-US" sz="1100" baseline="0" dirty="0">
                          <a:effectLst/>
                        </a:rPr>
                        <a:t> TFS</a:t>
                      </a:r>
                      <a:r>
                        <a:rPr lang="en-US" sz="1100" dirty="0">
                          <a:effectLst/>
                        </a:rPr>
                        <a:t> Defects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5070" marR="6507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20">
                <a:tc gridSpan="7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AVW15</a:t>
                      </a:r>
                    </a:p>
                  </a:txBody>
                  <a:tcPr marL="65070" marR="65070" marT="0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5070" marR="6507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1828915"/>
                  </a:ext>
                </a:extLst>
              </a:tr>
              <a:tr h="2232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MR Cardiac Suite &amp; </a:t>
                      </a:r>
                      <a:b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MR Applications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Lokesh Rajashekaraiah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2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CT Applications &amp; System Features HFA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Vladimir Barbarash </a:t>
                      </a:r>
                      <a:endParaRPr 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3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CT Cardiac Applications &amp; CT Viewing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Chandrashekhar Venkatraman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1258589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4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CT Spectral Applications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Karanam, Haindavi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5743115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5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NM Applications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Rudravarapu Kasiviswanath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3763203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6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CT, MR, NM Legacy Applications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Arthi Deenadayalan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8219837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7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Installation, Upgrades &amp; Security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Santhosh H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8489088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8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System Features BLR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Kavya Vishwakumar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33642533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9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Serviceability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Kavya Vishwakumar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9087006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10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Non-Functional Tests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Kiran B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2096829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11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Compatibility Tests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Vladimir Barbarash </a:t>
                      </a:r>
                      <a:endParaRPr 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Arthi Deenadayalan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Kavya Vishwakumar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0516611"/>
                  </a:ext>
                </a:extLst>
              </a:tr>
              <a:tr h="138552">
                <a:tc gridSpan="7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CT ASPECTS</a:t>
                      </a:r>
                    </a:p>
                  </a:txBody>
                  <a:tcPr marL="65070" marR="65070" marT="0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070" marR="6507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3103388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1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CT ASPECTS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Vladimir Barbarash </a:t>
                      </a:r>
                      <a:endParaRPr 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2289929"/>
                  </a:ext>
                </a:extLst>
              </a:tr>
              <a:tr h="138552">
                <a:tc gridSpan="7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NM Suite</a:t>
                      </a:r>
                    </a:p>
                  </a:txBody>
                  <a:tcPr marL="65070" marR="65070" marT="0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070" marR="6507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5279155"/>
                  </a:ext>
                </a:extLst>
              </a:tr>
              <a:tr h="1385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1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NM Suite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Rudravarapu Kasiviswanath</a:t>
                      </a:r>
                    </a:p>
                  </a:txBody>
                  <a:tcPr marL="65070" marR="6507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N/A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058703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79512" y="158677"/>
            <a:ext cx="7889667" cy="5872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Verification Defects (AVW15, CT ASPECTS &amp; NM Suite) : Impact on Design Changes for RC</a:t>
            </a:r>
            <a:endParaRPr lang="en-US" sz="2000" kern="1200" dirty="0"/>
          </a:p>
        </p:txBody>
      </p:sp>
    </p:spTree>
    <p:extLst>
      <p:ext uri="{BB962C8B-B14F-4D97-AF65-F5344CB8AC3E}">
        <p14:creationId xmlns:p14="http://schemas.microsoft.com/office/powerpoint/2010/main" val="119822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84462" y="62858"/>
            <a:ext cx="8654110" cy="391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AVW15 &amp; CT ASPECTS - Expert Test Results &amp; Status Summary</a:t>
            </a:r>
            <a:endParaRPr lang="en-US" sz="2000" kern="1200" dirty="0"/>
          </a:p>
        </p:txBody>
      </p:sp>
      <p:sp>
        <p:nvSpPr>
          <p:cNvPr id="3" name="Rectangle 2"/>
          <p:cNvSpPr/>
          <p:nvPr/>
        </p:nvSpPr>
        <p:spPr>
          <a:xfrm>
            <a:off x="178953" y="528227"/>
            <a:ext cx="1608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Overall status :</a:t>
            </a:r>
          </a:p>
        </p:txBody>
      </p:sp>
      <p:sp>
        <p:nvSpPr>
          <p:cNvPr id="4" name="Oval 3"/>
          <p:cNvSpPr/>
          <p:nvPr>
            <p:custDataLst>
              <p:tags r:id="rId1"/>
            </p:custDataLst>
          </p:nvPr>
        </p:nvSpPr>
        <p:spPr bwMode="auto">
          <a:xfrm>
            <a:off x="1765522" y="597606"/>
            <a:ext cx="360040" cy="360040"/>
          </a:xfrm>
          <a:prstGeom prst="ellipse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cs typeface="Arial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450969"/>
              </p:ext>
            </p:extLst>
          </p:nvPr>
        </p:nvGraphicFramePr>
        <p:xfrm>
          <a:off x="325578" y="1101071"/>
          <a:ext cx="8512994" cy="275143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03829">
                  <a:extLst>
                    <a:ext uri="{9D8B030D-6E8A-4147-A177-3AD203B41FA5}">
                      <a16:colId xmlns:a16="http://schemas.microsoft.com/office/drawing/2014/main" val="2345234972"/>
                    </a:ext>
                  </a:extLst>
                </a:gridCol>
                <a:gridCol w="3421993">
                  <a:extLst>
                    <a:ext uri="{9D8B030D-6E8A-4147-A177-3AD203B41FA5}">
                      <a16:colId xmlns:a16="http://schemas.microsoft.com/office/drawing/2014/main" val="3589947729"/>
                    </a:ext>
                  </a:extLst>
                </a:gridCol>
                <a:gridCol w="1558652">
                  <a:extLst>
                    <a:ext uri="{9D8B030D-6E8A-4147-A177-3AD203B41FA5}">
                      <a16:colId xmlns:a16="http://schemas.microsoft.com/office/drawing/2014/main" val="2418237251"/>
                    </a:ext>
                  </a:extLst>
                </a:gridCol>
                <a:gridCol w="1428520">
                  <a:extLst>
                    <a:ext uri="{9D8B030D-6E8A-4147-A177-3AD203B41FA5}">
                      <a16:colId xmlns:a16="http://schemas.microsoft.com/office/drawing/2014/main" val="4057266302"/>
                    </a:ext>
                  </a:extLst>
                </a:gridCol>
              </a:tblGrid>
              <a:tr h="402416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1200" u="none" strike="noStrike" dirty="0">
                          <a:effectLst/>
                        </a:rPr>
                        <a:t>Application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25" marR="7025" marT="70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1200" u="none" strike="noStrike" dirty="0">
                          <a:effectLst/>
                        </a:rPr>
                        <a:t>Scope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25" marR="7025" marT="70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1200" u="none" strike="noStrike" dirty="0">
                          <a:effectLst/>
                        </a:rPr>
                        <a:t>Tested by 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25" marR="7025" marT="70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1200" u="none" strike="noStrike" dirty="0">
                          <a:effectLst/>
                        </a:rPr>
                        <a:t>Status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25" marR="7025" marT="70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812076"/>
                  </a:ext>
                </a:extLst>
              </a:tr>
              <a:tr h="232943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MR Cardiac Suite </a:t>
                      </a:r>
                      <a:endParaRPr lang="en-IN" sz="1000" i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MM Viewer, Results &amp; Workflow, Functional LA LV, Functional LV RV, Spatial Enhancement, Temporal Enhancement, T1, T2, T2* Mapping and </a:t>
                      </a:r>
                      <a:r>
                        <a:rPr lang="en-US" sz="1000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QFlow</a:t>
                      </a:r>
                      <a:endParaRPr lang="en-IN" sz="1000" i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Ruth Katz &amp; Rishov Majumder</a:t>
                      </a:r>
                      <a:endParaRPr lang="en-IN" sz="1100" i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50000"/>
                        </a:lnSpc>
                      </a:pPr>
                      <a:r>
                        <a:rPr 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Passed</a:t>
                      </a:r>
                    </a:p>
                  </a:txBody>
                  <a:tcPr marL="7025" marR="7025" marT="70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539537"/>
                  </a:ext>
                </a:extLst>
              </a:tr>
              <a:tr h="320554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CT CCA</a:t>
                      </a:r>
                      <a:endParaRPr lang="en-IN" sz="11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Findings management, CAD-RADS &amp; Multi-Batch</a:t>
                      </a:r>
                      <a:endParaRPr lang="en-IN" sz="11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de-DE" sz="1000" i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Shuli Ganashvili</a:t>
                      </a:r>
                      <a:endParaRPr lang="en-IN" sz="11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50000"/>
                        </a:lnSpc>
                      </a:pPr>
                      <a:r>
                        <a:rPr 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Passed</a:t>
                      </a:r>
                    </a:p>
                  </a:txBody>
                  <a:tcPr marL="7025" marR="7025" marT="70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689416"/>
                  </a:ext>
                </a:extLst>
              </a:tr>
              <a:tr h="219149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CT Calcium Automated Analysis</a:t>
                      </a:r>
                      <a:endParaRPr lang="en-IN" sz="11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Automated calcium scoring results for non-gated scans for incidental findings</a:t>
                      </a:r>
                      <a:endParaRPr lang="en-IN" sz="11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Suru Narayan Srikrishna</a:t>
                      </a:r>
                      <a:endParaRPr lang="en-IN" sz="11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Passed</a:t>
                      </a:r>
                      <a:endParaRPr lang="en-US" sz="1000" b="1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025" marR="7025" marT="70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09360"/>
                  </a:ext>
                </a:extLst>
              </a:tr>
              <a:tr h="320554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MR LOBI – CVS (FLAIR*)</a:t>
                      </a:r>
                      <a:endParaRPr lang="en-IN" sz="11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FLAIR* map to support MS cases using FLAIR and SWI</a:t>
                      </a:r>
                      <a:endParaRPr lang="en-IN" sz="11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Rishov Majumder</a:t>
                      </a:r>
                      <a:endParaRPr lang="en-IN" sz="11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Passed</a:t>
                      </a:r>
                      <a:endParaRPr lang="en-US" sz="1000" b="1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025" marR="7025" marT="70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363374"/>
                  </a:ext>
                </a:extLst>
              </a:tr>
              <a:tr h="320554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Spectral Enhancements </a:t>
                      </a:r>
                      <a:endParaRPr lang="en-IN" sz="11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PRVR &amp; </a:t>
                      </a:r>
                      <a:r>
                        <a:rPr lang="en-US" sz="1000" i="0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sMGoP</a:t>
                      </a:r>
                      <a:endParaRPr lang="en-IN" sz="1000" i="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Katz, Ruth</a:t>
                      </a:r>
                      <a:endParaRPr lang="en-IN" sz="1000" i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Passed</a:t>
                      </a:r>
                      <a:endParaRPr lang="en-US" sz="1000" b="1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025" marR="7025" marT="70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061208"/>
                  </a:ext>
                </a:extLst>
              </a:tr>
              <a:tr h="320554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Spectral AVA</a:t>
                      </a:r>
                      <a:endParaRPr lang="en-IN" sz="1000" i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Spectral AVA</a:t>
                      </a:r>
                      <a:endParaRPr lang="en-IN" sz="1000" i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Ganashvili, Shuli</a:t>
                      </a:r>
                      <a:endParaRPr lang="en-IN" sz="1000" i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Passed</a:t>
                      </a:r>
                      <a:endParaRPr lang="en-US" sz="1000" b="1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025" marR="7025" marT="70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435395"/>
                  </a:ext>
                </a:extLst>
              </a:tr>
              <a:tr h="226503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Discrete Results Export</a:t>
                      </a:r>
                      <a:endParaRPr lang="en-IN" sz="1000" i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Discrete Results Export</a:t>
                      </a:r>
                      <a:endParaRPr lang="en-IN" sz="1000" i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300"/>
                        </a:spcAft>
                      </a:pPr>
                      <a:r>
                        <a:rPr lang="en-US" sz="100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Ganashvili Shuli and Suru Narayan Srikrishna</a:t>
                      </a:r>
                      <a:endParaRPr lang="en-IN" sz="1000" i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Passed</a:t>
                      </a:r>
                      <a:endParaRPr lang="en-US" sz="1000" b="1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025" marR="7025" marT="70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93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485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40609" y="128169"/>
            <a:ext cx="8903391" cy="391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AVW15, CT ASPECTS &amp; NM Suite – Quality Design Control : Documentation Status</a:t>
            </a:r>
            <a:endParaRPr lang="en-US" sz="2000" kern="1200" dirty="0"/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25527"/>
              </p:ext>
            </p:extLst>
          </p:nvPr>
        </p:nvGraphicFramePr>
        <p:xfrm>
          <a:off x="265077" y="646921"/>
          <a:ext cx="6526786" cy="503050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935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2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9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2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800" dirty="0"/>
                        <a:t>Design Control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800" dirty="0"/>
                        <a:t>Status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800" dirty="0"/>
                        <a:t>Comments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50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effectLst/>
                        </a:rPr>
                        <a:t>Traceability Matrix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All traceability documents are released.</a:t>
                      </a: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50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effectLst/>
                        </a:rPr>
                        <a:t>Risk Management Matrix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 strike="noStrike" dirty="0">
                          <a:effectLst/>
                        </a:rPr>
                        <a:t>All RMM documents Released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/>
                      <a:endParaRPr 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50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effectLst/>
                        </a:rPr>
                        <a:t>System Malware Scan Verification report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 strike="noStrike" dirty="0">
                          <a:effectLst/>
                        </a:rPr>
                        <a:t>Released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/>
                      <a:endParaRPr 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50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 Verification Report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Released</a:t>
                      </a: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Defect Status report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Released</a:t>
                      </a: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76669604"/>
                  </a:ext>
                </a:extLst>
              </a:tr>
              <a:tr h="777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 review Record -  Verification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Document</a:t>
                      </a: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78919916"/>
                  </a:ext>
                </a:extLst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337204" y="5905180"/>
            <a:ext cx="125130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b="1" dirty="0"/>
              <a:t>Overall status 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27758" y="5826849"/>
            <a:ext cx="482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section 1.3 (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D001045958</a:t>
            </a:r>
            <a:r>
              <a:rPr lang="fr-FR" dirty="0"/>
              <a:t>) </a:t>
            </a:r>
            <a:r>
              <a:rPr lang="en-US" dirty="0"/>
              <a:t>of the document</a:t>
            </a:r>
          </a:p>
        </p:txBody>
      </p:sp>
      <p:sp>
        <p:nvSpPr>
          <p:cNvPr id="8" name="Oval 7"/>
          <p:cNvSpPr/>
          <p:nvPr>
            <p:custDataLst>
              <p:tags r:id="rId1"/>
            </p:custDataLst>
          </p:nvPr>
        </p:nvSpPr>
        <p:spPr bwMode="auto">
          <a:xfrm>
            <a:off x="2823614" y="1398116"/>
            <a:ext cx="299797" cy="310915"/>
          </a:xfrm>
          <a:prstGeom prst="ellipse">
            <a:avLst/>
          </a:prstGeom>
          <a:solidFill>
            <a:srgbClr val="00B05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9" name="Oval 8"/>
          <p:cNvSpPr/>
          <p:nvPr>
            <p:custDataLst>
              <p:tags r:id="rId2"/>
            </p:custDataLst>
          </p:nvPr>
        </p:nvSpPr>
        <p:spPr bwMode="auto">
          <a:xfrm>
            <a:off x="2823614" y="2149311"/>
            <a:ext cx="299797" cy="310915"/>
          </a:xfrm>
          <a:prstGeom prst="ellipse">
            <a:avLst/>
          </a:prstGeom>
          <a:solidFill>
            <a:srgbClr val="00B05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0" name="Oval 9"/>
          <p:cNvSpPr/>
          <p:nvPr>
            <p:custDataLst>
              <p:tags r:id="rId3"/>
            </p:custDataLst>
          </p:nvPr>
        </p:nvSpPr>
        <p:spPr bwMode="auto">
          <a:xfrm>
            <a:off x="2823614" y="2851260"/>
            <a:ext cx="299797" cy="310915"/>
          </a:xfrm>
          <a:prstGeom prst="ellipse">
            <a:avLst/>
          </a:prstGeom>
          <a:solidFill>
            <a:srgbClr val="00B05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1" name="Oval 10"/>
          <p:cNvSpPr/>
          <p:nvPr>
            <p:custDataLst>
              <p:tags r:id="rId4"/>
            </p:custDataLst>
          </p:nvPr>
        </p:nvSpPr>
        <p:spPr bwMode="auto">
          <a:xfrm>
            <a:off x="2823613" y="3562395"/>
            <a:ext cx="299797" cy="310915"/>
          </a:xfrm>
          <a:prstGeom prst="ellipse">
            <a:avLst/>
          </a:prstGeom>
          <a:solidFill>
            <a:srgbClr val="00B05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2" name="Oval 11"/>
          <p:cNvSpPr/>
          <p:nvPr>
            <p:custDataLst>
              <p:tags r:id="rId5"/>
            </p:custDataLst>
          </p:nvPr>
        </p:nvSpPr>
        <p:spPr bwMode="auto">
          <a:xfrm>
            <a:off x="2823613" y="4313590"/>
            <a:ext cx="299797" cy="310915"/>
          </a:xfrm>
          <a:prstGeom prst="ellipse">
            <a:avLst/>
          </a:prstGeom>
          <a:solidFill>
            <a:srgbClr val="00B05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3" name="Oval 12"/>
          <p:cNvSpPr/>
          <p:nvPr>
            <p:custDataLst>
              <p:tags r:id="rId6"/>
            </p:custDataLst>
          </p:nvPr>
        </p:nvSpPr>
        <p:spPr bwMode="auto">
          <a:xfrm>
            <a:off x="2823613" y="5143257"/>
            <a:ext cx="299797" cy="310915"/>
          </a:xfrm>
          <a:prstGeom prst="ellipse">
            <a:avLst/>
          </a:prstGeom>
          <a:solidFill>
            <a:srgbClr val="00B05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8DBFAD-95D3-57F7-DF61-E49A7394405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808438" y="6011515"/>
            <a:ext cx="299797" cy="310915"/>
          </a:xfrm>
          <a:prstGeom prst="ellipse">
            <a:avLst/>
          </a:prstGeom>
          <a:solidFill>
            <a:srgbClr val="00B05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FFFF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58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740089"/>
              </p:ext>
            </p:extLst>
          </p:nvPr>
        </p:nvGraphicFramePr>
        <p:xfrm>
          <a:off x="207283" y="805282"/>
          <a:ext cx="8687024" cy="51816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32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7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Exit</a:t>
                      </a:r>
                      <a:r>
                        <a:rPr lang="en-US" sz="11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 Criteria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874" marR="4874" marT="48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10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Current Deviation/Status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874" marR="4874" marT="48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10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874" marR="4874" marT="48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Comments 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874" marR="4874" marT="48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786">
                <a:tc>
                  <a:txBody>
                    <a:bodyPr/>
                    <a:lstStyle/>
                    <a:p>
                      <a:pPr lvl="0" fontAlgn="ctr"/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defects found during verification for the release scope have been scored and accepted. </a:t>
                      </a:r>
                    </a:p>
                    <a:p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Exception: Defects submitted during the last two weeks prior to the milestone should be set as hazard yes/no (scoring is required only for Hazard = Yes).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115"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rank 2 defects for the release scope must be resolved and closed by end of verification.</a:t>
                      </a:r>
                    </a:p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Exceptions: </a:t>
                      </a:r>
                    </a:p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a. Rank 2 defects replicated from other projects.</a:t>
                      </a:r>
                    </a:p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b. Rank 2 defects which need a fix outside the organization (example: US, MR..etc)</a:t>
                      </a:r>
                    </a:p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c. Rank 2 defects logged from outside R&amp;D.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72"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hazard / safety test cases executed for the milestone are in passed state.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863"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Rank 1 defects and Sev-3 are resolved and closed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144"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the resolved defects for the release scope are closed.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524"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Sanity test is completed and passed on the Final Verification build during, end of verification.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781"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tests including the Expert tests have been performed as per the Verification plan.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974269"/>
                  </a:ext>
                </a:extLst>
              </a:tr>
              <a:tr h="700458">
                <a:tc>
                  <a:txBody>
                    <a:bodyPr/>
                    <a:lstStyle/>
                    <a:p>
                      <a:pPr marL="0" lvl="0" algn="l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 the documents needed for the end of verification (including Verification Reports, Traceability matrix, RMM Update with Test Evidence and Engineering Release Notes) are reviewed and approved.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253519"/>
                  </a:ext>
                </a:extLst>
              </a:tr>
              <a:tr h="7437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Summary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4874" marR="4874" marT="487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477988"/>
                  </a:ext>
                </a:extLst>
              </a:tr>
            </a:tbl>
          </a:graphicData>
        </a:graphic>
      </p:graphicFrame>
      <p:sp>
        <p:nvSpPr>
          <p:cNvPr id="20" name="Oval 19"/>
          <p:cNvSpPr/>
          <p:nvPr>
            <p:custDataLst>
              <p:tags r:id="rId1"/>
            </p:custDataLst>
          </p:nvPr>
        </p:nvSpPr>
        <p:spPr bwMode="auto">
          <a:xfrm flipV="1">
            <a:off x="6893772" y="1338743"/>
            <a:ext cx="197768" cy="224739"/>
          </a:xfrm>
          <a:prstGeom prst="ellipse">
            <a:avLst/>
          </a:prstGeom>
          <a:solidFill>
            <a:srgbClr val="5DBA0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400" kern="0" dirty="0">
              <a:solidFill>
                <a:srgbClr val="FFFFFF"/>
              </a:solidFill>
              <a:latin typeface="Calibri" panose="020F0502020204030204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7283" y="158677"/>
            <a:ext cx="8547018" cy="391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AVW15, CT ASPECTS &amp; NM Suite – Overall Verification Completion Status</a:t>
            </a:r>
            <a:endParaRPr lang="en-US" sz="2000" kern="1200" dirty="0"/>
          </a:p>
        </p:txBody>
      </p:sp>
      <p:sp>
        <p:nvSpPr>
          <p:cNvPr id="17" name="Oval 16"/>
          <p:cNvSpPr/>
          <p:nvPr>
            <p:custDataLst>
              <p:tags r:id="rId2"/>
            </p:custDataLst>
          </p:nvPr>
        </p:nvSpPr>
        <p:spPr bwMode="auto">
          <a:xfrm flipV="1">
            <a:off x="6893772" y="2144841"/>
            <a:ext cx="197768" cy="224739"/>
          </a:xfrm>
          <a:prstGeom prst="ellipse">
            <a:avLst/>
          </a:prstGeom>
          <a:solidFill>
            <a:srgbClr val="5DBA0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sz="1400" kern="0" dirty="0">
              <a:solidFill>
                <a:srgbClr val="FFFFFF"/>
              </a:solidFill>
              <a:latin typeface="Calibri" panose="020F0502020204030204"/>
              <a:cs typeface="Arial" pitchFamily="34" charset="0"/>
            </a:endParaRPr>
          </a:p>
        </p:txBody>
      </p:sp>
      <p:sp>
        <p:nvSpPr>
          <p:cNvPr id="18" name="Oval 17"/>
          <p:cNvSpPr/>
          <p:nvPr>
            <p:custDataLst>
              <p:tags r:id="rId3"/>
            </p:custDataLst>
          </p:nvPr>
        </p:nvSpPr>
        <p:spPr bwMode="auto">
          <a:xfrm flipV="1">
            <a:off x="6909424" y="3400417"/>
            <a:ext cx="197768" cy="224739"/>
          </a:xfrm>
          <a:prstGeom prst="ellipse">
            <a:avLst/>
          </a:prstGeom>
          <a:solidFill>
            <a:srgbClr val="5DBA0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sz="1400" kern="0" dirty="0">
              <a:solidFill>
                <a:srgbClr val="FFFFFF"/>
              </a:solidFill>
              <a:latin typeface="Calibri" panose="020F0502020204030204"/>
              <a:cs typeface="Arial" pitchFamily="34" charset="0"/>
            </a:endParaRPr>
          </a:p>
        </p:txBody>
      </p:sp>
      <p:sp>
        <p:nvSpPr>
          <p:cNvPr id="28" name="Oval 27"/>
          <p:cNvSpPr/>
          <p:nvPr>
            <p:custDataLst>
              <p:tags r:id="rId4"/>
            </p:custDataLst>
          </p:nvPr>
        </p:nvSpPr>
        <p:spPr bwMode="auto">
          <a:xfrm flipV="1">
            <a:off x="6920360" y="3716952"/>
            <a:ext cx="197768" cy="224739"/>
          </a:xfrm>
          <a:prstGeom prst="ellipse">
            <a:avLst/>
          </a:prstGeom>
          <a:solidFill>
            <a:srgbClr val="5DBA0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sz="1400" kern="0" dirty="0">
              <a:solidFill>
                <a:srgbClr val="FFFFFF"/>
              </a:solidFill>
              <a:latin typeface="Calibri" panose="020F0502020204030204"/>
              <a:cs typeface="Arial" pitchFamily="34" charset="0"/>
            </a:endParaRPr>
          </a:p>
        </p:txBody>
      </p:sp>
      <p:sp>
        <p:nvSpPr>
          <p:cNvPr id="29" name="Oval 28"/>
          <p:cNvSpPr/>
          <p:nvPr>
            <p:custDataLst>
              <p:tags r:id="rId5"/>
            </p:custDataLst>
          </p:nvPr>
        </p:nvSpPr>
        <p:spPr bwMode="auto">
          <a:xfrm flipV="1">
            <a:off x="6909424" y="4016157"/>
            <a:ext cx="197768" cy="224739"/>
          </a:xfrm>
          <a:prstGeom prst="ellipse">
            <a:avLst/>
          </a:prstGeom>
          <a:solidFill>
            <a:srgbClr val="5DBA0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400" kern="0" dirty="0">
              <a:solidFill>
                <a:srgbClr val="FFFFFF"/>
              </a:solidFill>
              <a:latin typeface="Calibri" panose="020F0502020204030204"/>
              <a:cs typeface="Arial" pitchFamily="34" charset="0"/>
            </a:endParaRPr>
          </a:p>
        </p:txBody>
      </p:sp>
      <p:sp>
        <p:nvSpPr>
          <p:cNvPr id="30" name="Oval 29"/>
          <p:cNvSpPr/>
          <p:nvPr>
            <p:custDataLst>
              <p:tags r:id="rId6"/>
            </p:custDataLst>
          </p:nvPr>
        </p:nvSpPr>
        <p:spPr bwMode="auto">
          <a:xfrm flipV="1">
            <a:off x="6920360" y="4332692"/>
            <a:ext cx="197768" cy="194500"/>
          </a:xfrm>
          <a:prstGeom prst="ellipse">
            <a:avLst/>
          </a:prstGeom>
          <a:solidFill>
            <a:srgbClr val="5DBA0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400" kern="0" dirty="0">
              <a:solidFill>
                <a:srgbClr val="FFFFFF"/>
              </a:solidFill>
              <a:latin typeface="Calibri" panose="020F0502020204030204"/>
              <a:cs typeface="Arial" pitchFamily="34" charset="0"/>
            </a:endParaRPr>
          </a:p>
        </p:txBody>
      </p:sp>
      <p:sp>
        <p:nvSpPr>
          <p:cNvPr id="16" name="Oval 15"/>
          <p:cNvSpPr/>
          <p:nvPr>
            <p:custDataLst>
              <p:tags r:id="rId7"/>
            </p:custDataLst>
          </p:nvPr>
        </p:nvSpPr>
        <p:spPr bwMode="auto">
          <a:xfrm flipV="1">
            <a:off x="6914005" y="2935520"/>
            <a:ext cx="197768" cy="224739"/>
          </a:xfrm>
          <a:prstGeom prst="ellipse">
            <a:avLst/>
          </a:prstGeom>
          <a:solidFill>
            <a:srgbClr val="5DBA0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sz="1400" kern="0" dirty="0">
              <a:solidFill>
                <a:srgbClr val="FFFFFF"/>
              </a:solidFill>
              <a:latin typeface="Calibri" panose="020F0502020204030204"/>
              <a:cs typeface="Arial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CB6F432-18DB-4009-466B-7EBF3F53378B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 flipV="1">
            <a:off x="6932674" y="5538223"/>
            <a:ext cx="197768" cy="224739"/>
          </a:xfrm>
          <a:prstGeom prst="ellipse">
            <a:avLst/>
          </a:prstGeom>
          <a:solidFill>
            <a:srgbClr val="5DBA0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sz="1400" kern="0" dirty="0">
              <a:solidFill>
                <a:srgbClr val="FFFFFF"/>
              </a:solidFill>
              <a:latin typeface="Calibri" panose="020F0502020204030204"/>
              <a:cs typeface="Arial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88419DB-561E-1F90-5275-A90EDAB8662E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 flipV="1">
            <a:off x="6932674" y="4848602"/>
            <a:ext cx="197768" cy="194500"/>
          </a:xfrm>
          <a:prstGeom prst="ellipse">
            <a:avLst/>
          </a:prstGeom>
          <a:solidFill>
            <a:srgbClr val="5DBA0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400" kern="0" dirty="0">
              <a:solidFill>
                <a:srgbClr val="FFFFFF"/>
              </a:solidFill>
              <a:latin typeface="Calibri" panose="020F0502020204030204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820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251520" y="875279"/>
            <a:ext cx="8458544" cy="5098847"/>
            <a:chOff x="2001114" y="3922161"/>
            <a:chExt cx="2305005" cy="1971965"/>
          </a:xfrm>
          <a:solidFill>
            <a:schemeClr val="bg1"/>
          </a:solidFill>
          <a:scene3d>
            <a:camera prst="orthographicFront"/>
            <a:lightRig rig="flat" dir="t"/>
          </a:scene3d>
        </p:grpSpPr>
        <p:sp>
          <p:nvSpPr>
            <p:cNvPr id="7" name="Rectangle 6"/>
            <p:cNvSpPr/>
            <p:nvPr/>
          </p:nvSpPr>
          <p:spPr>
            <a:xfrm>
              <a:off x="2001114" y="3922161"/>
              <a:ext cx="2305005" cy="1971965"/>
            </a:xfrm>
            <a:prstGeom prst="rect">
              <a:avLst/>
            </a:prstGeom>
            <a:grpFill/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2001114" y="3922161"/>
              <a:ext cx="2305005" cy="197196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457200" indent="-4572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sz="1500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All planned Tests execution has been completed.</a:t>
              </a:r>
            </a:p>
            <a:p>
              <a:pPr marL="457200" indent="-4572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sz="1500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All fixed defects in ‘RC’ were verified.</a:t>
              </a:r>
            </a:p>
            <a:p>
              <a:pPr marL="457200" indent="-4572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sz="1600" dirty="0"/>
                <a:t>Failed tests – defects on failed tests were reviewed </a:t>
              </a:r>
              <a:r>
                <a:rPr lang="en-US" sz="1600"/>
                <a:t>and either fixed </a:t>
              </a:r>
              <a:r>
                <a:rPr lang="en-US" sz="1600" dirty="0"/>
                <a:t>and verified or postponed to a different verification phase – according to defect management procedure</a:t>
              </a:r>
              <a:r>
                <a:rPr lang="en-US" sz="1500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</a:p>
            <a:p>
              <a:pPr marL="457200" indent="-4572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sz="1500" dirty="0">
                  <a:solidFill>
                    <a:schemeClr val="tx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Failed tests with defects postponed to future releases are maintained in Fail status with Rationale.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207283" y="158677"/>
            <a:ext cx="8547018" cy="391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</a:t>
            </a:r>
            <a:endParaRPr lang="en-US" sz="2000" kern="1200" dirty="0"/>
          </a:p>
        </p:txBody>
      </p:sp>
    </p:spTree>
    <p:extLst>
      <p:ext uri="{BB962C8B-B14F-4D97-AF65-F5344CB8AC3E}">
        <p14:creationId xmlns:p14="http://schemas.microsoft.com/office/powerpoint/2010/main" val="367101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791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SlideFooterFontC"/>
  <p:tag name="FONTSETCLASSNAME" val="FontSet1"/>
  <p:tag name="COLORS" val="-2;-2;-2;-2;SlideFooterFontColorDark;-2"/>
  <p:tag name="COLORSETCLASSNAME" val="ColorSet1"/>
  <p:tag name="SCRIPT" val="1"/>
  <p:tag name="FIELDS" val="DATE;DIVISION;ADDINFO;"/>
  <p:tag name="MLI" val="1"/>
  <p:tag name="SHAPESETGROUPCLASSNAME" val="ShapeSetGroup2"/>
  <p:tag name="SHAPESETCLASSNAME" val="FORMCOLORTEXT01"/>
  <p:tag name="COLORSETGROUPCLASSNAME" val="ColorSetGroupLight"/>
  <p:tag name="FONTSETGROUPCLASSNAME" val="FontSetGroup1"/>
  <p:tag name="SHAPECLASSNAME" val="FLineInfo1BlackG1S3"/>
  <p:tag name="SHAPECLASSPROTECTIONTYPE" val="6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SlidePageNumberFontC"/>
  <p:tag name="FONTSETCLASSNAME" val="FontSet1"/>
  <p:tag name="COLORS" val="-2;-2;-2;-2;SlidePageNoFontColorLight;-2"/>
  <p:tag name="COLORSETCLASSNAME" val="ColorSet1"/>
  <p:tag name="SCRIPT" val="1"/>
  <p:tag name="MLI" val="1"/>
  <p:tag name="SHAPESETGROUPCLASSNAME" val="ShapeSetGroup2"/>
  <p:tag name="SHAPESETCLASSNAME" val="COLORSLIDE01"/>
  <p:tag name="COLORSETGROUPCLASSNAME" val="ColorSetGroupLight"/>
  <p:tag name="FONTSETGROUPCLASSNAME" val="FontSetGroup1"/>
  <p:tag name="SHAPECLASSNAME" val="PageNoWhiteG1S3"/>
  <p:tag name="SHAPECLASSPROTECTIONTYPE" val="4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CLASSNAME" val="CustFormCol001RoundSingleCornerRectangle"/>
  <p:tag name="COLORSETCLASSNAME" val="ColorSet1"/>
  <p:tag name="COLORS" val="-1;Scheme9;-2;-2;-1;-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2"/>
  <p:tag name="SHAPESETCLASSNAME" val="FORMIMAGETEXT01"/>
  <p:tag name="COLORSETGROUPCLASSNAME" val="ColorSetGroupLight"/>
  <p:tag name="FONTSETGROUPCLASSNAME" val="FontSetGroup1"/>
  <p:tag name="SHAPECLASSNAME" val="PhilipsLogoTitle"/>
  <p:tag name="SHAPECLASSFILE" val="PHGMCWORDMARK2008$C.emf"/>
  <p:tag name="SHAPECLASSPROTECTIONTYPE" val="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2"/>
  <p:tag name="SHAPESETCLASSNAME" val="FORMCOLORTEXT01"/>
  <p:tag name="COLORSETGROUPCLASSNAME" val="ColorSetGroupLight"/>
  <p:tag name="FONTSETGROUPCLASSNAME" val="FontSetGroup1"/>
  <p:tag name="SHAPECLASSNAME" val="PhilipsLogoSlide"/>
  <p:tag name="SHAPECLASSFILE" val="PHGMCWORDMARK2008$C.emf"/>
  <p:tag name="SHAPECLASSPROTECTIONTYPE" val="3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CLASSNAME" val="CustFormEnd001Rectang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2"/>
  <p:tag name="SHAPESETCLASSNAME" val="ENDESLIDE01"/>
  <p:tag name="COLORSETGROUPCLASSNAME" val="ColorSetGroupLight"/>
  <p:tag name="FONTSETGROUPCLASSNAME" val="FontSetGroup1"/>
  <p:tag name="SHAPECLASSNAME" val="PhilipsShieldWihte"/>
  <p:tag name="SHAPECLASSFILE" val="PHSHIELDWIHTE2013$C.emf"/>
  <p:tag name="SHAPECLASSPROTECTIONTYPE" val="3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SlideTextFontColor;-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SlideTextFontColor;-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SlideTextFontColor;-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SlideTextFontColor;-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Scheme1;-2;-2;-1;Scheme2"/>
</p:tagLst>
</file>

<file path=ppt/theme/theme1.xml><?xml version="1.0" encoding="utf-8"?>
<a:theme xmlns:a="http://schemas.openxmlformats.org/drawingml/2006/main" name="ISP8 0 Verification Status - 08-Feb-15">
  <a:themeElements>
    <a:clrScheme name="PhCST">
      <a:dk1>
        <a:srgbClr val="000000"/>
      </a:dk1>
      <a:lt1>
        <a:srgbClr val="FFFFFF"/>
      </a:lt1>
      <a:dk2>
        <a:srgbClr val="000000"/>
      </a:dk2>
      <a:lt2>
        <a:srgbClr val="CCCEDB"/>
      </a:lt2>
      <a:accent1>
        <a:srgbClr val="0089C4"/>
      </a:accent1>
      <a:accent2>
        <a:srgbClr val="1E9D8B"/>
      </a:accent2>
      <a:accent3>
        <a:srgbClr val="5B8F22"/>
      </a:accent3>
      <a:accent4>
        <a:srgbClr val="E98300"/>
      </a:accent4>
      <a:accent5>
        <a:srgbClr val="CD202C"/>
      </a:accent5>
      <a:accent6>
        <a:srgbClr val="7D0063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hilips_presentation_template_nov13.pptx" id="{6219C8AF-650B-4FE9-973F-1669F7AB164A}" vid="{0FEA75D1-DAF6-4EC9-A456-BB5B59A250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d2412c-2f3f-4921-931e-67a82b605ede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e40374fb-a6cc-4854-989f-c1d94a7967ee" ContentTypeId="0x01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4AD7F547FF0648BCA8E0DFB0D1F98A" ma:contentTypeVersion="15" ma:contentTypeDescription="Create a new document." ma:contentTypeScope="" ma:versionID="700e877da50904a13ca2b489542c3087">
  <xsd:schema xmlns:xsd="http://www.w3.org/2001/XMLSchema" xmlns:xs="http://www.w3.org/2001/XMLSchema" xmlns:p="http://schemas.microsoft.com/office/2006/metadata/properties" xmlns:ns2="fbd2412c-2f3f-4921-931e-67a82b605ede" xmlns:ns3="3e6f2280-4162-4a00-8d13-ad8450d795a2" xmlns:ns4="49919dca-d9c1-492f-bd36-8a887e31a6e3" targetNamespace="http://schemas.microsoft.com/office/2006/metadata/properties" ma:root="true" ma:fieldsID="1cd4d8c820023ed23d01b085951587a7" ns2:_="" ns3:_="" ns4:_="">
    <xsd:import namespace="fbd2412c-2f3f-4921-931e-67a82b605ede"/>
    <xsd:import namespace="3e6f2280-4162-4a00-8d13-ad8450d795a2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d2412c-2f3f-4921-931e-67a82b605e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6f2280-4162-4a00-8d13-ad8450d795a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aaa5dfa-cc89-4960-819a-0a41e17052ac}" ma:internalName="TaxCatchAll" ma:showField="CatchAllData" ma:web="3e6f2280-4162-4a00-8d13-ad8450d795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82B167-17FF-4E67-A837-49803E5569A3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8f16b89e-91f3-4722-b61b-54255a824fa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32f9d1dc-9ce7-4f8c-8858-76c48dad484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BB230FB-ED3C-4625-A10A-DD7C867DCF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77F974-CED9-467C-8B7F-ECDCAB8070F4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BAA599B9-F7E1-491A-9EC8-6090DF1D31C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2498</Words>
  <Application>Microsoft Office PowerPoint</Application>
  <PresentationFormat>On-screen Show (4:3)</PresentationFormat>
  <Paragraphs>663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Ariel</vt:lpstr>
      <vt:lpstr>Calibri</vt:lpstr>
      <vt:lpstr>Lato</vt:lpstr>
      <vt:lpstr>Segoe UI</vt:lpstr>
      <vt:lpstr>Symbol</vt:lpstr>
      <vt:lpstr>Times New Roman</vt:lpstr>
      <vt:lpstr>Wingdings</vt:lpstr>
      <vt:lpstr>ISP8 0 Verification Status - 08-Feb-15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BN, Ravi Kumar</dc:creator>
  <cp:lastModifiedBy>H, Santhosh</cp:lastModifiedBy>
  <cp:revision>261</cp:revision>
  <dcterms:modified xsi:type="dcterms:W3CDTF">2023-06-27T08:20:36Z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0x010100314AD7F547FF0648BCA8E0DFB0D1F98A</vt:lpwstr>
  </property>
</Properties>
</file>