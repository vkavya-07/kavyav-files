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1" r:id="rId3"/>
    <p:sldId id="283" r:id="rId4"/>
    <p:sldId id="258" r:id="rId5"/>
    <p:sldId id="282" r:id="rId6"/>
    <p:sldId id="281" r:id="rId7"/>
    <p:sldId id="279" r:id="rId8"/>
    <p:sldId id="289" r:id="rId9"/>
    <p:sldId id="266" r:id="rId10"/>
    <p:sldId id="267" r:id="rId11"/>
    <p:sldId id="285" r:id="rId12"/>
    <p:sldId id="288" r:id="rId13"/>
    <p:sldId id="268" r:id="rId14"/>
    <p:sldId id="275" r:id="rId15"/>
    <p:sldId id="284" r:id="rId16"/>
    <p:sldId id="272" r:id="rId17"/>
    <p:sldId id="277" r:id="rId18"/>
    <p:sldId id="260" r:id="rId19"/>
    <p:sldId id="265" r:id="rId20"/>
    <p:sldId id="263" r:id="rId21"/>
    <p:sldId id="259" r:id="rId22"/>
    <p:sldId id="28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9D4BA9-A01A-4CC6-BC17-FFAC857EE1F2}">
          <p14:sldIdLst>
            <p14:sldId id="256"/>
            <p14:sldId id="261"/>
            <p14:sldId id="283"/>
            <p14:sldId id="258"/>
            <p14:sldId id="282"/>
            <p14:sldId id="281"/>
            <p14:sldId id="279"/>
            <p14:sldId id="289"/>
            <p14:sldId id="266"/>
          </p14:sldIdLst>
        </p14:section>
        <p14:section name="Untitled Section" id="{0FFB6A10-E92D-4C96-A13A-4701ADC1698B}">
          <p14:sldIdLst>
            <p14:sldId id="267"/>
            <p14:sldId id="285"/>
            <p14:sldId id="288"/>
            <p14:sldId id="268"/>
            <p14:sldId id="275"/>
            <p14:sldId id="284"/>
            <p14:sldId id="272"/>
            <p14:sldId id="277"/>
            <p14:sldId id="260"/>
            <p14:sldId id="265"/>
            <p14:sldId id="263"/>
            <p14:sldId id="259"/>
            <p14:sldId id="287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310037079" initials="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B22"/>
    <a:srgbClr val="2A1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 autoAdjust="0"/>
    <p:restoredTop sz="94676" autoAdjust="0"/>
  </p:normalViewPr>
  <p:slideViewPr>
    <p:cSldViewPr>
      <p:cViewPr>
        <p:scale>
          <a:sx n="90" d="100"/>
          <a:sy n="90" d="100"/>
        </p:scale>
        <p:origin x="-1626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85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6CEC7-9A97-4F53-942B-3420E49E6CD2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98486-099F-4CDA-AF0E-F12F6507D4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76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84F07-A50D-44D8-82AD-C20A945FE715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4C77F-91CB-44C3-AC50-3CD7EA4889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4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50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692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Philips IntelliSpace Portal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364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08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55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4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34E2-BBB6-4D34-BB01-078E9AA25260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0FCD-5F4C-4989-BE05-0A8208BCBC2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IntelliSpace%20Portal%20in%20action(you%20tube%20video).wmv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Appreciation.msg" TargetMode="External"/><Relationship Id="rId4" Type="http://schemas.openxmlformats.org/officeDocument/2006/relationships/hyperlink" Target="Spot%20Award.msg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gAfx9fzRzA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nestoptesting.com/" TargetMode="External"/><Relationship Id="rId5" Type="http://schemas.openxmlformats.org/officeDocument/2006/relationships/hyperlink" Target="http://www.healthcare.philips.com/in/products" TargetMode="External"/><Relationship Id="rId4" Type="http://schemas.openxmlformats.org/officeDocument/2006/relationships/hyperlink" Target="http://www.healthcare.philips.com/main/products/Solutions/IntelliSpaceporta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98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" y="1752600"/>
            <a:ext cx="55626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Connectivity DICOM - ISP</a:t>
            </a: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343400" y="5029200"/>
            <a:ext cx="3124200" cy="1143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Archana </a:t>
            </a:r>
            <a:endParaRPr lang="en-US" sz="16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Medical Software		Reg 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No. 111001006</a:t>
            </a:r>
            <a:endParaRPr lang="en-US" sz="16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37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9144000" cy="685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6629400" cy="556260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>
                <a:latin typeface="Times New Roman" pitchFamily="18" charset="0"/>
                <a:cs typeface="Times New Roman" pitchFamily="18" charset="0"/>
              </a:rPr>
              <a:t>Overview Of Hospital </a:t>
            </a: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Workflow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Overview of Radiology workflow – inline with portal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500" b="1" i="1" dirty="0">
                <a:latin typeface="Times New Roman" pitchFamily="18" charset="0"/>
                <a:cs typeface="Times New Roman" pitchFamily="18" charset="0"/>
              </a:rPr>
              <a:t>Is Philips IntelliSpace Portal ?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Connectivity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DICOM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</a:rPr>
              <a:t>Phases &amp; 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DICOM testing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Done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Additional work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Learning's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800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10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5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304800"/>
            <a:ext cx="9136566" cy="1066800"/>
          </a:xfrm>
        </p:spPr>
        <p:txBody>
          <a:bodyPr>
            <a:noAutofit/>
          </a:bodyPr>
          <a:lstStyle/>
          <a:p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Overview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Of Hospital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3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6934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27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228600"/>
            <a:ext cx="9144000" cy="990599"/>
          </a:xfrm>
        </p:spPr>
        <p:txBody>
          <a:bodyPr>
            <a:noAutofit/>
          </a:bodyPr>
          <a:lstStyle/>
          <a:p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Philips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IntelliSpace </a:t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Portal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543800" cy="528796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 Workstation Software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windows platform.</a:t>
            </a:r>
          </a:p>
          <a:p>
            <a:pPr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Enterprise 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product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integrated clinical solutions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that’s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multimodality, and multivendor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Offers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Advanced Visualization 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diagnosis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by:</a:t>
            </a:r>
          </a:p>
          <a:p>
            <a:pPr marL="685800"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Turning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PC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into an advanced visualization platform. 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Visualization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software, 3D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Tools.</a:t>
            </a: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Rich clinical applications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access to more than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30 advanced clinical applications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via a single workspace.</a:t>
            </a: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Powerful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thin-client solution  for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Portability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offers the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diagnose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collaborate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virtually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anytime/anywhere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Work from preferred environment to analyze, manipulate &amp; review locally.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4" action="ppaction://hlinkfile"/>
              </a:rPr>
              <a:t>IntelliSpace Portal in action(you tube video).wmv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4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67200" y="1752599"/>
            <a:ext cx="3124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80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Cont.…</a:t>
            </a: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62000"/>
            <a:ext cx="7315200" cy="5791200"/>
          </a:xfrm>
        </p:spPr>
        <p:txBody>
          <a:bodyPr>
            <a:noAutofit/>
          </a:bodyPr>
          <a:lstStyle/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Collaborative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Workflow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IntelliSpace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Portal Web Collaborator, provides virtually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instant access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peers &amp; specialists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around the world by using a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standard web browser.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Integration with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 through Plug-in: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Interfaces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integration with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PACS and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vendors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through sever.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simplicity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scalability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reducing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acquire multiple workstations by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modality.</a:t>
            </a: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Philips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award winning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thin-client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solution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which is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intuitive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easy-to-use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has been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ranked #1 by KLAS in its 2008 and 2010 “Top 20 Best in KLAS Awards: Software &amp; Professional Services” for Advanced Visualization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Easy to Access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Increases flow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 information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between technologist, radiologist, referring physician and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specialists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helps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improve patient care and increase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diagnostic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confidence.</a:t>
            </a:r>
          </a:p>
          <a:p>
            <a:pPr lvl="0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5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72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6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35729"/>
            <a:ext cx="6510206" cy="496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86200"/>
            <a:ext cx="14151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3886200"/>
            <a:ext cx="144779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19975" y="533400"/>
            <a:ext cx="350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Fig.. </a:t>
            </a:r>
            <a:r>
              <a:rPr lang="en-US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hilips IntelliSpace in a DICOM network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04922" y="5308253"/>
            <a:ext cx="5998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 1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86626" y="5334000"/>
            <a:ext cx="7120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  15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59127" y="5301163"/>
            <a:ext cx="3770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..…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95600" y="5299289"/>
            <a:ext cx="3770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..…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719976" y="3390900"/>
            <a:ext cx="870824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042653" y="2133600"/>
            <a:ext cx="1182523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051005" y="3048000"/>
            <a:ext cx="1435395" cy="567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3587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9144000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Complexity</a:t>
            </a:r>
            <a:endParaRPr lang="en-IN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31520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Support ‘s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Multi-vendor/modality/Resolution/ monitor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Security </a:t>
            </a: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  <a:endParaRPr lang="en-US" sz="15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Safety[RMF Hazard Scenario]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configuration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 in servers 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HX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DX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Availability            </a:t>
            </a: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upgrades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installations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 servers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Backup-restore.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Quick upgrade.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7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457200"/>
            <a:ext cx="9144000" cy="685800"/>
          </a:xfrm>
        </p:spPr>
        <p:txBody>
          <a:bodyPr>
            <a:no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ICAP - System Verification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077200" cy="480060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are the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Final Gate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before the product gets into Market.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Entire Product is divided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into below teams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8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021334" y="2299488"/>
            <a:ext cx="3712944" cy="2362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1822978" y="3582063"/>
            <a:ext cx="2546082" cy="687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b="1" dirty="0" smtClean="0"/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i="1" dirty="0" smtClean="0"/>
              <a:t>System &amp; Platform Team</a:t>
            </a:r>
            <a:endParaRPr lang="en-US" b="1" i="1" dirty="0"/>
          </a:p>
        </p:txBody>
      </p:sp>
      <p:sp>
        <p:nvSpPr>
          <p:cNvPr id="8" name="Oval 7"/>
          <p:cNvSpPr/>
          <p:nvPr/>
        </p:nvSpPr>
        <p:spPr>
          <a:xfrm>
            <a:off x="1236869" y="2812460"/>
            <a:ext cx="896731" cy="110354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9" name="Rectangle 8"/>
          <p:cNvSpPr/>
          <p:nvPr/>
        </p:nvSpPr>
        <p:spPr>
          <a:xfrm>
            <a:off x="1236868" y="2991132"/>
            <a:ext cx="896731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/>
              <a:t>NM </a:t>
            </a:r>
            <a:r>
              <a:rPr lang="en-US" dirty="0" smtClean="0"/>
              <a:t>Apps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420606" y="2408261"/>
            <a:ext cx="914400" cy="102073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11" name="Rectangle 10"/>
          <p:cNvSpPr/>
          <p:nvPr/>
        </p:nvSpPr>
        <p:spPr>
          <a:xfrm>
            <a:off x="2466287" y="2623164"/>
            <a:ext cx="823038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/>
              <a:t>CT </a:t>
            </a:r>
            <a:r>
              <a:rPr lang="en-US" dirty="0" smtClean="0"/>
              <a:t>Apps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601614" y="2868626"/>
            <a:ext cx="838201" cy="105737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3601614" y="3068766"/>
            <a:ext cx="93507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 smtClean="0"/>
              <a:t>MR 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931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70386" y="457200"/>
            <a:ext cx="9144000" cy="685800"/>
          </a:xfrm>
        </p:spPr>
        <p:txBody>
          <a:bodyPr>
            <a:no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Project Phases &amp; Testing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077200" cy="510540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are the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Final Gate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before the product gets into Market.   </a:t>
            </a:r>
          </a:p>
          <a:p>
            <a:pPr marL="400050" lvl="2" indent="0">
              <a:lnSpc>
                <a:spcPct val="150000"/>
              </a:lnSpc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Beta1 -&gt; Beta 2 -&gt; Beta 3 -&gt; Beta 4 -&gt;RfLD -&gt;RfVD.    </a:t>
            </a: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product goes through Below Phases Before Going to Market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Integration Phase:</a:t>
            </a:r>
            <a:r>
              <a:rPr lang="en-US" sz="15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500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product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is still in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WIP.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Sub-System </a:t>
            </a: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Phase: 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a Functional Product.</a:t>
            </a: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9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501779"/>
              </p:ext>
            </p:extLst>
          </p:nvPr>
        </p:nvGraphicFramePr>
        <p:xfrm>
          <a:off x="3733800" y="2743200"/>
          <a:ext cx="3429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</a:tblGrid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itchFamily="18" charset="0"/>
                          <a:cs typeface="Times New Roman" pitchFamily="18" charset="0"/>
                        </a:rPr>
                        <a:t>TESTING PERFORMED </a:t>
                      </a:r>
                    </a:p>
                    <a:p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Integration</a:t>
                      </a:r>
                    </a:p>
                    <a:p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708784"/>
              </p:ext>
            </p:extLst>
          </p:nvPr>
        </p:nvGraphicFramePr>
        <p:xfrm>
          <a:off x="3733800" y="4267200"/>
          <a:ext cx="3505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</a:tblGrid>
              <a:tr h="4156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itchFamily="18" charset="0"/>
                          <a:cs typeface="Times New Roman" pitchFamily="18" charset="0"/>
                        </a:rPr>
                        <a:t>TESTING PERFORMED </a:t>
                      </a:r>
                    </a:p>
                    <a:p>
                      <a:pPr algn="ctr"/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Functional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Regression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Exploratory 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931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786" y="4267200"/>
            <a:ext cx="5867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Cont.…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685800"/>
            <a:ext cx="7772400" cy="5486400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Phase: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lvl="1" indent="-400050">
              <a:buFont typeface="Arial" pitchFamily="34" charset="0"/>
              <a:buChar char="•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nterprise product.</a:t>
            </a:r>
          </a:p>
          <a:p>
            <a:pPr marL="0" lvl="1" indent="-40005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follow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iterative V -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Model, software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development life cycle model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10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386" y="4114800"/>
            <a:ext cx="5867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778058"/>
              </p:ext>
            </p:extLst>
          </p:nvPr>
        </p:nvGraphicFramePr>
        <p:xfrm>
          <a:off x="3276600" y="914400"/>
          <a:ext cx="27432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TESTING PERFORMED</a:t>
                      </a:r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endParaRPr lang="en-US" sz="15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Compatibility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Stress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Performance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Multi-Client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645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z="150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448" y="1600200"/>
            <a:ext cx="6468751" cy="487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066800" y="533400"/>
            <a:ext cx="5067301" cy="457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Patient Directory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298" y="4724400"/>
            <a:ext cx="1143000" cy="135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98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Fig.. Finding ROI by Applications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12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198032"/>
            <a:ext cx="6400800" cy="5202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3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304800"/>
            <a:ext cx="9144000" cy="9144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Work Done</a:t>
            </a:r>
            <a: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30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4864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Validation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Image Database &amp; Rebuild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Removable Device[CD/DVD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USB, DVD-RAM]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Free Space &amp; Auto Delete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Client Enterprise Aspects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Installation &amp; Smoke Testing on ISO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1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13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0412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	Data Validation</a:t>
            </a:r>
          </a:p>
          <a:p>
            <a:pPr>
              <a:buNone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Every image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Supported &amp; Created by portal is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compliant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Challenges 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Multi-Modality &amp; Multi-Vendor Support(to create each &amp; every o/p).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Run DVTK &amp; Analyze the results with developer/interoperability teams.</a:t>
            </a: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Image Database &amp; Rebuild</a:t>
            </a:r>
          </a:p>
          <a:p>
            <a:pPr lvl="1">
              <a:buNone/>
            </a:pPr>
            <a:endParaRPr lang="en-US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DB integrity check is a fast test that runs over the DB to verify that there are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 problems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with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and in case there are it corrects it.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Bad Folder</a:t>
            </a:r>
          </a:p>
          <a:p>
            <a:pPr lvl="1">
              <a:buNone/>
            </a:pPr>
            <a:endParaRPr lang="en-US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Last accessed time.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Logs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 Check point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Disk Space.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14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951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05800" cy="61722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    </a:t>
            </a:r>
          </a:p>
          <a:p>
            <a:pPr marL="457200" lvl="1" indent="0">
              <a:buNone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Removable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Device[CD/DVD , USB, DVD-RAM]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different purposes 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Record, store, analysis for, diagnosis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 :</a:t>
            </a:r>
          </a:p>
          <a:p>
            <a:pPr lvl="3"/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Hospital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records/research/radiologist/clinicians/Patients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</a:t>
            </a: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vendor, Multi-Speed disks &amp; Hardware's in market.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viewer.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Generic test cases in past were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removed and performed test case design.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Windows compatible operations Defects.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Connectivity as burning is done on the client while the original data is stored i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 server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Free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Space &amp; Auto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Delete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Portal automated task 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Maintain a continuous workflow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457200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2"/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Relevant data not been deleted.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 cannot tolerate a fully occupied database.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Planning [deletion mechanism, timing].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 Check point [No predefined values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]. </a:t>
            </a:r>
          </a:p>
          <a:p>
            <a:pPr marL="914400" lvl="2" indent="0">
              <a:buNone/>
            </a:pPr>
            <a:r>
              <a:rPr lang="en-US" sz="1500" b="1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</a:rPr>
              <a:t>Recognitions  :	</a:t>
            </a:r>
            <a:r>
              <a:rPr lang="en-US" sz="1500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  <a:hlinkClick r:id="rId4" action="ppaction://hlinkfile"/>
              </a:rPr>
              <a:t>Spot Award.msg</a:t>
            </a:r>
            <a:r>
              <a:rPr lang="en-US" sz="1500" dirty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  <a:hlinkClick r:id="rId5" action="ppaction://hlinkfile"/>
              </a:rPr>
              <a:t>Appreciation.msg</a:t>
            </a:r>
            <a:endParaRPr lang="en-US" sz="1500" dirty="0" smtClean="0">
              <a:solidFill>
                <a:srgbClr val="055B22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15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390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32618"/>
            <a:ext cx="8229600" cy="5996782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§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</a:t>
            </a:r>
          </a:p>
          <a:p>
            <a:pPr lvl="1"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Allow each user to personalize how applications should </a:t>
            </a:r>
          </a:p>
          <a:p>
            <a:pPr marL="914400" lvl="2" indent="0">
              <a:buNone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behave for his workflow</a:t>
            </a:r>
            <a:r>
              <a:rPr lang="en-US" sz="11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 is carried over when user logs in any machine.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check if the user setting is retained has applied and not applied for others.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lack of definitions to testers. 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Checks in Upgrade servers if configuration is correct.</a:t>
            </a:r>
          </a:p>
          <a:p>
            <a:pPr lvl="1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Client Enterprise Aspects(15 Clients Support)</a:t>
            </a: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Promise enterprise solutions between :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Enterprise.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PACS(Plug-in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Challenges :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Performance &amp; Stress.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level thinking.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 Privileges.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Connectivity.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16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03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7" y="-76200"/>
            <a:ext cx="9144000" cy="693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304800"/>
            <a:ext cx="9144000" cy="1143000"/>
          </a:xfrm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1500" b="1" i="1" kern="1200" dirty="0" smtClean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		      Installation &amp; Smoke Testing on ISO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240292"/>
            <a:ext cx="8839200" cy="51540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Weekly installation.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Upgrade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from previous versions.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Challenges :</a:t>
            </a: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Verifying for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broken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release in upgrades.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Configurations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Connectivity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Smoke testing for accepting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build for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improves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productivity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avoids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rework/re-testing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17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1240292"/>
            <a:ext cx="1590675" cy="1378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6" y="3124200"/>
            <a:ext cx="2643188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018117"/>
            <a:ext cx="1600200" cy="160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2505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533400"/>
            <a:ext cx="9144000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Other 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1637"/>
            <a:ext cx="3048000" cy="3505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EBW 4.5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Portal 2.6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Isite PACS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Sectra PACS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2000" b="1" i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18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468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228600"/>
            <a:ext cx="9144000" cy="6858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Learning's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315200" cy="46482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Standards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Software Test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ife Cycle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Clinical Relevance to Imaging System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Traceability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Real World Requirements In Imaging Industry :</a:t>
            </a:r>
          </a:p>
          <a:p>
            <a:pPr marL="800100" lvl="4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What was Previous workflow &amp; What can be potential for Future ?</a:t>
            </a:r>
          </a:p>
          <a:p>
            <a:pPr marL="0" lvl="3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buNone/>
            </a:pPr>
            <a:endParaRPr lang="en-US" sz="16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19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836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533400"/>
            <a:ext cx="8686800" cy="6858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0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References</a:t>
            </a:r>
            <a: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30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418"/>
            <a:ext cx="7315200" cy="498316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www.youtube.com/watch?v=gAfx9fzRzAQ</a:t>
            </a: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www.healthcare.philips.com/main/products/Solutions/IntelliSpaceportal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www.healthcare.philips.com/in/products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6"/>
              </a:rPr>
              <a:t>www.onestoptesting.com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20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335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0600" y="228600"/>
            <a:ext cx="9133114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Q &amp; 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21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00199"/>
            <a:ext cx="3657600" cy="395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34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707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22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23793" y="5235775"/>
            <a:ext cx="342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Thank You </a:t>
            </a:r>
            <a:endParaRPr lang="en-US" sz="2800" dirty="0"/>
          </a:p>
        </p:txBody>
      </p:sp>
      <p:pic>
        <p:nvPicPr>
          <p:cNvPr id="10" name="Picture 3" descr="SHLRTR_CO"/>
          <p:cNvPicPr>
            <a:picLocks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0"/>
            <a:ext cx="2073275" cy="2797175"/>
          </a:xfrm>
          <a:prstGeom prst="rect">
            <a:avLst/>
          </a:prstGeom>
          <a:noFill/>
          <a:ln w="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5255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"/>
  <p:tag name="COLORSETCLASSNAME" val="ColorSet1"/>
  <p:tag name="MLI" val="1"/>
  <p:tag name="SHAPESETGROUPCLASSNAME" val="ShapeSetGroup2"/>
  <p:tag name="SHAPESETCLASSNAME" val="ENDSLIDE"/>
  <p:tag name="COLORSETGROUPCLASSNAME" val="ColorSetGroupLight"/>
  <p:tag name="FONTSETGROUPCLASSNAME" val="FontSetGroup2"/>
  <p:tag name="SHAPECLASSNAME" val="Shield"/>
  <p:tag name="SHAPECLASSFILE" val="SHLRTR$C.gif"/>
  <p:tag name="SHAPECLASSPROTECTIONTYPE" val="3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</TotalTime>
  <Words>722</Words>
  <Application>Microsoft Office PowerPoint</Application>
  <PresentationFormat>On-screen Show (4:3)</PresentationFormat>
  <Paragraphs>318</Paragraphs>
  <Slides>22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Connectivity DICOM - ISP</vt:lpstr>
      <vt:lpstr>Agenda</vt:lpstr>
      <vt:lpstr> Overview Of Hospital  workflow </vt:lpstr>
      <vt:lpstr> What Is Philips IntelliSpace  Portal ?</vt:lpstr>
      <vt:lpstr>Cont.…</vt:lpstr>
      <vt:lpstr>PowerPoint Presentation</vt:lpstr>
      <vt:lpstr>Complexity</vt:lpstr>
      <vt:lpstr> ICAP - System Verification  Team </vt:lpstr>
      <vt:lpstr> Project Phases &amp; Testing </vt:lpstr>
      <vt:lpstr>Cont.…</vt:lpstr>
      <vt:lpstr>PowerPoint Presentation</vt:lpstr>
      <vt:lpstr>Fig.. Finding ROI by Applications</vt:lpstr>
      <vt:lpstr>Work Done </vt:lpstr>
      <vt:lpstr>PowerPoint Presentation</vt:lpstr>
      <vt:lpstr>PowerPoint Presentation</vt:lpstr>
      <vt:lpstr>PowerPoint Presentation</vt:lpstr>
      <vt:lpstr>        Installation &amp; Smoke Testing on ISO </vt:lpstr>
      <vt:lpstr>Other Products</vt:lpstr>
      <vt:lpstr> Learning's </vt:lpstr>
      <vt:lpstr> References </vt:lpstr>
      <vt:lpstr>Q &amp; A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IntelliSpace Portal</dc:title>
  <dc:creator>Administrator</dc:creator>
  <cp:lastModifiedBy>Shetty, Archana</cp:lastModifiedBy>
  <cp:revision>973</cp:revision>
  <dcterms:created xsi:type="dcterms:W3CDTF">2006-08-16T00:00:00Z</dcterms:created>
  <dcterms:modified xsi:type="dcterms:W3CDTF">2013-05-20T07:38:57Z</dcterms:modified>
</cp:coreProperties>
</file>